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9" r:id="rId12"/>
    <p:sldId id="266" r:id="rId13"/>
    <p:sldId id="267" r:id="rId14"/>
    <p:sldId id="268"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932" autoAdjust="0"/>
  </p:normalViewPr>
  <p:slideViewPr>
    <p:cSldViewPr snapToGrid="0" snapToObjects="1">
      <p:cViewPr varScale="1">
        <p:scale>
          <a:sx n="100" d="100"/>
          <a:sy n="100" d="100"/>
        </p:scale>
        <p:origin x="87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324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F28C28"/>
          </a:solidFill>
          <a:ln>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4572000" cy="201168"/>
          </a:xfrm>
          <a:prstGeom prst="rect">
            <a:avLst/>
          </a:prstGeom>
          <a:noFill/>
        </p:spPr>
        <p:txBody>
          <a:bodyPr wrap="square" anchor="t">
            <a:spAutoFit/>
          </a:bodyPr>
          <a:lstStyle/>
          <a:p>
            <a:pPr algn="l"/>
            <a:r>
              <a:rPr sz="1050" b="1">
                <a:solidFill>
                  <a:srgbClr val="B4D0DB"/>
                </a:solidFill>
                <a:latin typeface="Aptos"/>
              </a:rPr>
              <a:t>LD6053 · UG COMPUTING PROJECT</a:t>
            </a:r>
          </a:p>
        </p:txBody>
      </p:sp>
      <p:sp>
        <p:nvSpPr>
          <p:cNvPr id="4" name="TextBox 3"/>
          <p:cNvSpPr txBox="1"/>
          <p:nvPr/>
        </p:nvSpPr>
        <p:spPr>
          <a:xfrm>
            <a:off x="594360" y="1097280"/>
            <a:ext cx="10515600" cy="1097280"/>
          </a:xfrm>
          <a:prstGeom prst="rect">
            <a:avLst/>
          </a:prstGeom>
          <a:noFill/>
        </p:spPr>
        <p:txBody>
          <a:bodyPr wrap="square" anchor="t">
            <a:spAutoFit/>
          </a:bodyPr>
          <a:lstStyle/>
          <a:p>
            <a:pPr algn="l"/>
            <a:r>
              <a:rPr sz="3000" b="1">
                <a:solidFill>
                  <a:srgbClr val="FFFFFF"/>
                </a:solidFill>
                <a:latin typeface="Aptos"/>
              </a:rPr>
              <a:t>From Public Funding to
Sponsor-Capable Career Pathways</a:t>
            </a:r>
          </a:p>
        </p:txBody>
      </p:sp>
      <p:sp>
        <p:nvSpPr>
          <p:cNvPr id="5" name="TextBox 4"/>
          <p:cNvSpPr txBox="1"/>
          <p:nvPr/>
        </p:nvSpPr>
        <p:spPr>
          <a:xfrm>
            <a:off x="594360" y="2606040"/>
            <a:ext cx="10515600" cy="569387"/>
          </a:xfrm>
          <a:prstGeom prst="rect">
            <a:avLst/>
          </a:prstGeom>
          <a:noFill/>
        </p:spPr>
        <p:txBody>
          <a:bodyPr wrap="square" anchor="t">
            <a:spAutoFit/>
          </a:bodyPr>
          <a:lstStyle/>
          <a:p>
            <a:r>
              <a:rPr lang="en-US" sz="1550" dirty="0">
                <a:solidFill>
                  <a:srgbClr val="D6E6EB"/>
                </a:solidFill>
                <a:latin typeface="Aptos"/>
              </a:rPr>
              <a:t>A Medallion Data Pipeline Using Token-Based Fuzzy Matching, Unsupervised Nearest-</a:t>
            </a:r>
            <a:r>
              <a:rPr lang="en-US" sz="1550" dirty="0" err="1">
                <a:solidFill>
                  <a:srgbClr val="D6E6EB"/>
                </a:solidFill>
                <a:latin typeface="Aptos"/>
              </a:rPr>
              <a:t>Neighbour</a:t>
            </a:r>
            <a:r>
              <a:rPr lang="en-US" sz="1550" dirty="0">
                <a:solidFill>
                  <a:srgbClr val="D6E6EB"/>
                </a:solidFill>
                <a:latin typeface="Aptos"/>
              </a:rPr>
              <a:t> </a:t>
            </a:r>
          </a:p>
          <a:p>
            <a:r>
              <a:rPr lang="en-US" sz="1550" dirty="0">
                <a:solidFill>
                  <a:srgbClr val="D6E6EB"/>
                </a:solidFill>
                <a:latin typeface="Aptos"/>
              </a:rPr>
              <a:t>Matching with TF-IDF and Cosine Distance, and Power BI</a:t>
            </a:r>
            <a:endParaRPr sz="1550" dirty="0">
              <a:solidFill>
                <a:srgbClr val="D6E6EB"/>
              </a:solidFill>
              <a:latin typeface="Aptos"/>
            </a:endParaRPr>
          </a:p>
        </p:txBody>
      </p:sp>
      <p:sp>
        <p:nvSpPr>
          <p:cNvPr id="6" name="Rounded Rectangle 5"/>
          <p:cNvSpPr/>
          <p:nvPr/>
        </p:nvSpPr>
        <p:spPr>
          <a:xfrm>
            <a:off x="685800" y="3703320"/>
            <a:ext cx="1920240" cy="329184"/>
          </a:xfrm>
          <a:prstGeom prst="roundRect">
            <a:avLst/>
          </a:prstGeom>
          <a:solidFill>
            <a:srgbClr val="0F6B78"/>
          </a:solidFill>
          <a:ln>
            <a:solidFill>
              <a:srgbClr val="0F6B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3733259"/>
            <a:ext cx="1737360" cy="269304"/>
          </a:xfrm>
          <a:prstGeom prst="rect">
            <a:avLst/>
          </a:prstGeom>
          <a:noFill/>
        </p:spPr>
        <p:txBody>
          <a:bodyPr wrap="square" anchor="ctr">
            <a:spAutoFit/>
          </a:bodyPr>
          <a:lstStyle/>
          <a:p>
            <a:r>
              <a:rPr sz="1150" b="1" dirty="0">
                <a:solidFill>
                  <a:srgbClr val="FFFFFF"/>
                </a:solidFill>
                <a:latin typeface="Aptos"/>
              </a:rPr>
              <a:t>Python · Medallion</a:t>
            </a:r>
          </a:p>
        </p:txBody>
      </p:sp>
      <p:sp>
        <p:nvSpPr>
          <p:cNvPr id="8" name="Rounded Rectangle 7"/>
          <p:cNvSpPr/>
          <p:nvPr/>
        </p:nvSpPr>
        <p:spPr>
          <a:xfrm>
            <a:off x="2788920" y="3703320"/>
            <a:ext cx="2057400" cy="329184"/>
          </a:xfrm>
          <a:prstGeom prst="roundRect">
            <a:avLst/>
          </a:prstGeom>
          <a:solidFill>
            <a:srgbClr val="2FA8B8"/>
          </a:solidFill>
          <a:ln>
            <a:solidFill>
              <a:srgbClr val="2FA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880360" y="3733259"/>
            <a:ext cx="1874519" cy="269304"/>
          </a:xfrm>
          <a:prstGeom prst="rect">
            <a:avLst/>
          </a:prstGeom>
          <a:noFill/>
        </p:spPr>
        <p:txBody>
          <a:bodyPr wrap="square" anchor="ctr">
            <a:spAutoFit/>
          </a:bodyPr>
          <a:lstStyle/>
          <a:p>
            <a:r>
              <a:rPr sz="1150" b="1" dirty="0">
                <a:solidFill>
                  <a:srgbClr val="FFFFFF"/>
                </a:solidFill>
                <a:latin typeface="Aptos"/>
              </a:rPr>
              <a:t>SQL</a:t>
            </a:r>
            <a:r>
              <a:rPr sz="1150" dirty="0">
                <a:latin typeface="Aptos"/>
              </a:rPr>
              <a:t> </a:t>
            </a:r>
            <a:r>
              <a:rPr sz="1150" b="1" dirty="0">
                <a:solidFill>
                  <a:srgbClr val="FFFFFF"/>
                </a:solidFill>
                <a:latin typeface="Aptos"/>
              </a:rPr>
              <a:t>Server</a:t>
            </a:r>
            <a:r>
              <a:rPr sz="1150" dirty="0">
                <a:latin typeface="Aptos"/>
              </a:rPr>
              <a:t> · </a:t>
            </a:r>
            <a:r>
              <a:rPr sz="1150" b="1" dirty="0">
                <a:solidFill>
                  <a:srgbClr val="FFFFFF"/>
                </a:solidFill>
                <a:latin typeface="Aptos"/>
              </a:rPr>
              <a:t>Views</a:t>
            </a:r>
          </a:p>
        </p:txBody>
      </p:sp>
      <p:sp>
        <p:nvSpPr>
          <p:cNvPr id="10" name="Rounded Rectangle 9"/>
          <p:cNvSpPr/>
          <p:nvPr/>
        </p:nvSpPr>
        <p:spPr>
          <a:xfrm>
            <a:off x="5029200" y="3703320"/>
            <a:ext cx="1783080" cy="329184"/>
          </a:xfrm>
          <a:prstGeom prst="roundRect">
            <a:avLst/>
          </a:prstGeom>
          <a:solidFill>
            <a:srgbClr val="F28C28"/>
          </a:solidFill>
          <a:ln>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120640" y="3733259"/>
            <a:ext cx="1600200" cy="269304"/>
          </a:xfrm>
          <a:prstGeom prst="rect">
            <a:avLst/>
          </a:prstGeom>
          <a:noFill/>
        </p:spPr>
        <p:txBody>
          <a:bodyPr wrap="square" anchor="ctr">
            <a:spAutoFit/>
          </a:bodyPr>
          <a:lstStyle/>
          <a:p>
            <a:r>
              <a:rPr sz="1150" b="1" dirty="0">
                <a:solidFill>
                  <a:srgbClr val="FFFFFF"/>
                </a:solidFill>
                <a:latin typeface="Aptos"/>
              </a:rPr>
              <a:t>Unsupervised</a:t>
            </a:r>
            <a:r>
              <a:rPr sz="1150" dirty="0">
                <a:latin typeface="Aptos"/>
              </a:rPr>
              <a:t> </a:t>
            </a:r>
            <a:r>
              <a:rPr sz="1150" b="1" dirty="0">
                <a:solidFill>
                  <a:srgbClr val="FFFFFF"/>
                </a:solidFill>
                <a:latin typeface="Aptos"/>
              </a:rPr>
              <a:t>ML</a:t>
            </a:r>
          </a:p>
        </p:txBody>
      </p:sp>
      <p:sp>
        <p:nvSpPr>
          <p:cNvPr id="12" name="TextBox 11"/>
          <p:cNvSpPr txBox="1"/>
          <p:nvPr/>
        </p:nvSpPr>
        <p:spPr>
          <a:xfrm>
            <a:off x="685800" y="4892040"/>
            <a:ext cx="10789920" cy="219456"/>
          </a:xfrm>
          <a:prstGeom prst="rect">
            <a:avLst/>
          </a:prstGeom>
          <a:noFill/>
        </p:spPr>
        <p:txBody>
          <a:bodyPr wrap="square" anchor="t">
            <a:spAutoFit/>
          </a:bodyPr>
          <a:lstStyle/>
          <a:p>
            <a:pPr algn="l"/>
            <a:r>
              <a:rPr sz="1320" b="0">
                <a:solidFill>
                  <a:srgbClr val="FFFFFF"/>
                </a:solidFill>
                <a:latin typeface="Aptos"/>
              </a:rPr>
              <a:t>Jorge Tomas Chabrillon  |  Student ID: 24056316  |  Supervisor: Salma Tabjel</a:t>
            </a:r>
          </a:p>
        </p:txBody>
      </p:sp>
      <p:sp>
        <p:nvSpPr>
          <p:cNvPr id="13" name="TextBox 12"/>
          <p:cNvSpPr txBox="1"/>
          <p:nvPr/>
        </p:nvSpPr>
        <p:spPr>
          <a:xfrm>
            <a:off x="685800" y="5303520"/>
            <a:ext cx="10789920" cy="201168"/>
          </a:xfrm>
          <a:prstGeom prst="rect">
            <a:avLst/>
          </a:prstGeom>
          <a:noFill/>
        </p:spPr>
        <p:txBody>
          <a:bodyPr wrap="square" anchor="t">
            <a:spAutoFit/>
          </a:bodyPr>
          <a:lstStyle/>
          <a:p>
            <a:pPr algn="l"/>
            <a:r>
              <a:rPr sz="1050" b="0">
                <a:solidFill>
                  <a:srgbClr val="BFD4DC"/>
                </a:solidFill>
                <a:latin typeface="Aptos"/>
              </a:rPr>
              <a:t>BSc (Hons) Computing with Data Science and Big Data Technology</a:t>
            </a:r>
          </a:p>
        </p:txBody>
      </p:sp>
      <p:sp>
        <p:nvSpPr>
          <p:cNvPr id="14" name="TextBox 13"/>
          <p:cNvSpPr txBox="1"/>
          <p:nvPr/>
        </p:nvSpPr>
        <p:spPr>
          <a:xfrm>
            <a:off x="685800" y="5897880"/>
            <a:ext cx="10789920" cy="164592"/>
          </a:xfrm>
          <a:prstGeom prst="rect">
            <a:avLst/>
          </a:prstGeom>
          <a:noFill/>
        </p:spPr>
        <p:txBody>
          <a:bodyPr wrap="square" anchor="t">
            <a:spAutoFit/>
          </a:bodyPr>
          <a:lstStyle/>
          <a:p>
            <a:pPr algn="l"/>
            <a:r>
              <a:rPr sz="819" b="0">
                <a:solidFill>
                  <a:srgbClr val="A9C7D2"/>
                </a:solidFill>
                <a:latin typeface="Aptos"/>
              </a:rPr>
              <a:t>Academic grounding: Nguyen &amp; Cheng (2025); Cvetkov-Iliev et al. (2022); Souha et al. (2025).</a:t>
            </a:r>
          </a:p>
        </p:txBody>
      </p:sp>
      <p:sp>
        <p:nvSpPr>
          <p:cNvPr id="16" name="Rounded Rectangle 9">
            <a:extLst>
              <a:ext uri="{FF2B5EF4-FFF2-40B4-BE49-F238E27FC236}">
                <a16:creationId xmlns:a16="http://schemas.microsoft.com/office/drawing/2014/main" id="{8D298DB4-6DAE-3E7F-3020-7F5C92C1D027}"/>
              </a:ext>
            </a:extLst>
          </p:cNvPr>
          <p:cNvSpPr/>
          <p:nvPr/>
        </p:nvSpPr>
        <p:spPr>
          <a:xfrm>
            <a:off x="6995160" y="3682574"/>
            <a:ext cx="1783080" cy="329184"/>
          </a:xfrm>
          <a:prstGeom prst="roundRect">
            <a:avLst/>
          </a:prstGeom>
          <a:solidFill>
            <a:srgbClr val="00B050"/>
          </a:solidFill>
          <a:ln>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9A1F439E-C56F-979A-6491-A3EA2293CE1D}"/>
              </a:ext>
            </a:extLst>
          </p:cNvPr>
          <p:cNvSpPr txBox="1"/>
          <p:nvPr/>
        </p:nvSpPr>
        <p:spPr>
          <a:xfrm>
            <a:off x="6995160" y="3764870"/>
            <a:ext cx="1600200" cy="164592"/>
          </a:xfrm>
          <a:prstGeom prst="rect">
            <a:avLst/>
          </a:prstGeom>
          <a:noFill/>
        </p:spPr>
        <p:txBody>
          <a:bodyPr wrap="square" anchor="ctr">
            <a:spAutoFit/>
          </a:bodyPr>
          <a:lstStyle/>
          <a:p>
            <a:pPr algn="ctr"/>
            <a:r>
              <a:rPr sz="1150" b="1" dirty="0">
                <a:solidFill>
                  <a:srgbClr val="FFFFFF"/>
                </a:solidFill>
                <a:latin typeface="Aptos"/>
              </a:rPr>
              <a:t>Power BI · DSS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28C28"/>
          </a:solidFill>
          <a:ln>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6473952"/>
            <a:ext cx="3657600" cy="164592"/>
          </a:xfrm>
          <a:prstGeom prst="rect">
            <a:avLst/>
          </a:prstGeom>
          <a:noFill/>
        </p:spPr>
        <p:txBody>
          <a:bodyPr wrap="square" anchor="t">
            <a:spAutoFit/>
          </a:bodyPr>
          <a:lstStyle/>
          <a:p>
            <a:pPr algn="l"/>
            <a:r>
              <a:rPr sz="830" b="0">
                <a:solidFill>
                  <a:srgbClr val="657786"/>
                </a:solidFill>
                <a:latin typeface="Aptos"/>
              </a:rPr>
              <a:t>LD6053 · UG Computing Project</a:t>
            </a:r>
          </a:p>
        </p:txBody>
      </p:sp>
      <p:sp>
        <p:nvSpPr>
          <p:cNvPr id="4" name="TextBox 3"/>
          <p:cNvSpPr txBox="1"/>
          <p:nvPr/>
        </p:nvSpPr>
        <p:spPr>
          <a:xfrm>
            <a:off x="9326880" y="6473952"/>
            <a:ext cx="2377440" cy="164592"/>
          </a:xfrm>
          <a:prstGeom prst="rect">
            <a:avLst/>
          </a:prstGeom>
          <a:noFill/>
        </p:spPr>
        <p:txBody>
          <a:bodyPr wrap="square" anchor="t">
            <a:spAutoFit/>
          </a:bodyPr>
          <a:lstStyle/>
          <a:p>
            <a:pPr algn="r"/>
            <a:r>
              <a:rPr sz="830" b="0">
                <a:solidFill>
                  <a:srgbClr val="657786"/>
                </a:solidFill>
                <a:latin typeface="Aptos"/>
              </a:rPr>
              <a:t>Jorge Tomas Chabrillon</a:t>
            </a:r>
          </a:p>
        </p:txBody>
      </p:sp>
      <p:sp>
        <p:nvSpPr>
          <p:cNvPr id="5" name="TextBox 4"/>
          <p:cNvSpPr txBox="1"/>
          <p:nvPr/>
        </p:nvSpPr>
        <p:spPr>
          <a:xfrm>
            <a:off x="411480" y="274320"/>
            <a:ext cx="4389120" cy="201168"/>
          </a:xfrm>
          <a:prstGeom prst="rect">
            <a:avLst/>
          </a:prstGeom>
          <a:noFill/>
        </p:spPr>
        <p:txBody>
          <a:bodyPr wrap="square" anchor="t">
            <a:spAutoFit/>
          </a:bodyPr>
          <a:lstStyle/>
          <a:p>
            <a:pPr algn="l"/>
            <a:r>
              <a:rPr sz="980" b="1">
                <a:solidFill>
                  <a:srgbClr val="F28C28"/>
                </a:solidFill>
                <a:latin typeface="Aptos"/>
              </a:rPr>
              <a:t>OVERVIEW</a:t>
            </a:r>
          </a:p>
        </p:txBody>
      </p:sp>
      <p:sp>
        <p:nvSpPr>
          <p:cNvPr id="6" name="TextBox 5"/>
          <p:cNvSpPr txBox="1"/>
          <p:nvPr/>
        </p:nvSpPr>
        <p:spPr>
          <a:xfrm>
            <a:off x="411480" y="530352"/>
            <a:ext cx="11155680" cy="411480"/>
          </a:xfrm>
          <a:prstGeom prst="rect">
            <a:avLst/>
          </a:prstGeom>
          <a:noFill/>
        </p:spPr>
        <p:txBody>
          <a:bodyPr wrap="square" anchor="t">
            <a:spAutoFit/>
          </a:bodyPr>
          <a:lstStyle/>
          <a:p>
            <a:pPr algn="l"/>
            <a:r>
              <a:rPr sz="2400" b="1">
                <a:solidFill>
                  <a:srgbClr val="16324F"/>
                </a:solidFill>
                <a:latin typeface="Aptos"/>
              </a:rPr>
              <a:t>Presentation route</a:t>
            </a:r>
          </a:p>
        </p:txBody>
      </p:sp>
      <p:sp>
        <p:nvSpPr>
          <p:cNvPr id="7" name="TextBox 6"/>
          <p:cNvSpPr txBox="1"/>
          <p:nvPr/>
        </p:nvSpPr>
        <p:spPr>
          <a:xfrm>
            <a:off x="868680" y="960120"/>
            <a:ext cx="10332720" cy="228600"/>
          </a:xfrm>
          <a:prstGeom prst="rect">
            <a:avLst/>
          </a:prstGeom>
          <a:noFill/>
        </p:spPr>
        <p:txBody>
          <a:bodyPr wrap="square" anchor="t">
            <a:spAutoFit/>
          </a:bodyPr>
          <a:lstStyle/>
          <a:p>
            <a:pPr algn="ctr"/>
            <a:r>
              <a:rPr sz="1350" b="0">
                <a:solidFill>
                  <a:srgbClr val="657786"/>
                </a:solidFill>
                <a:latin typeface="Aptos"/>
              </a:rPr>
              <a:t>Problem definition → system design → implementation evidence → evaluation</a:t>
            </a:r>
          </a:p>
        </p:txBody>
      </p:sp>
      <p:sp>
        <p:nvSpPr>
          <p:cNvPr id="8" name="Rounded Rectangle 7"/>
          <p:cNvSpPr/>
          <p:nvPr/>
        </p:nvSpPr>
        <p:spPr>
          <a:xfrm>
            <a:off x="868680" y="1417320"/>
            <a:ext cx="10241280" cy="713232"/>
          </a:xfrm>
          <a:prstGeom prst="roundRect">
            <a:avLst/>
          </a:prstGeom>
          <a:solidFill>
            <a:srgbClr val="FFFFFF"/>
          </a:solidFill>
          <a:ln w="1524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7" y="1508760"/>
            <a:ext cx="10021824" cy="228600"/>
          </a:xfrm>
          <a:prstGeom prst="rect">
            <a:avLst/>
          </a:prstGeom>
          <a:noFill/>
        </p:spPr>
        <p:txBody>
          <a:bodyPr wrap="square" anchor="t">
            <a:spAutoFit/>
          </a:bodyPr>
          <a:lstStyle/>
          <a:p>
            <a:pPr algn="l"/>
            <a:r>
              <a:rPr sz="1320" b="1">
                <a:solidFill>
                  <a:srgbClr val="F28C28"/>
                </a:solidFill>
                <a:latin typeface="Aptos"/>
              </a:rPr>
              <a:t>1 · Problem and research focus</a:t>
            </a:r>
          </a:p>
        </p:txBody>
      </p:sp>
      <p:sp>
        <p:nvSpPr>
          <p:cNvPr id="10" name="TextBox 9"/>
          <p:cNvSpPr txBox="1"/>
          <p:nvPr/>
        </p:nvSpPr>
        <p:spPr>
          <a:xfrm>
            <a:off x="978407" y="1783080"/>
            <a:ext cx="10021824" cy="274320"/>
          </a:xfrm>
          <a:prstGeom prst="rect">
            <a:avLst/>
          </a:prstGeom>
          <a:noFill/>
        </p:spPr>
        <p:txBody>
          <a:bodyPr wrap="square" anchor="t">
            <a:spAutoFit/>
          </a:bodyPr>
          <a:lstStyle/>
          <a:p>
            <a:pPr algn="l"/>
            <a:r>
              <a:rPr sz="1050" b="0">
                <a:solidFill>
                  <a:srgbClr val="263238"/>
                </a:solidFill>
                <a:latin typeface="Aptos"/>
              </a:rPr>
              <a:t>Why fragmented public evidence creates a career-intelligence and data-integration problem.</a:t>
            </a:r>
          </a:p>
        </p:txBody>
      </p:sp>
      <p:sp>
        <p:nvSpPr>
          <p:cNvPr id="11" name="Rounded Rectangle 10"/>
          <p:cNvSpPr/>
          <p:nvPr/>
        </p:nvSpPr>
        <p:spPr>
          <a:xfrm>
            <a:off x="868680" y="2350008"/>
            <a:ext cx="10241280" cy="713232"/>
          </a:xfrm>
          <a:prstGeom prst="roundRect">
            <a:avLst/>
          </a:prstGeom>
          <a:solidFill>
            <a:srgbClr val="FFFFFF"/>
          </a:solidFill>
          <a:ln w="15240">
            <a:solidFill>
              <a:srgbClr val="0F6B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7" y="2441448"/>
            <a:ext cx="10021824" cy="228600"/>
          </a:xfrm>
          <a:prstGeom prst="rect">
            <a:avLst/>
          </a:prstGeom>
          <a:noFill/>
        </p:spPr>
        <p:txBody>
          <a:bodyPr wrap="square" anchor="t">
            <a:spAutoFit/>
          </a:bodyPr>
          <a:lstStyle/>
          <a:p>
            <a:pPr algn="l"/>
            <a:r>
              <a:rPr sz="1320" b="1">
                <a:solidFill>
                  <a:srgbClr val="0F6B78"/>
                </a:solidFill>
                <a:latin typeface="Aptos"/>
              </a:rPr>
              <a:t>2 · Method, design and implementation</a:t>
            </a:r>
          </a:p>
        </p:txBody>
      </p:sp>
      <p:sp>
        <p:nvSpPr>
          <p:cNvPr id="13" name="TextBox 12"/>
          <p:cNvSpPr txBox="1"/>
          <p:nvPr/>
        </p:nvSpPr>
        <p:spPr>
          <a:xfrm>
            <a:off x="978407" y="2715768"/>
            <a:ext cx="10021824" cy="274320"/>
          </a:xfrm>
          <a:prstGeom prst="rect">
            <a:avLst/>
          </a:prstGeom>
          <a:noFill/>
        </p:spPr>
        <p:txBody>
          <a:bodyPr wrap="square" anchor="t">
            <a:spAutoFit/>
          </a:bodyPr>
          <a:lstStyle/>
          <a:p>
            <a:pPr algn="l"/>
            <a:r>
              <a:rPr sz="1050" b="0">
                <a:solidFill>
                  <a:srgbClr val="263238"/>
                </a:solidFill>
                <a:latin typeface="Aptos"/>
              </a:rPr>
              <a:t>Medallion architecture, entity-resolution workflow, SQL reporting layer and technical testing.</a:t>
            </a:r>
          </a:p>
        </p:txBody>
      </p:sp>
      <p:sp>
        <p:nvSpPr>
          <p:cNvPr id="14" name="Rounded Rectangle 13"/>
          <p:cNvSpPr/>
          <p:nvPr/>
        </p:nvSpPr>
        <p:spPr>
          <a:xfrm>
            <a:off x="868680" y="3282696"/>
            <a:ext cx="10241280" cy="713232"/>
          </a:xfrm>
          <a:prstGeom prst="roundRect">
            <a:avLst/>
          </a:prstGeom>
          <a:solidFill>
            <a:srgbClr val="FFFFFF"/>
          </a:solidFill>
          <a:ln w="1524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7" y="3374136"/>
            <a:ext cx="10021824" cy="228600"/>
          </a:xfrm>
          <a:prstGeom prst="rect">
            <a:avLst/>
          </a:prstGeom>
          <a:noFill/>
        </p:spPr>
        <p:txBody>
          <a:bodyPr wrap="square" anchor="t">
            <a:spAutoFit/>
          </a:bodyPr>
          <a:lstStyle/>
          <a:p>
            <a:pPr algn="l"/>
            <a:r>
              <a:rPr sz="1320" b="1">
                <a:solidFill>
                  <a:srgbClr val="2E8B57"/>
                </a:solidFill>
                <a:latin typeface="Aptos"/>
              </a:rPr>
              <a:t>3 · Findings and dashboard</a:t>
            </a:r>
          </a:p>
        </p:txBody>
      </p:sp>
      <p:sp>
        <p:nvSpPr>
          <p:cNvPr id="16" name="TextBox 15"/>
          <p:cNvSpPr txBox="1"/>
          <p:nvPr/>
        </p:nvSpPr>
        <p:spPr>
          <a:xfrm>
            <a:off x="978407" y="3648456"/>
            <a:ext cx="10021824" cy="274320"/>
          </a:xfrm>
          <a:prstGeom prst="rect">
            <a:avLst/>
          </a:prstGeom>
          <a:noFill/>
        </p:spPr>
        <p:txBody>
          <a:bodyPr wrap="square" anchor="t">
            <a:spAutoFit/>
          </a:bodyPr>
          <a:lstStyle/>
          <a:p>
            <a:pPr algn="l"/>
            <a:r>
              <a:rPr sz="1050" b="0">
                <a:solidFill>
                  <a:srgbClr val="263238"/>
                </a:solidFill>
                <a:latin typeface="Aptos"/>
              </a:rPr>
              <a:t>Current bounded-run evidence and the implemented four-page Power BI dashboard.</a:t>
            </a:r>
          </a:p>
        </p:txBody>
      </p:sp>
      <p:sp>
        <p:nvSpPr>
          <p:cNvPr id="17" name="Rounded Rectangle 16"/>
          <p:cNvSpPr/>
          <p:nvPr/>
        </p:nvSpPr>
        <p:spPr>
          <a:xfrm>
            <a:off x="868680" y="4215384"/>
            <a:ext cx="10241280" cy="713232"/>
          </a:xfrm>
          <a:prstGeom prst="roundRect">
            <a:avLst/>
          </a:prstGeom>
          <a:solidFill>
            <a:srgbClr val="FFFFFF"/>
          </a:solidFill>
          <a:ln w="15240">
            <a:solidFill>
              <a:srgbClr val="C94C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78407" y="4306824"/>
            <a:ext cx="10021824" cy="228600"/>
          </a:xfrm>
          <a:prstGeom prst="rect">
            <a:avLst/>
          </a:prstGeom>
          <a:noFill/>
        </p:spPr>
        <p:txBody>
          <a:bodyPr wrap="square" anchor="t">
            <a:spAutoFit/>
          </a:bodyPr>
          <a:lstStyle/>
          <a:p>
            <a:pPr algn="l"/>
            <a:r>
              <a:rPr sz="1320" b="1">
                <a:solidFill>
                  <a:srgbClr val="C94C4C"/>
                </a:solidFill>
                <a:latin typeface="Aptos"/>
              </a:rPr>
              <a:t>4 · Evaluation and reflection</a:t>
            </a:r>
          </a:p>
        </p:txBody>
      </p:sp>
      <p:sp>
        <p:nvSpPr>
          <p:cNvPr id="19" name="TextBox 18"/>
          <p:cNvSpPr txBox="1"/>
          <p:nvPr/>
        </p:nvSpPr>
        <p:spPr>
          <a:xfrm>
            <a:off x="978407" y="4581144"/>
            <a:ext cx="10021824" cy="274320"/>
          </a:xfrm>
          <a:prstGeom prst="rect">
            <a:avLst/>
          </a:prstGeom>
          <a:noFill/>
        </p:spPr>
        <p:txBody>
          <a:bodyPr wrap="square" anchor="t">
            <a:spAutoFit/>
          </a:bodyPr>
          <a:lstStyle/>
          <a:p>
            <a:pPr algn="l"/>
            <a:r>
              <a:rPr sz="1050" b="0">
                <a:solidFill>
                  <a:srgbClr val="263238"/>
                </a:solidFill>
                <a:latin typeface="Aptos"/>
              </a:rPr>
              <a:t>Direct answers to the research questions, limitations, contribution and live demonstration.</a:t>
            </a:r>
          </a:p>
        </p:txBody>
      </p:sp>
      <p:sp>
        <p:nvSpPr>
          <p:cNvPr id="20" name="Rounded Rectangle 19"/>
          <p:cNvSpPr/>
          <p:nvPr/>
        </p:nvSpPr>
        <p:spPr>
          <a:xfrm>
            <a:off x="1920240" y="5577840"/>
            <a:ext cx="8229600" cy="310896"/>
          </a:xfrm>
          <a:prstGeom prst="roundRect">
            <a:avLst/>
          </a:prstGeom>
          <a:solidFill>
            <a:srgbClr val="EAF0F4"/>
          </a:solidFill>
          <a:ln>
            <a:solidFill>
              <a:srgbClr val="D2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011680" y="5660136"/>
            <a:ext cx="8046720" cy="146304"/>
          </a:xfrm>
          <a:prstGeom prst="rect">
            <a:avLst/>
          </a:prstGeom>
          <a:noFill/>
        </p:spPr>
        <p:txBody>
          <a:bodyPr wrap="square" anchor="ctr">
            <a:spAutoFit/>
          </a:bodyPr>
          <a:lstStyle/>
          <a:p>
            <a:pPr algn="ctr"/>
            <a:r>
              <a:rPr sz="1150" b="1">
                <a:solidFill>
                  <a:srgbClr val="16324F"/>
                </a:solidFill>
                <a:latin typeface="Aptos"/>
              </a:rPr>
              <a:t>The presentation follows the project lifecycle from problem definition to evidence-based evaluation.</a:t>
            </a:r>
          </a:p>
        </p:txBody>
      </p:sp>
      <p:sp>
        <p:nvSpPr>
          <p:cNvPr id="22" name="TextBox 21"/>
          <p:cNvSpPr txBox="1"/>
          <p:nvPr/>
        </p:nvSpPr>
        <p:spPr>
          <a:xfrm>
            <a:off x="411480" y="6245352"/>
            <a:ext cx="11155680" cy="182880"/>
          </a:xfrm>
          <a:prstGeom prst="rect">
            <a:avLst/>
          </a:prstGeom>
          <a:noFill/>
        </p:spPr>
        <p:txBody>
          <a:bodyPr wrap="square" anchor="t">
            <a:spAutoFit/>
          </a:bodyPr>
          <a:lstStyle/>
          <a:p>
            <a:pPr algn="l"/>
            <a:r>
              <a:rPr sz="800" b="0">
                <a:solidFill>
                  <a:srgbClr val="657786"/>
                </a:solidFill>
                <a:latin typeface="Aptos"/>
              </a:rPr>
              <a:t>Academic framing: Nguyen &amp; Cheng (2025); Cvetkov-Iliev et al. (2022); Souha et al. (2025).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28C28"/>
          </a:solidFill>
          <a:ln>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6473952"/>
            <a:ext cx="3657600" cy="164592"/>
          </a:xfrm>
          <a:prstGeom prst="rect">
            <a:avLst/>
          </a:prstGeom>
          <a:noFill/>
        </p:spPr>
        <p:txBody>
          <a:bodyPr wrap="square" anchor="t">
            <a:spAutoFit/>
          </a:bodyPr>
          <a:lstStyle/>
          <a:p>
            <a:pPr algn="l"/>
            <a:r>
              <a:rPr sz="830" b="0">
                <a:solidFill>
                  <a:srgbClr val="657786"/>
                </a:solidFill>
                <a:latin typeface="Aptos"/>
              </a:rPr>
              <a:t>LD6053 · UG Computing Project</a:t>
            </a:r>
          </a:p>
        </p:txBody>
      </p:sp>
      <p:sp>
        <p:nvSpPr>
          <p:cNvPr id="4" name="TextBox 3"/>
          <p:cNvSpPr txBox="1"/>
          <p:nvPr/>
        </p:nvSpPr>
        <p:spPr>
          <a:xfrm>
            <a:off x="9326880" y="6473952"/>
            <a:ext cx="2377440" cy="164592"/>
          </a:xfrm>
          <a:prstGeom prst="rect">
            <a:avLst/>
          </a:prstGeom>
          <a:noFill/>
        </p:spPr>
        <p:txBody>
          <a:bodyPr wrap="square" anchor="t">
            <a:spAutoFit/>
          </a:bodyPr>
          <a:lstStyle/>
          <a:p>
            <a:pPr algn="r"/>
            <a:r>
              <a:rPr sz="830" b="0">
                <a:solidFill>
                  <a:srgbClr val="657786"/>
                </a:solidFill>
                <a:latin typeface="Aptos"/>
              </a:rPr>
              <a:t>Jorge Tomas Chabrillon</a:t>
            </a:r>
          </a:p>
        </p:txBody>
      </p:sp>
      <p:sp>
        <p:nvSpPr>
          <p:cNvPr id="5" name="TextBox 4"/>
          <p:cNvSpPr txBox="1"/>
          <p:nvPr/>
        </p:nvSpPr>
        <p:spPr>
          <a:xfrm>
            <a:off x="411480" y="274320"/>
            <a:ext cx="4389120" cy="201168"/>
          </a:xfrm>
          <a:prstGeom prst="rect">
            <a:avLst/>
          </a:prstGeom>
          <a:noFill/>
        </p:spPr>
        <p:txBody>
          <a:bodyPr wrap="square" anchor="t">
            <a:spAutoFit/>
          </a:bodyPr>
          <a:lstStyle/>
          <a:p>
            <a:pPr algn="l"/>
            <a:r>
              <a:rPr sz="980" b="1">
                <a:solidFill>
                  <a:srgbClr val="F28C28"/>
                </a:solidFill>
                <a:latin typeface="Aptos"/>
              </a:rPr>
              <a:t>INTRODUCTION</a:t>
            </a:r>
          </a:p>
        </p:txBody>
      </p:sp>
      <p:sp>
        <p:nvSpPr>
          <p:cNvPr id="6" name="TextBox 5"/>
          <p:cNvSpPr txBox="1"/>
          <p:nvPr/>
        </p:nvSpPr>
        <p:spPr>
          <a:xfrm>
            <a:off x="411480" y="530352"/>
            <a:ext cx="11155680" cy="411480"/>
          </a:xfrm>
          <a:prstGeom prst="rect">
            <a:avLst/>
          </a:prstGeom>
          <a:noFill/>
        </p:spPr>
        <p:txBody>
          <a:bodyPr wrap="square" anchor="t">
            <a:spAutoFit/>
          </a:bodyPr>
          <a:lstStyle/>
          <a:p>
            <a:pPr algn="l"/>
            <a:r>
              <a:rPr sz="2400" b="1">
                <a:solidFill>
                  <a:srgbClr val="16324F"/>
                </a:solidFill>
                <a:latin typeface="Aptos"/>
              </a:rPr>
              <a:t>The problem and the research gap</a:t>
            </a:r>
          </a:p>
        </p:txBody>
      </p:sp>
      <p:sp>
        <p:nvSpPr>
          <p:cNvPr id="7" name="Rounded Rectangle 6"/>
          <p:cNvSpPr/>
          <p:nvPr/>
        </p:nvSpPr>
        <p:spPr>
          <a:xfrm>
            <a:off x="502920" y="1234440"/>
            <a:ext cx="3566160" cy="1508760"/>
          </a:xfrm>
          <a:prstGeom prst="roundRect">
            <a:avLst/>
          </a:prstGeom>
          <a:solidFill>
            <a:srgbClr val="FFFFFF"/>
          </a:solidFill>
          <a:ln w="1524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2648" y="1325880"/>
            <a:ext cx="3346704" cy="228600"/>
          </a:xfrm>
          <a:prstGeom prst="rect">
            <a:avLst/>
          </a:prstGeom>
          <a:noFill/>
        </p:spPr>
        <p:txBody>
          <a:bodyPr wrap="square" anchor="t">
            <a:spAutoFit/>
          </a:bodyPr>
          <a:lstStyle/>
          <a:p>
            <a:pPr algn="l"/>
            <a:r>
              <a:rPr sz="1320" b="1">
                <a:solidFill>
                  <a:srgbClr val="F28C28"/>
                </a:solidFill>
                <a:latin typeface="Aptos"/>
              </a:rPr>
              <a:t>Fragmented evidence</a:t>
            </a:r>
          </a:p>
        </p:txBody>
      </p:sp>
      <p:sp>
        <p:nvSpPr>
          <p:cNvPr id="9" name="TextBox 8"/>
          <p:cNvSpPr txBox="1"/>
          <p:nvPr/>
        </p:nvSpPr>
        <p:spPr>
          <a:xfrm>
            <a:off x="612648" y="1600200"/>
            <a:ext cx="3346704" cy="1069848"/>
          </a:xfrm>
          <a:prstGeom prst="rect">
            <a:avLst/>
          </a:prstGeom>
          <a:noFill/>
        </p:spPr>
        <p:txBody>
          <a:bodyPr wrap="square" anchor="t">
            <a:spAutoFit/>
          </a:bodyPr>
          <a:lstStyle/>
          <a:p>
            <a:pPr algn="l"/>
            <a:r>
              <a:rPr sz="1080" b="0">
                <a:solidFill>
                  <a:srgbClr val="263238"/>
                </a:solidFill>
                <a:latin typeface="Aptos"/>
              </a:rPr>
              <a:t>Contracts Finder, Gateway to Research and the Sponsor Register are separate public sources in different formats and with different purposes.</a:t>
            </a:r>
          </a:p>
        </p:txBody>
      </p:sp>
      <p:sp>
        <p:nvSpPr>
          <p:cNvPr id="10" name="Rounded Rectangle 9"/>
          <p:cNvSpPr/>
          <p:nvPr/>
        </p:nvSpPr>
        <p:spPr>
          <a:xfrm>
            <a:off x="4315968" y="1234440"/>
            <a:ext cx="3566160" cy="1508760"/>
          </a:xfrm>
          <a:prstGeom prst="roundRect">
            <a:avLst/>
          </a:prstGeom>
          <a:solidFill>
            <a:srgbClr val="FFFFFF"/>
          </a:solidFill>
          <a:ln w="15240">
            <a:solidFill>
              <a:srgbClr val="0F6B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25696" y="1325880"/>
            <a:ext cx="3346704" cy="228600"/>
          </a:xfrm>
          <a:prstGeom prst="rect">
            <a:avLst/>
          </a:prstGeom>
          <a:noFill/>
        </p:spPr>
        <p:txBody>
          <a:bodyPr wrap="square" anchor="t">
            <a:spAutoFit/>
          </a:bodyPr>
          <a:lstStyle/>
          <a:p>
            <a:pPr algn="l"/>
            <a:r>
              <a:rPr sz="1320" b="1">
                <a:solidFill>
                  <a:srgbClr val="0F6B78"/>
                </a:solidFill>
                <a:latin typeface="Aptos"/>
              </a:rPr>
              <a:t>Inconsistent organisations</a:t>
            </a:r>
          </a:p>
        </p:txBody>
      </p:sp>
      <p:sp>
        <p:nvSpPr>
          <p:cNvPr id="12" name="TextBox 11"/>
          <p:cNvSpPr txBox="1"/>
          <p:nvPr/>
        </p:nvSpPr>
        <p:spPr>
          <a:xfrm>
            <a:off x="4425696" y="1600200"/>
            <a:ext cx="3346704" cy="1069848"/>
          </a:xfrm>
          <a:prstGeom prst="rect">
            <a:avLst/>
          </a:prstGeom>
          <a:noFill/>
        </p:spPr>
        <p:txBody>
          <a:bodyPr wrap="square" anchor="t">
            <a:spAutoFit/>
          </a:bodyPr>
          <a:lstStyle/>
          <a:p>
            <a:pPr algn="l"/>
            <a:r>
              <a:rPr sz="1080" b="0">
                <a:solidFill>
                  <a:srgbClr val="263238"/>
                </a:solidFill>
                <a:latin typeface="Aptos"/>
              </a:rPr>
              <a:t>Legal suffixes, punctuation, abbreviations and spelling differences make exact linkage unreliable.</a:t>
            </a:r>
          </a:p>
        </p:txBody>
      </p:sp>
      <p:sp>
        <p:nvSpPr>
          <p:cNvPr id="13" name="Rounded Rectangle 12"/>
          <p:cNvSpPr/>
          <p:nvPr/>
        </p:nvSpPr>
        <p:spPr>
          <a:xfrm>
            <a:off x="8129016" y="1234440"/>
            <a:ext cx="3566160" cy="1508760"/>
          </a:xfrm>
          <a:prstGeom prst="roundRect">
            <a:avLst/>
          </a:prstGeom>
          <a:solidFill>
            <a:srgbClr val="FFFFFF"/>
          </a:solidFill>
          <a:ln w="15240">
            <a:solidFill>
              <a:srgbClr val="C94C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38744" y="1325880"/>
            <a:ext cx="3346704" cy="228600"/>
          </a:xfrm>
          <a:prstGeom prst="rect">
            <a:avLst/>
          </a:prstGeom>
          <a:noFill/>
        </p:spPr>
        <p:txBody>
          <a:bodyPr wrap="square" anchor="t">
            <a:spAutoFit/>
          </a:bodyPr>
          <a:lstStyle/>
          <a:p>
            <a:pPr algn="l"/>
            <a:r>
              <a:rPr sz="1320" b="1">
                <a:solidFill>
                  <a:srgbClr val="C94C4C"/>
                </a:solidFill>
                <a:latin typeface="Aptos"/>
              </a:rPr>
              <a:t>Risk of overclaiming</a:t>
            </a:r>
          </a:p>
        </p:txBody>
      </p:sp>
      <p:sp>
        <p:nvSpPr>
          <p:cNvPr id="15" name="TextBox 14"/>
          <p:cNvSpPr txBox="1"/>
          <p:nvPr/>
        </p:nvSpPr>
        <p:spPr>
          <a:xfrm>
            <a:off x="8238744" y="1600200"/>
            <a:ext cx="3346704" cy="1069848"/>
          </a:xfrm>
          <a:prstGeom prst="rect">
            <a:avLst/>
          </a:prstGeom>
          <a:noFill/>
        </p:spPr>
        <p:txBody>
          <a:bodyPr wrap="square" anchor="t">
            <a:spAutoFit/>
          </a:bodyPr>
          <a:lstStyle/>
          <a:p>
            <a:pPr algn="l"/>
            <a:r>
              <a:rPr sz="1080" b="0">
                <a:solidFill>
                  <a:srgbClr val="263238"/>
                </a:solidFill>
                <a:latin typeface="Aptos"/>
              </a:rPr>
              <a:t>Funding activity and sponsor status are useful signals, but neither proves vacancies, employer interest or willingness to sponsor.</a:t>
            </a:r>
          </a:p>
        </p:txBody>
      </p:sp>
      <p:sp>
        <p:nvSpPr>
          <p:cNvPr id="16" name="Rounded Rectangle 15"/>
          <p:cNvSpPr/>
          <p:nvPr/>
        </p:nvSpPr>
        <p:spPr>
          <a:xfrm>
            <a:off x="960120" y="3154680"/>
            <a:ext cx="10241280" cy="1143000"/>
          </a:xfrm>
          <a:prstGeom prst="roundRect">
            <a:avLst/>
          </a:prstGeom>
          <a:solidFill>
            <a:srgbClr val="FFFFFF"/>
          </a:solidFill>
          <a:ln w="15240">
            <a:solidFill>
              <a:srgbClr val="2FA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69848" y="3246120"/>
            <a:ext cx="10021824" cy="228600"/>
          </a:xfrm>
          <a:prstGeom prst="rect">
            <a:avLst/>
          </a:prstGeom>
          <a:noFill/>
        </p:spPr>
        <p:txBody>
          <a:bodyPr wrap="square" anchor="t">
            <a:spAutoFit/>
          </a:bodyPr>
          <a:lstStyle/>
          <a:p>
            <a:pPr algn="l"/>
            <a:r>
              <a:rPr sz="1320" b="1">
                <a:solidFill>
                  <a:srgbClr val="2FA8B8"/>
                </a:solidFill>
                <a:latin typeface="Aptos"/>
              </a:rPr>
              <a:t>Research gap</a:t>
            </a:r>
          </a:p>
        </p:txBody>
      </p:sp>
      <p:sp>
        <p:nvSpPr>
          <p:cNvPr id="18" name="TextBox 17"/>
          <p:cNvSpPr txBox="1"/>
          <p:nvPr/>
        </p:nvSpPr>
        <p:spPr>
          <a:xfrm>
            <a:off x="1069848" y="3520440"/>
            <a:ext cx="10021824" cy="704088"/>
          </a:xfrm>
          <a:prstGeom prst="rect">
            <a:avLst/>
          </a:prstGeom>
          <a:noFill/>
        </p:spPr>
        <p:txBody>
          <a:bodyPr wrap="square" anchor="t">
            <a:spAutoFit/>
          </a:bodyPr>
          <a:lstStyle/>
          <a:p>
            <a:pPr algn="l"/>
            <a:r>
              <a:rPr sz="1200" b="0">
                <a:solidFill>
                  <a:srgbClr val="263238"/>
                </a:solidFill>
                <a:latin typeface="Aptos"/>
              </a:rPr>
              <a:t>Existing employability, public-funding, entity-resolution and dashboard studies address parts of the problem in isolation. This project combines them into one traceable computing artefact for sponsor-capable career exploration.</a:t>
            </a:r>
          </a:p>
        </p:txBody>
      </p:sp>
      <p:sp>
        <p:nvSpPr>
          <p:cNvPr id="19" name="TextBox 18"/>
          <p:cNvSpPr txBox="1"/>
          <p:nvPr/>
        </p:nvSpPr>
        <p:spPr>
          <a:xfrm>
            <a:off x="2057400" y="4892040"/>
            <a:ext cx="8046720" cy="256032"/>
          </a:xfrm>
          <a:prstGeom prst="rect">
            <a:avLst/>
          </a:prstGeom>
          <a:noFill/>
        </p:spPr>
        <p:txBody>
          <a:bodyPr wrap="square" anchor="t">
            <a:spAutoFit/>
          </a:bodyPr>
          <a:lstStyle/>
          <a:p>
            <a:pPr algn="ctr"/>
            <a:r>
              <a:rPr sz="1400" b="1">
                <a:solidFill>
                  <a:srgbClr val="16324F"/>
                </a:solidFill>
                <a:latin typeface="Aptos"/>
              </a:rPr>
              <a:t>Design principle: evidence for further research — not a job recommendation.</a:t>
            </a:r>
          </a:p>
        </p:txBody>
      </p:sp>
      <p:sp>
        <p:nvSpPr>
          <p:cNvPr id="20" name="TextBox 19"/>
          <p:cNvSpPr txBox="1"/>
          <p:nvPr/>
        </p:nvSpPr>
        <p:spPr>
          <a:xfrm>
            <a:off x="411480" y="6245352"/>
            <a:ext cx="11155680" cy="182880"/>
          </a:xfrm>
          <a:prstGeom prst="rect">
            <a:avLst/>
          </a:prstGeom>
          <a:noFill/>
        </p:spPr>
        <p:txBody>
          <a:bodyPr wrap="square" anchor="t">
            <a:spAutoFit/>
          </a:bodyPr>
          <a:lstStyle/>
          <a:p>
            <a:pPr algn="l"/>
            <a:r>
              <a:rPr sz="800" b="0">
                <a:solidFill>
                  <a:srgbClr val="657786"/>
                </a:solidFill>
                <a:latin typeface="Aptos"/>
              </a:rPr>
              <a:t>Nguyen &amp; Cheng (2025); Wang et al. (2025); Srhoj &amp; Dragojevic (2024); Cvetkov-Iliev et al. (2022).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28C28"/>
          </a:solidFill>
          <a:ln>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6473952"/>
            <a:ext cx="3657600" cy="164592"/>
          </a:xfrm>
          <a:prstGeom prst="rect">
            <a:avLst/>
          </a:prstGeom>
          <a:noFill/>
        </p:spPr>
        <p:txBody>
          <a:bodyPr wrap="square" anchor="t">
            <a:spAutoFit/>
          </a:bodyPr>
          <a:lstStyle/>
          <a:p>
            <a:pPr algn="l"/>
            <a:r>
              <a:rPr sz="830" b="0">
                <a:solidFill>
                  <a:srgbClr val="657786"/>
                </a:solidFill>
                <a:latin typeface="Aptos"/>
              </a:rPr>
              <a:t>LD6053 · UG Computing Project</a:t>
            </a:r>
          </a:p>
        </p:txBody>
      </p:sp>
      <p:sp>
        <p:nvSpPr>
          <p:cNvPr id="4" name="TextBox 3"/>
          <p:cNvSpPr txBox="1"/>
          <p:nvPr/>
        </p:nvSpPr>
        <p:spPr>
          <a:xfrm>
            <a:off x="9326880" y="6473952"/>
            <a:ext cx="2377440" cy="164592"/>
          </a:xfrm>
          <a:prstGeom prst="rect">
            <a:avLst/>
          </a:prstGeom>
          <a:noFill/>
        </p:spPr>
        <p:txBody>
          <a:bodyPr wrap="square" anchor="t">
            <a:spAutoFit/>
          </a:bodyPr>
          <a:lstStyle/>
          <a:p>
            <a:pPr algn="r"/>
            <a:r>
              <a:rPr sz="830" b="0">
                <a:solidFill>
                  <a:srgbClr val="657786"/>
                </a:solidFill>
                <a:latin typeface="Aptos"/>
              </a:rPr>
              <a:t>Jorge Tomas Chabrillon</a:t>
            </a:r>
          </a:p>
        </p:txBody>
      </p:sp>
      <p:sp>
        <p:nvSpPr>
          <p:cNvPr id="5" name="TextBox 4"/>
          <p:cNvSpPr txBox="1"/>
          <p:nvPr/>
        </p:nvSpPr>
        <p:spPr>
          <a:xfrm>
            <a:off x="411480" y="274320"/>
            <a:ext cx="4389120" cy="201168"/>
          </a:xfrm>
          <a:prstGeom prst="rect">
            <a:avLst/>
          </a:prstGeom>
          <a:noFill/>
        </p:spPr>
        <p:txBody>
          <a:bodyPr wrap="square" anchor="t">
            <a:spAutoFit/>
          </a:bodyPr>
          <a:lstStyle/>
          <a:p>
            <a:pPr algn="l"/>
            <a:r>
              <a:rPr sz="980" b="1">
                <a:solidFill>
                  <a:srgbClr val="F28C28"/>
                </a:solidFill>
                <a:latin typeface="Aptos"/>
              </a:rPr>
              <a:t>RESEARCH FOCUS</a:t>
            </a:r>
          </a:p>
        </p:txBody>
      </p:sp>
      <p:sp>
        <p:nvSpPr>
          <p:cNvPr id="6" name="TextBox 5"/>
          <p:cNvSpPr txBox="1"/>
          <p:nvPr/>
        </p:nvSpPr>
        <p:spPr>
          <a:xfrm>
            <a:off x="411480" y="530352"/>
            <a:ext cx="11155680" cy="411480"/>
          </a:xfrm>
          <a:prstGeom prst="rect">
            <a:avLst/>
          </a:prstGeom>
          <a:noFill/>
        </p:spPr>
        <p:txBody>
          <a:bodyPr wrap="square" anchor="t">
            <a:spAutoFit/>
          </a:bodyPr>
          <a:lstStyle/>
          <a:p>
            <a:pPr algn="l"/>
            <a:r>
              <a:rPr sz="2400" b="1">
                <a:solidFill>
                  <a:srgbClr val="16324F"/>
                </a:solidFill>
                <a:latin typeface="Aptos"/>
              </a:rPr>
              <a:t>Aim and answerable research questions</a:t>
            </a:r>
          </a:p>
        </p:txBody>
      </p:sp>
      <p:sp>
        <p:nvSpPr>
          <p:cNvPr id="7" name="Rounded Rectangle 6"/>
          <p:cNvSpPr/>
          <p:nvPr/>
        </p:nvSpPr>
        <p:spPr>
          <a:xfrm>
            <a:off x="777240" y="1051560"/>
            <a:ext cx="10698480" cy="548640"/>
          </a:xfrm>
          <a:prstGeom prst="roundRect">
            <a:avLst/>
          </a:prstGeom>
          <a:solidFill>
            <a:srgbClr val="EAF0F4"/>
          </a:solidFill>
          <a:ln>
            <a:solidFill>
              <a:srgbClr val="D2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133856"/>
            <a:ext cx="10515600" cy="384048"/>
          </a:xfrm>
          <a:prstGeom prst="rect">
            <a:avLst/>
          </a:prstGeom>
          <a:noFill/>
        </p:spPr>
        <p:txBody>
          <a:bodyPr wrap="square" anchor="ctr">
            <a:spAutoFit/>
          </a:bodyPr>
          <a:lstStyle/>
          <a:p>
            <a:pPr algn="ctr"/>
            <a:r>
              <a:rPr sz="1150" b="1">
                <a:solidFill>
                  <a:srgbClr val="16324F"/>
                </a:solidFill>
                <a:latin typeface="Aptos"/>
              </a:rPr>
              <a:t>Aim: to design, implement and evaluate a Python medallion pipeline, SQL Server layer and Power BI dashboard that integrate public-funding and Sponsor Register data for international-graduate career intelligence.</a:t>
            </a:r>
          </a:p>
        </p:txBody>
      </p:sp>
      <p:sp>
        <p:nvSpPr>
          <p:cNvPr id="9" name="Rounded Rectangle 8"/>
          <p:cNvSpPr/>
          <p:nvPr/>
        </p:nvSpPr>
        <p:spPr>
          <a:xfrm>
            <a:off x="777240" y="1920240"/>
            <a:ext cx="3429000" cy="2423160"/>
          </a:xfrm>
          <a:prstGeom prst="roundRect">
            <a:avLst/>
          </a:prstGeom>
          <a:solidFill>
            <a:srgbClr val="FFFFFF"/>
          </a:solidFill>
          <a:ln w="1524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86968" y="2011680"/>
            <a:ext cx="3209544" cy="228600"/>
          </a:xfrm>
          <a:prstGeom prst="rect">
            <a:avLst/>
          </a:prstGeom>
          <a:noFill/>
        </p:spPr>
        <p:txBody>
          <a:bodyPr wrap="square" anchor="t">
            <a:spAutoFit/>
          </a:bodyPr>
          <a:lstStyle/>
          <a:p>
            <a:pPr algn="l"/>
            <a:r>
              <a:rPr sz="1320" b="1">
                <a:solidFill>
                  <a:srgbClr val="F28C28"/>
                </a:solidFill>
                <a:latin typeface="Aptos"/>
              </a:rPr>
              <a:t>RQ1 · Data engineering</a:t>
            </a:r>
          </a:p>
        </p:txBody>
      </p:sp>
      <p:sp>
        <p:nvSpPr>
          <p:cNvPr id="11" name="TextBox 10"/>
          <p:cNvSpPr txBox="1"/>
          <p:nvPr/>
        </p:nvSpPr>
        <p:spPr>
          <a:xfrm>
            <a:off x="886968" y="2286000"/>
            <a:ext cx="3209544" cy="1984248"/>
          </a:xfrm>
          <a:prstGeom prst="rect">
            <a:avLst/>
          </a:prstGeom>
          <a:noFill/>
        </p:spPr>
        <p:txBody>
          <a:bodyPr wrap="square" anchor="t">
            <a:spAutoFit/>
          </a:bodyPr>
          <a:lstStyle/>
          <a:p>
            <a:pPr algn="l"/>
            <a:r>
              <a:rPr sz="1130" b="0">
                <a:solidFill>
                  <a:srgbClr val="263238"/>
                </a:solidFill>
                <a:latin typeface="Aptos"/>
              </a:rPr>
              <a:t>To what extent does a Bronze–Silver–Gold pipeline support reproducible extraction, transformation, traceability and SQL-ready integration across JSON, XML and CSV public sources?</a:t>
            </a:r>
          </a:p>
        </p:txBody>
      </p:sp>
      <p:sp>
        <p:nvSpPr>
          <p:cNvPr id="12" name="Rounded Rectangle 11"/>
          <p:cNvSpPr/>
          <p:nvPr/>
        </p:nvSpPr>
        <p:spPr>
          <a:xfrm>
            <a:off x="4379976" y="1920240"/>
            <a:ext cx="3429000" cy="2423160"/>
          </a:xfrm>
          <a:prstGeom prst="roundRect">
            <a:avLst/>
          </a:prstGeom>
          <a:solidFill>
            <a:srgbClr val="FFFFFF"/>
          </a:solidFill>
          <a:ln w="15240">
            <a:solidFill>
              <a:srgbClr val="0F6B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89704" y="2011680"/>
            <a:ext cx="3209544" cy="228600"/>
          </a:xfrm>
          <a:prstGeom prst="rect">
            <a:avLst/>
          </a:prstGeom>
          <a:noFill/>
        </p:spPr>
        <p:txBody>
          <a:bodyPr wrap="square" anchor="t">
            <a:spAutoFit/>
          </a:bodyPr>
          <a:lstStyle/>
          <a:p>
            <a:pPr algn="l"/>
            <a:r>
              <a:rPr sz="1320" b="1">
                <a:solidFill>
                  <a:srgbClr val="0F6B78"/>
                </a:solidFill>
                <a:latin typeface="Aptos"/>
              </a:rPr>
              <a:t>RQ2 · Entity resolution</a:t>
            </a:r>
          </a:p>
        </p:txBody>
      </p:sp>
      <p:sp>
        <p:nvSpPr>
          <p:cNvPr id="14" name="TextBox 13"/>
          <p:cNvSpPr txBox="1"/>
          <p:nvPr/>
        </p:nvSpPr>
        <p:spPr>
          <a:xfrm>
            <a:off x="4489704" y="2286000"/>
            <a:ext cx="3209544" cy="1984248"/>
          </a:xfrm>
          <a:prstGeom prst="rect">
            <a:avLst/>
          </a:prstGeom>
          <a:noFill/>
        </p:spPr>
        <p:txBody>
          <a:bodyPr wrap="square" anchor="t">
            <a:spAutoFit/>
          </a:bodyPr>
          <a:lstStyle/>
          <a:p>
            <a:r>
              <a:rPr sz="1070">
                <a:latin typeface="Aptos"/>
              </a:rPr>
              <a:t>How does the hybrid workflow combining TF-IDF/Nearest-Neighbour similarity and token-based fuzzy matching classify organisation links by method agreement, confidence thresholds and dashboard eligibility?</a:t>
            </a:r>
          </a:p>
        </p:txBody>
      </p:sp>
      <p:sp>
        <p:nvSpPr>
          <p:cNvPr id="15" name="Rounded Rectangle 14"/>
          <p:cNvSpPr/>
          <p:nvPr/>
        </p:nvSpPr>
        <p:spPr>
          <a:xfrm>
            <a:off x="7982712" y="1920240"/>
            <a:ext cx="3429000" cy="2423160"/>
          </a:xfrm>
          <a:prstGeom prst="roundRect">
            <a:avLst/>
          </a:prstGeom>
          <a:solidFill>
            <a:srgbClr val="FFFFFF"/>
          </a:solidFill>
          <a:ln w="15240">
            <a:solidFill>
              <a:srgbClr val="2FA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92440" y="2011680"/>
            <a:ext cx="3209544" cy="228600"/>
          </a:xfrm>
          <a:prstGeom prst="rect">
            <a:avLst/>
          </a:prstGeom>
          <a:noFill/>
        </p:spPr>
        <p:txBody>
          <a:bodyPr wrap="square" anchor="t">
            <a:spAutoFit/>
          </a:bodyPr>
          <a:lstStyle/>
          <a:p>
            <a:pPr algn="l"/>
            <a:r>
              <a:rPr sz="1320" b="1">
                <a:solidFill>
                  <a:srgbClr val="2FA8B8"/>
                </a:solidFill>
                <a:latin typeface="Aptos"/>
              </a:rPr>
              <a:t>RQ3 · Decision support</a:t>
            </a:r>
          </a:p>
        </p:txBody>
      </p:sp>
      <p:sp>
        <p:nvSpPr>
          <p:cNvPr id="17" name="TextBox 16"/>
          <p:cNvSpPr txBox="1"/>
          <p:nvPr/>
        </p:nvSpPr>
        <p:spPr>
          <a:xfrm>
            <a:off x="8092440" y="2286000"/>
            <a:ext cx="3209544" cy="1984248"/>
          </a:xfrm>
          <a:prstGeom prst="rect">
            <a:avLst/>
          </a:prstGeom>
          <a:noFill/>
        </p:spPr>
        <p:txBody>
          <a:bodyPr wrap="square" anchor="t">
            <a:spAutoFit/>
          </a:bodyPr>
          <a:lstStyle/>
          <a:p>
            <a:pPr algn="l"/>
            <a:r>
              <a:rPr sz="1130" b="0">
                <a:solidFill>
                  <a:srgbClr val="263238"/>
                </a:solidFill>
                <a:latin typeface="Aptos"/>
              </a:rPr>
              <a:t>How effectively do SQL Server views and Power BI present accepted funding–sponsorship links as traceable, filterable opportunity signals?</a:t>
            </a:r>
          </a:p>
        </p:txBody>
      </p:sp>
      <p:sp>
        <p:nvSpPr>
          <p:cNvPr id="18" name="TextBox 17"/>
          <p:cNvSpPr txBox="1"/>
          <p:nvPr/>
        </p:nvSpPr>
        <p:spPr>
          <a:xfrm>
            <a:off x="868680" y="5074920"/>
            <a:ext cx="10424160" cy="365760"/>
          </a:xfrm>
          <a:prstGeom prst="rect">
            <a:avLst/>
          </a:prstGeom>
          <a:noFill/>
        </p:spPr>
        <p:txBody>
          <a:bodyPr wrap="square" anchor="t">
            <a:spAutoFit/>
          </a:bodyPr>
          <a:lstStyle/>
          <a:p>
            <a:pPr algn="ctr"/>
            <a:r>
              <a:rPr sz="1120" b="1">
                <a:solidFill>
                  <a:srgbClr val="C94C4C"/>
                </a:solidFill>
                <a:latin typeface="Aptos"/>
              </a:rPr>
              <a:t>Evaluation scope: technical behaviour, reconciliation and rule outcomes. Human-labelled precision and participant usability are outside this study.</a:t>
            </a:r>
          </a:p>
        </p:txBody>
      </p:sp>
      <p:sp>
        <p:nvSpPr>
          <p:cNvPr id="19" name="TextBox 18"/>
          <p:cNvSpPr txBox="1"/>
          <p:nvPr/>
        </p:nvSpPr>
        <p:spPr>
          <a:xfrm>
            <a:off x="411480" y="6245352"/>
            <a:ext cx="11155680" cy="182880"/>
          </a:xfrm>
          <a:prstGeom prst="rect">
            <a:avLst/>
          </a:prstGeom>
          <a:noFill/>
        </p:spPr>
        <p:txBody>
          <a:bodyPr wrap="square" anchor="t">
            <a:spAutoFit/>
          </a:bodyPr>
          <a:lstStyle/>
          <a:p>
            <a:pPr algn="l"/>
            <a:r>
              <a:rPr sz="800" b="0">
                <a:solidFill>
                  <a:srgbClr val="657786"/>
                </a:solidFill>
                <a:latin typeface="Aptos"/>
              </a:rPr>
              <a:t>Nguyen &amp; Cheng (2025); Cvetkov-Iliev et al. (2022); Souha et al. (2025).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28C28"/>
          </a:solidFill>
          <a:ln>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6473952"/>
            <a:ext cx="3657600" cy="164592"/>
          </a:xfrm>
          <a:prstGeom prst="rect">
            <a:avLst/>
          </a:prstGeom>
          <a:noFill/>
        </p:spPr>
        <p:txBody>
          <a:bodyPr wrap="square" anchor="t">
            <a:spAutoFit/>
          </a:bodyPr>
          <a:lstStyle/>
          <a:p>
            <a:pPr algn="l"/>
            <a:r>
              <a:rPr sz="830" b="0">
                <a:solidFill>
                  <a:srgbClr val="657786"/>
                </a:solidFill>
                <a:latin typeface="Aptos"/>
              </a:rPr>
              <a:t>LD6053 · UG Computing Project</a:t>
            </a:r>
          </a:p>
        </p:txBody>
      </p:sp>
      <p:sp>
        <p:nvSpPr>
          <p:cNvPr id="4" name="TextBox 3"/>
          <p:cNvSpPr txBox="1"/>
          <p:nvPr/>
        </p:nvSpPr>
        <p:spPr>
          <a:xfrm>
            <a:off x="9326880" y="6473952"/>
            <a:ext cx="2377440" cy="164592"/>
          </a:xfrm>
          <a:prstGeom prst="rect">
            <a:avLst/>
          </a:prstGeom>
          <a:noFill/>
        </p:spPr>
        <p:txBody>
          <a:bodyPr wrap="square" anchor="t">
            <a:spAutoFit/>
          </a:bodyPr>
          <a:lstStyle/>
          <a:p>
            <a:pPr algn="r"/>
            <a:r>
              <a:rPr sz="830" b="0">
                <a:solidFill>
                  <a:srgbClr val="657786"/>
                </a:solidFill>
                <a:latin typeface="Aptos"/>
              </a:rPr>
              <a:t>Jorge Tomas Chabrillon</a:t>
            </a:r>
          </a:p>
        </p:txBody>
      </p:sp>
      <p:sp>
        <p:nvSpPr>
          <p:cNvPr id="5" name="TextBox 4"/>
          <p:cNvSpPr txBox="1"/>
          <p:nvPr/>
        </p:nvSpPr>
        <p:spPr>
          <a:xfrm>
            <a:off x="411480" y="274320"/>
            <a:ext cx="4389120" cy="201168"/>
          </a:xfrm>
          <a:prstGeom prst="rect">
            <a:avLst/>
          </a:prstGeom>
          <a:noFill/>
        </p:spPr>
        <p:txBody>
          <a:bodyPr wrap="square" anchor="t">
            <a:spAutoFit/>
          </a:bodyPr>
          <a:lstStyle/>
          <a:p>
            <a:pPr algn="l"/>
            <a:r>
              <a:rPr sz="980" b="1" dirty="0">
                <a:solidFill>
                  <a:srgbClr val="F28C28"/>
                </a:solidFill>
                <a:latin typeface="Aptos"/>
              </a:rPr>
              <a:t>ACADEMIC JUSTIFICATION</a:t>
            </a:r>
          </a:p>
        </p:txBody>
      </p:sp>
      <p:sp>
        <p:nvSpPr>
          <p:cNvPr id="6" name="TextBox 5"/>
          <p:cNvSpPr txBox="1"/>
          <p:nvPr/>
        </p:nvSpPr>
        <p:spPr>
          <a:xfrm>
            <a:off x="411480" y="530352"/>
            <a:ext cx="11155680" cy="411480"/>
          </a:xfrm>
          <a:prstGeom prst="rect">
            <a:avLst/>
          </a:prstGeom>
          <a:noFill/>
        </p:spPr>
        <p:txBody>
          <a:bodyPr wrap="square" anchor="t">
            <a:spAutoFit/>
          </a:bodyPr>
          <a:lstStyle/>
          <a:p>
            <a:pPr algn="l"/>
            <a:r>
              <a:rPr sz="2400" b="1">
                <a:solidFill>
                  <a:srgbClr val="16324F"/>
                </a:solidFill>
                <a:latin typeface="Aptos"/>
              </a:rPr>
              <a:t>Literature translated into design decisions</a:t>
            </a:r>
          </a:p>
        </p:txBody>
      </p:sp>
      <p:sp>
        <p:nvSpPr>
          <p:cNvPr id="7" name="TextBox 6"/>
          <p:cNvSpPr txBox="1"/>
          <p:nvPr/>
        </p:nvSpPr>
        <p:spPr>
          <a:xfrm>
            <a:off x="685800" y="1005840"/>
            <a:ext cx="2194560" cy="219456"/>
          </a:xfrm>
          <a:prstGeom prst="rect">
            <a:avLst/>
          </a:prstGeom>
          <a:noFill/>
        </p:spPr>
        <p:txBody>
          <a:bodyPr wrap="square" anchor="t">
            <a:spAutoFit/>
          </a:bodyPr>
          <a:lstStyle/>
          <a:p>
            <a:pPr algn="l"/>
            <a:r>
              <a:rPr sz="1250" b="1">
                <a:solidFill>
                  <a:srgbClr val="16324F"/>
                </a:solidFill>
                <a:latin typeface="Aptos"/>
              </a:rPr>
              <a:t>Literature theme</a:t>
            </a:r>
          </a:p>
        </p:txBody>
      </p:sp>
      <p:sp>
        <p:nvSpPr>
          <p:cNvPr id="8" name="TextBox 7"/>
          <p:cNvSpPr txBox="1"/>
          <p:nvPr/>
        </p:nvSpPr>
        <p:spPr>
          <a:xfrm>
            <a:off x="3063240" y="1005840"/>
            <a:ext cx="3931920" cy="219456"/>
          </a:xfrm>
          <a:prstGeom prst="rect">
            <a:avLst/>
          </a:prstGeom>
          <a:noFill/>
        </p:spPr>
        <p:txBody>
          <a:bodyPr wrap="square" anchor="t">
            <a:spAutoFit/>
          </a:bodyPr>
          <a:lstStyle/>
          <a:p>
            <a:pPr algn="l"/>
            <a:r>
              <a:rPr sz="1250" b="1">
                <a:solidFill>
                  <a:srgbClr val="16324F"/>
                </a:solidFill>
                <a:latin typeface="Aptos"/>
              </a:rPr>
              <a:t>What it supports</a:t>
            </a:r>
          </a:p>
        </p:txBody>
      </p:sp>
      <p:sp>
        <p:nvSpPr>
          <p:cNvPr id="9" name="TextBox 8"/>
          <p:cNvSpPr txBox="1"/>
          <p:nvPr/>
        </p:nvSpPr>
        <p:spPr>
          <a:xfrm>
            <a:off x="7360920" y="1005840"/>
            <a:ext cx="3931920" cy="219456"/>
          </a:xfrm>
          <a:prstGeom prst="rect">
            <a:avLst/>
          </a:prstGeom>
          <a:noFill/>
        </p:spPr>
        <p:txBody>
          <a:bodyPr wrap="square" anchor="t">
            <a:spAutoFit/>
          </a:bodyPr>
          <a:lstStyle/>
          <a:p>
            <a:pPr algn="l"/>
            <a:r>
              <a:rPr sz="1250" b="1">
                <a:solidFill>
                  <a:srgbClr val="16324F"/>
                </a:solidFill>
                <a:latin typeface="Aptos"/>
              </a:rPr>
              <a:t>Project response</a:t>
            </a:r>
          </a:p>
        </p:txBody>
      </p:sp>
      <p:sp>
        <p:nvSpPr>
          <p:cNvPr id="10" name="Rectangle 9"/>
          <p:cNvSpPr/>
          <p:nvPr/>
        </p:nvSpPr>
        <p:spPr>
          <a:xfrm>
            <a:off x="621792" y="1307592"/>
            <a:ext cx="10972800" cy="658368"/>
          </a:xfrm>
          <a:prstGeom prst="rect">
            <a:avLst/>
          </a:prstGeom>
          <a:solidFill>
            <a:srgbClr val="F4F7F9"/>
          </a:solidFill>
          <a:ln>
            <a:solidFill>
              <a:srgbClr val="F4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353312"/>
            <a:ext cx="2103120" cy="323165"/>
          </a:xfrm>
          <a:prstGeom prst="rect">
            <a:avLst/>
          </a:prstGeom>
          <a:noFill/>
        </p:spPr>
        <p:txBody>
          <a:bodyPr wrap="square" anchor="t">
            <a:spAutoFit/>
          </a:bodyPr>
          <a:lstStyle/>
          <a:p>
            <a:pPr algn="l"/>
            <a:r>
              <a:rPr sz="1500" b="1" dirty="0">
                <a:solidFill>
                  <a:srgbClr val="F28C28"/>
                </a:solidFill>
                <a:latin typeface="Aptos"/>
              </a:rPr>
              <a:t>Employability barriers</a:t>
            </a:r>
          </a:p>
        </p:txBody>
      </p:sp>
      <p:sp>
        <p:nvSpPr>
          <p:cNvPr id="12" name="TextBox 11"/>
          <p:cNvSpPr txBox="1"/>
          <p:nvPr/>
        </p:nvSpPr>
        <p:spPr>
          <a:xfrm>
            <a:off x="3063240" y="1353312"/>
            <a:ext cx="3977639" cy="502920"/>
          </a:xfrm>
          <a:prstGeom prst="rect">
            <a:avLst/>
          </a:prstGeom>
          <a:noFill/>
        </p:spPr>
        <p:txBody>
          <a:bodyPr wrap="square" anchor="t">
            <a:spAutoFit/>
          </a:bodyPr>
          <a:lstStyle/>
          <a:p>
            <a:pPr algn="l"/>
            <a:r>
              <a:rPr sz="1030" b="0" dirty="0">
                <a:solidFill>
                  <a:srgbClr val="263238"/>
                </a:solidFill>
                <a:latin typeface="Aptos"/>
              </a:rPr>
              <a:t>Information asymmetry and weak student networks justify a career-intelligence aid.</a:t>
            </a:r>
          </a:p>
        </p:txBody>
      </p:sp>
      <p:sp>
        <p:nvSpPr>
          <p:cNvPr id="13" name="TextBox 12"/>
          <p:cNvSpPr txBox="1"/>
          <p:nvPr/>
        </p:nvSpPr>
        <p:spPr>
          <a:xfrm>
            <a:off x="7360920" y="1353312"/>
            <a:ext cx="3977639" cy="502920"/>
          </a:xfrm>
          <a:prstGeom prst="rect">
            <a:avLst/>
          </a:prstGeom>
          <a:noFill/>
        </p:spPr>
        <p:txBody>
          <a:bodyPr wrap="square" anchor="t">
            <a:spAutoFit/>
          </a:bodyPr>
          <a:lstStyle/>
          <a:p>
            <a:pPr algn="l"/>
            <a:r>
              <a:rPr sz="1030" b="0">
                <a:solidFill>
                  <a:srgbClr val="263238"/>
                </a:solidFill>
                <a:latin typeface="Aptos"/>
              </a:rPr>
              <a:t>The dashboard consolidates public evidence for employer research.</a:t>
            </a:r>
          </a:p>
        </p:txBody>
      </p:sp>
      <p:sp>
        <p:nvSpPr>
          <p:cNvPr id="14" name="TextBox 13"/>
          <p:cNvSpPr txBox="1"/>
          <p:nvPr/>
        </p:nvSpPr>
        <p:spPr>
          <a:xfrm>
            <a:off x="685800" y="2194560"/>
            <a:ext cx="2103120" cy="323165"/>
          </a:xfrm>
          <a:prstGeom prst="rect">
            <a:avLst/>
          </a:prstGeom>
          <a:noFill/>
        </p:spPr>
        <p:txBody>
          <a:bodyPr wrap="square" anchor="t">
            <a:spAutoFit/>
          </a:bodyPr>
          <a:lstStyle/>
          <a:p>
            <a:pPr algn="l"/>
            <a:r>
              <a:rPr sz="1500" b="1" dirty="0">
                <a:solidFill>
                  <a:srgbClr val="F28C28"/>
                </a:solidFill>
                <a:latin typeface="Aptos"/>
              </a:rPr>
              <a:t>Public funding</a:t>
            </a:r>
          </a:p>
        </p:txBody>
      </p:sp>
      <p:sp>
        <p:nvSpPr>
          <p:cNvPr id="15" name="TextBox 14"/>
          <p:cNvSpPr txBox="1"/>
          <p:nvPr/>
        </p:nvSpPr>
        <p:spPr>
          <a:xfrm>
            <a:off x="3063240" y="2194560"/>
            <a:ext cx="3977639" cy="502920"/>
          </a:xfrm>
          <a:prstGeom prst="rect">
            <a:avLst/>
          </a:prstGeom>
          <a:noFill/>
        </p:spPr>
        <p:txBody>
          <a:bodyPr wrap="square" anchor="t">
            <a:spAutoFit/>
          </a:bodyPr>
          <a:lstStyle/>
          <a:p>
            <a:pPr algn="l"/>
            <a:r>
              <a:rPr sz="1030" b="0">
                <a:solidFill>
                  <a:srgbClr val="263238"/>
                </a:solidFill>
                <a:latin typeface="Aptos"/>
              </a:rPr>
              <a:t>Procurement and research funding show activity but do not prove recruitment.</a:t>
            </a:r>
          </a:p>
        </p:txBody>
      </p:sp>
      <p:sp>
        <p:nvSpPr>
          <p:cNvPr id="16" name="TextBox 15"/>
          <p:cNvSpPr txBox="1"/>
          <p:nvPr/>
        </p:nvSpPr>
        <p:spPr>
          <a:xfrm>
            <a:off x="7360920" y="2194560"/>
            <a:ext cx="3977639" cy="502920"/>
          </a:xfrm>
          <a:prstGeom prst="rect">
            <a:avLst/>
          </a:prstGeom>
          <a:noFill/>
        </p:spPr>
        <p:txBody>
          <a:bodyPr wrap="square" anchor="t">
            <a:spAutoFit/>
          </a:bodyPr>
          <a:lstStyle/>
          <a:p>
            <a:pPr algn="l"/>
            <a:r>
              <a:rPr sz="1030" b="0">
                <a:solidFill>
                  <a:srgbClr val="263238"/>
                </a:solidFill>
                <a:latin typeface="Aptos"/>
              </a:rPr>
              <a:t>Funding is labelled as a cautious opportunity signal.</a:t>
            </a:r>
          </a:p>
        </p:txBody>
      </p:sp>
      <p:sp>
        <p:nvSpPr>
          <p:cNvPr id="17" name="Rectangle 16"/>
          <p:cNvSpPr/>
          <p:nvPr/>
        </p:nvSpPr>
        <p:spPr>
          <a:xfrm>
            <a:off x="621792" y="2990088"/>
            <a:ext cx="10972800" cy="658368"/>
          </a:xfrm>
          <a:prstGeom prst="rect">
            <a:avLst/>
          </a:prstGeom>
          <a:solidFill>
            <a:srgbClr val="F4F7F9"/>
          </a:solidFill>
          <a:ln>
            <a:solidFill>
              <a:srgbClr val="F4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3035808"/>
            <a:ext cx="2103120" cy="323165"/>
          </a:xfrm>
          <a:prstGeom prst="rect">
            <a:avLst/>
          </a:prstGeom>
          <a:noFill/>
        </p:spPr>
        <p:txBody>
          <a:bodyPr wrap="square" anchor="t">
            <a:spAutoFit/>
          </a:bodyPr>
          <a:lstStyle/>
          <a:p>
            <a:r>
              <a:rPr sz="1500" b="1" dirty="0">
                <a:solidFill>
                  <a:srgbClr val="F28C28"/>
                </a:solidFill>
                <a:latin typeface="Aptos"/>
              </a:rPr>
              <a:t>Entity resolution</a:t>
            </a:r>
          </a:p>
        </p:txBody>
      </p:sp>
      <p:sp>
        <p:nvSpPr>
          <p:cNvPr id="19" name="TextBox 18"/>
          <p:cNvSpPr txBox="1"/>
          <p:nvPr/>
        </p:nvSpPr>
        <p:spPr>
          <a:xfrm>
            <a:off x="3063240" y="3035808"/>
            <a:ext cx="3977639" cy="502920"/>
          </a:xfrm>
          <a:prstGeom prst="rect">
            <a:avLst/>
          </a:prstGeom>
          <a:noFill/>
        </p:spPr>
        <p:txBody>
          <a:bodyPr wrap="square" anchor="t">
            <a:spAutoFit/>
          </a:bodyPr>
          <a:lstStyle/>
          <a:p>
            <a:r>
              <a:rPr sz="1060">
                <a:latin typeface="Aptos"/>
              </a:rPr>
              <a:t>Name variation makes exact matching alone unreliable; matching outcomes must remain inspectable.</a:t>
            </a:r>
          </a:p>
        </p:txBody>
      </p:sp>
      <p:sp>
        <p:nvSpPr>
          <p:cNvPr id="20" name="TextBox 19"/>
          <p:cNvSpPr txBox="1"/>
          <p:nvPr/>
        </p:nvSpPr>
        <p:spPr>
          <a:xfrm>
            <a:off x="7360920" y="3035808"/>
            <a:ext cx="3977639" cy="502920"/>
          </a:xfrm>
          <a:prstGeom prst="rect">
            <a:avLst/>
          </a:prstGeom>
          <a:noFill/>
        </p:spPr>
        <p:txBody>
          <a:bodyPr wrap="square" anchor="t">
            <a:spAutoFit/>
          </a:bodyPr>
          <a:lstStyle/>
          <a:p>
            <a:r>
              <a:rPr sz="1060">
                <a:latin typeface="Aptos"/>
              </a:rPr>
              <a:t>Names are cleaned, exact matches are separated, and non-exact candidates receive two different similarity scores.</a:t>
            </a:r>
          </a:p>
        </p:txBody>
      </p:sp>
      <p:sp>
        <p:nvSpPr>
          <p:cNvPr id="21" name="TextBox 20"/>
          <p:cNvSpPr txBox="1"/>
          <p:nvPr/>
        </p:nvSpPr>
        <p:spPr>
          <a:xfrm>
            <a:off x="685800" y="3877056"/>
            <a:ext cx="2103120" cy="553998"/>
          </a:xfrm>
          <a:prstGeom prst="rect">
            <a:avLst/>
          </a:prstGeom>
          <a:noFill/>
        </p:spPr>
        <p:txBody>
          <a:bodyPr wrap="square" anchor="t">
            <a:spAutoFit/>
          </a:bodyPr>
          <a:lstStyle/>
          <a:p>
            <a:r>
              <a:rPr sz="1500" b="1" dirty="0">
                <a:solidFill>
                  <a:srgbClr val="F28C28"/>
                </a:solidFill>
                <a:latin typeface="Aptos"/>
              </a:rPr>
              <a:t>Hybrid entity resolution</a:t>
            </a:r>
          </a:p>
        </p:txBody>
      </p:sp>
      <p:sp>
        <p:nvSpPr>
          <p:cNvPr id="22" name="TextBox 21"/>
          <p:cNvSpPr txBox="1"/>
          <p:nvPr/>
        </p:nvSpPr>
        <p:spPr>
          <a:xfrm>
            <a:off x="3063240" y="3877056"/>
            <a:ext cx="3977639" cy="502920"/>
          </a:xfrm>
          <a:prstGeom prst="rect">
            <a:avLst/>
          </a:prstGeom>
          <a:noFill/>
        </p:spPr>
        <p:txBody>
          <a:bodyPr wrap="square" anchor="t">
            <a:spAutoFit/>
          </a:bodyPr>
          <a:lstStyle/>
          <a:p>
            <a:r>
              <a:rPr sz="1060">
                <a:latin typeface="Aptos"/>
              </a:rPr>
              <a:t>Candidate retrieval plus a second similarity check can improve transparency and reduce the risk of accepting one weak signal.</a:t>
            </a:r>
          </a:p>
        </p:txBody>
      </p:sp>
      <p:sp>
        <p:nvSpPr>
          <p:cNvPr id="23" name="TextBox 22"/>
          <p:cNvSpPr txBox="1"/>
          <p:nvPr/>
        </p:nvSpPr>
        <p:spPr>
          <a:xfrm>
            <a:off x="7360920" y="3877056"/>
            <a:ext cx="3977639" cy="502920"/>
          </a:xfrm>
          <a:prstGeom prst="rect">
            <a:avLst/>
          </a:prstGeom>
          <a:noFill/>
        </p:spPr>
        <p:txBody>
          <a:bodyPr wrap="square" anchor="t">
            <a:spAutoFit/>
          </a:bodyPr>
          <a:lstStyle/>
          <a:p>
            <a:r>
              <a:rPr sz="1060">
                <a:latin typeface="Aptos"/>
              </a:rPr>
              <a:t>The fuzzy and TF-IDF/Nearest-Neighbour routes are compared; disagreement and weak results remain excluded.</a:t>
            </a:r>
          </a:p>
        </p:txBody>
      </p:sp>
      <p:sp>
        <p:nvSpPr>
          <p:cNvPr id="24" name="Rectangle 23"/>
          <p:cNvSpPr/>
          <p:nvPr/>
        </p:nvSpPr>
        <p:spPr>
          <a:xfrm>
            <a:off x="621792" y="4672584"/>
            <a:ext cx="10972800" cy="658368"/>
          </a:xfrm>
          <a:prstGeom prst="rect">
            <a:avLst/>
          </a:prstGeom>
          <a:solidFill>
            <a:srgbClr val="F4F7F9"/>
          </a:solidFill>
          <a:ln>
            <a:solidFill>
              <a:srgbClr val="F4F7F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5800" y="4718304"/>
            <a:ext cx="2103120" cy="323165"/>
          </a:xfrm>
          <a:prstGeom prst="rect">
            <a:avLst/>
          </a:prstGeom>
          <a:noFill/>
        </p:spPr>
        <p:txBody>
          <a:bodyPr wrap="square" anchor="t">
            <a:spAutoFit/>
          </a:bodyPr>
          <a:lstStyle/>
          <a:p>
            <a:r>
              <a:rPr sz="1500" b="1" dirty="0">
                <a:solidFill>
                  <a:srgbClr val="F28C28"/>
                </a:solidFill>
                <a:latin typeface="Aptos"/>
              </a:rPr>
              <a:t>Decision support</a:t>
            </a:r>
          </a:p>
        </p:txBody>
      </p:sp>
      <p:sp>
        <p:nvSpPr>
          <p:cNvPr id="26" name="TextBox 25"/>
          <p:cNvSpPr txBox="1"/>
          <p:nvPr/>
        </p:nvSpPr>
        <p:spPr>
          <a:xfrm>
            <a:off x="3063240" y="4718304"/>
            <a:ext cx="3977639" cy="502920"/>
          </a:xfrm>
          <a:prstGeom prst="rect">
            <a:avLst/>
          </a:prstGeom>
          <a:noFill/>
        </p:spPr>
        <p:txBody>
          <a:bodyPr wrap="square" anchor="t">
            <a:spAutoFit/>
          </a:bodyPr>
          <a:lstStyle/>
          <a:p>
            <a:pPr algn="l"/>
            <a:r>
              <a:rPr sz="1030" b="0">
                <a:solidFill>
                  <a:srgbClr val="263238"/>
                </a:solidFill>
                <a:latin typeface="Aptos"/>
              </a:rPr>
              <a:t>DSS combines structured data, logic and a user interface.</a:t>
            </a:r>
          </a:p>
        </p:txBody>
      </p:sp>
      <p:sp>
        <p:nvSpPr>
          <p:cNvPr id="27" name="TextBox 26"/>
          <p:cNvSpPr txBox="1"/>
          <p:nvPr/>
        </p:nvSpPr>
        <p:spPr>
          <a:xfrm>
            <a:off x="7360920" y="4718304"/>
            <a:ext cx="3977639" cy="502920"/>
          </a:xfrm>
          <a:prstGeom prst="rect">
            <a:avLst/>
          </a:prstGeom>
          <a:noFill/>
        </p:spPr>
        <p:txBody>
          <a:bodyPr wrap="square" anchor="t">
            <a:spAutoFit/>
          </a:bodyPr>
          <a:lstStyle/>
          <a:p>
            <a:pPr algn="l"/>
            <a:r>
              <a:rPr sz="1030" b="0">
                <a:solidFill>
                  <a:srgbClr val="263238"/>
                </a:solidFill>
                <a:latin typeface="Aptos"/>
              </a:rPr>
              <a:t>SQL views and Power BI expose evidence, filters and disclaimers.</a:t>
            </a:r>
          </a:p>
        </p:txBody>
      </p:sp>
      <p:sp>
        <p:nvSpPr>
          <p:cNvPr id="28" name="TextBox 27"/>
          <p:cNvSpPr txBox="1"/>
          <p:nvPr/>
        </p:nvSpPr>
        <p:spPr>
          <a:xfrm>
            <a:off x="411480" y="6245352"/>
            <a:ext cx="11155680" cy="182880"/>
          </a:xfrm>
          <a:prstGeom prst="rect">
            <a:avLst/>
          </a:prstGeom>
          <a:noFill/>
        </p:spPr>
        <p:txBody>
          <a:bodyPr wrap="square" anchor="t">
            <a:spAutoFit/>
          </a:bodyPr>
          <a:lstStyle/>
          <a:p>
            <a:pPr algn="l"/>
            <a:r>
              <a:rPr sz="800" b="0">
                <a:solidFill>
                  <a:srgbClr val="657786"/>
                </a:solidFill>
                <a:latin typeface="Aptos"/>
              </a:rPr>
              <a:t>Han et al. (2022); Nguyen &amp; Cheng (2025); Cvetkov-Iliev et al. (2022); Sharifi &amp; Ahmadzadeh (2025); Souha et al. (2025).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28C28"/>
          </a:solidFill>
          <a:ln>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6473952"/>
            <a:ext cx="3657600" cy="164592"/>
          </a:xfrm>
          <a:prstGeom prst="rect">
            <a:avLst/>
          </a:prstGeom>
          <a:noFill/>
        </p:spPr>
        <p:txBody>
          <a:bodyPr wrap="square" anchor="t">
            <a:spAutoFit/>
          </a:bodyPr>
          <a:lstStyle/>
          <a:p>
            <a:pPr algn="l"/>
            <a:r>
              <a:rPr sz="830" b="0">
                <a:solidFill>
                  <a:srgbClr val="657786"/>
                </a:solidFill>
                <a:latin typeface="Aptos"/>
              </a:rPr>
              <a:t>LD6053 · UG Computing Project</a:t>
            </a:r>
          </a:p>
        </p:txBody>
      </p:sp>
      <p:sp>
        <p:nvSpPr>
          <p:cNvPr id="4" name="TextBox 3"/>
          <p:cNvSpPr txBox="1"/>
          <p:nvPr/>
        </p:nvSpPr>
        <p:spPr>
          <a:xfrm>
            <a:off x="9326880" y="6473952"/>
            <a:ext cx="2377440" cy="164592"/>
          </a:xfrm>
          <a:prstGeom prst="rect">
            <a:avLst/>
          </a:prstGeom>
          <a:noFill/>
        </p:spPr>
        <p:txBody>
          <a:bodyPr wrap="square" anchor="t">
            <a:spAutoFit/>
          </a:bodyPr>
          <a:lstStyle/>
          <a:p>
            <a:pPr algn="r"/>
            <a:r>
              <a:rPr sz="830" b="0">
                <a:solidFill>
                  <a:srgbClr val="657786"/>
                </a:solidFill>
                <a:latin typeface="Aptos"/>
              </a:rPr>
              <a:t>Jorge Tomas Chabrillon</a:t>
            </a:r>
          </a:p>
        </p:txBody>
      </p:sp>
      <p:sp>
        <p:nvSpPr>
          <p:cNvPr id="5" name="TextBox 4"/>
          <p:cNvSpPr txBox="1"/>
          <p:nvPr/>
        </p:nvSpPr>
        <p:spPr>
          <a:xfrm>
            <a:off x="411480" y="274320"/>
            <a:ext cx="4389120" cy="201168"/>
          </a:xfrm>
          <a:prstGeom prst="rect">
            <a:avLst/>
          </a:prstGeom>
          <a:noFill/>
        </p:spPr>
        <p:txBody>
          <a:bodyPr wrap="square" anchor="t">
            <a:spAutoFit/>
          </a:bodyPr>
          <a:lstStyle/>
          <a:p>
            <a:pPr algn="l"/>
            <a:r>
              <a:rPr sz="980" b="1">
                <a:solidFill>
                  <a:srgbClr val="F28C28"/>
                </a:solidFill>
                <a:latin typeface="Aptos"/>
              </a:rPr>
              <a:t>DESIGN</a:t>
            </a:r>
          </a:p>
        </p:txBody>
      </p:sp>
      <p:sp>
        <p:nvSpPr>
          <p:cNvPr id="6" name="TextBox 5"/>
          <p:cNvSpPr txBox="1"/>
          <p:nvPr/>
        </p:nvSpPr>
        <p:spPr>
          <a:xfrm>
            <a:off x="411480" y="530352"/>
            <a:ext cx="11155680" cy="411480"/>
          </a:xfrm>
          <a:prstGeom prst="rect">
            <a:avLst/>
          </a:prstGeom>
          <a:noFill/>
        </p:spPr>
        <p:txBody>
          <a:bodyPr wrap="square" anchor="t">
            <a:spAutoFit/>
          </a:bodyPr>
          <a:lstStyle/>
          <a:p>
            <a:pPr algn="l"/>
            <a:r>
              <a:rPr sz="2400" b="1" dirty="0">
                <a:solidFill>
                  <a:srgbClr val="16324F"/>
                </a:solidFill>
                <a:latin typeface="Aptos"/>
              </a:rPr>
              <a:t>End-to-end system architecture</a:t>
            </a:r>
          </a:p>
        </p:txBody>
      </p:sp>
      <p:sp>
        <p:nvSpPr>
          <p:cNvPr id="7" name="Rounded Rectangle 6"/>
          <p:cNvSpPr/>
          <p:nvPr/>
        </p:nvSpPr>
        <p:spPr>
          <a:xfrm>
            <a:off x="491490" y="1234440"/>
            <a:ext cx="2011680" cy="685800"/>
          </a:xfrm>
          <a:prstGeom prst="roundRect">
            <a:avLst/>
          </a:prstGeom>
          <a:solidFill>
            <a:srgbClr val="FFFFFF"/>
          </a:solidFill>
          <a:ln w="1524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01218" y="1325880"/>
            <a:ext cx="1792224" cy="228600"/>
          </a:xfrm>
          <a:prstGeom prst="rect">
            <a:avLst/>
          </a:prstGeom>
          <a:noFill/>
        </p:spPr>
        <p:txBody>
          <a:bodyPr wrap="square" anchor="t">
            <a:spAutoFit/>
          </a:bodyPr>
          <a:lstStyle/>
          <a:p>
            <a:pPr algn="l"/>
            <a:r>
              <a:rPr sz="1320" b="1">
                <a:solidFill>
                  <a:srgbClr val="F28C28"/>
                </a:solidFill>
                <a:latin typeface="Aptos"/>
              </a:rPr>
              <a:t>Contracts Finder</a:t>
            </a:r>
          </a:p>
        </p:txBody>
      </p:sp>
      <p:sp>
        <p:nvSpPr>
          <p:cNvPr id="9" name="TextBox 8"/>
          <p:cNvSpPr txBox="1"/>
          <p:nvPr/>
        </p:nvSpPr>
        <p:spPr>
          <a:xfrm>
            <a:off x="601218" y="1600200"/>
            <a:ext cx="1792224" cy="246888"/>
          </a:xfrm>
          <a:prstGeom prst="rect">
            <a:avLst/>
          </a:prstGeom>
          <a:noFill/>
        </p:spPr>
        <p:txBody>
          <a:bodyPr wrap="square" anchor="t">
            <a:spAutoFit/>
          </a:bodyPr>
          <a:lstStyle/>
          <a:p>
            <a:pPr algn="l"/>
            <a:r>
              <a:rPr sz="1000" b="0">
                <a:solidFill>
                  <a:srgbClr val="263238"/>
                </a:solidFill>
                <a:latin typeface="Aptos"/>
              </a:rPr>
              <a:t>OCDS JSON API</a:t>
            </a:r>
          </a:p>
        </p:txBody>
      </p:sp>
      <p:sp>
        <p:nvSpPr>
          <p:cNvPr id="10" name="Rounded Rectangle 9"/>
          <p:cNvSpPr/>
          <p:nvPr/>
        </p:nvSpPr>
        <p:spPr>
          <a:xfrm>
            <a:off x="487679" y="2280666"/>
            <a:ext cx="2011680" cy="685800"/>
          </a:xfrm>
          <a:prstGeom prst="roundRect">
            <a:avLst/>
          </a:prstGeom>
          <a:solidFill>
            <a:srgbClr val="FFFFFF"/>
          </a:solidFill>
          <a:ln w="15240">
            <a:solidFill>
              <a:srgbClr val="2FA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p:cNvSpPr txBox="1"/>
          <p:nvPr/>
        </p:nvSpPr>
        <p:spPr>
          <a:xfrm>
            <a:off x="658368" y="2230374"/>
            <a:ext cx="1792224" cy="347472"/>
          </a:xfrm>
          <a:prstGeom prst="rect">
            <a:avLst/>
          </a:prstGeom>
          <a:noFill/>
        </p:spPr>
        <p:txBody>
          <a:bodyPr wrap="square" anchor="t">
            <a:spAutoFit/>
          </a:bodyPr>
          <a:lstStyle/>
          <a:p>
            <a:pPr algn="l"/>
            <a:r>
              <a:rPr sz="1140" b="1">
                <a:solidFill>
                  <a:srgbClr val="2FA8B8"/>
                </a:solidFill>
                <a:latin typeface="Aptos"/>
              </a:rPr>
              <a:t>Gateway to Research</a:t>
            </a:r>
          </a:p>
        </p:txBody>
      </p:sp>
      <p:sp>
        <p:nvSpPr>
          <p:cNvPr id="12" name="TextBox 11"/>
          <p:cNvSpPr txBox="1"/>
          <p:nvPr/>
        </p:nvSpPr>
        <p:spPr>
          <a:xfrm>
            <a:off x="658368" y="2527935"/>
            <a:ext cx="1792224" cy="182880"/>
          </a:xfrm>
          <a:prstGeom prst="rect">
            <a:avLst/>
          </a:prstGeom>
          <a:noFill/>
        </p:spPr>
        <p:txBody>
          <a:bodyPr wrap="square" anchor="t">
            <a:spAutoFit/>
          </a:bodyPr>
          <a:lstStyle/>
          <a:p>
            <a:pPr algn="l"/>
            <a:r>
              <a:rPr lang="en-US" sz="900" b="0" dirty="0">
                <a:solidFill>
                  <a:srgbClr val="263238"/>
                </a:solidFill>
                <a:latin typeface="Aptos"/>
              </a:rPr>
              <a:t>XML API</a:t>
            </a:r>
          </a:p>
        </p:txBody>
      </p:sp>
      <p:sp>
        <p:nvSpPr>
          <p:cNvPr id="13" name="Rounded Rectangle 12"/>
          <p:cNvSpPr/>
          <p:nvPr/>
        </p:nvSpPr>
        <p:spPr>
          <a:xfrm>
            <a:off x="548640" y="3611881"/>
            <a:ext cx="2011680" cy="685800"/>
          </a:xfrm>
          <a:prstGeom prst="roundRect">
            <a:avLst/>
          </a:prstGeom>
          <a:solidFill>
            <a:srgbClr val="FFFFFF"/>
          </a:solidFill>
          <a:ln w="1524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 y="3703321"/>
            <a:ext cx="1792224" cy="228600"/>
          </a:xfrm>
          <a:prstGeom prst="rect">
            <a:avLst/>
          </a:prstGeom>
          <a:noFill/>
        </p:spPr>
        <p:txBody>
          <a:bodyPr wrap="square" anchor="t">
            <a:spAutoFit/>
          </a:bodyPr>
          <a:lstStyle/>
          <a:p>
            <a:pPr algn="l"/>
            <a:r>
              <a:rPr sz="1320" b="1">
                <a:solidFill>
                  <a:srgbClr val="F28C28"/>
                </a:solidFill>
                <a:latin typeface="Aptos"/>
              </a:rPr>
              <a:t>Sponsor Register</a:t>
            </a:r>
          </a:p>
        </p:txBody>
      </p:sp>
      <p:sp>
        <p:nvSpPr>
          <p:cNvPr id="15" name="TextBox 14"/>
          <p:cNvSpPr txBox="1"/>
          <p:nvPr/>
        </p:nvSpPr>
        <p:spPr>
          <a:xfrm>
            <a:off x="658368" y="3977641"/>
            <a:ext cx="1792224" cy="246888"/>
          </a:xfrm>
          <a:prstGeom prst="rect">
            <a:avLst/>
          </a:prstGeom>
          <a:noFill/>
        </p:spPr>
        <p:txBody>
          <a:bodyPr wrap="square" anchor="t">
            <a:spAutoFit/>
          </a:bodyPr>
          <a:lstStyle/>
          <a:p>
            <a:pPr algn="l"/>
            <a:r>
              <a:rPr sz="1000" b="0">
                <a:solidFill>
                  <a:srgbClr val="263238"/>
                </a:solidFill>
                <a:latin typeface="Aptos"/>
              </a:rPr>
              <a:t>CSV reference data</a:t>
            </a:r>
          </a:p>
        </p:txBody>
      </p:sp>
      <p:sp>
        <p:nvSpPr>
          <p:cNvPr id="16" name="Rounded Rectangle 15"/>
          <p:cNvSpPr/>
          <p:nvPr/>
        </p:nvSpPr>
        <p:spPr>
          <a:xfrm>
            <a:off x="2926080" y="2148840"/>
            <a:ext cx="1188720" cy="960120"/>
          </a:xfrm>
          <a:prstGeom prst="roundRect">
            <a:avLst/>
          </a:prstGeom>
          <a:solidFill>
            <a:srgbClr val="F28C28"/>
          </a:solidFill>
          <a:ln>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017520" y="2231136"/>
            <a:ext cx="1005840" cy="795528"/>
          </a:xfrm>
          <a:prstGeom prst="rect">
            <a:avLst/>
          </a:prstGeom>
          <a:noFill/>
        </p:spPr>
        <p:txBody>
          <a:bodyPr wrap="square" anchor="ctr">
            <a:spAutoFit/>
          </a:bodyPr>
          <a:lstStyle/>
          <a:p>
            <a:pPr algn="ctr"/>
            <a:r>
              <a:rPr sz="1120" b="1">
                <a:solidFill>
                  <a:srgbClr val="FFFFFF"/>
                </a:solidFill>
                <a:latin typeface="Aptos"/>
              </a:rPr>
              <a:t>BRONZE
Raw evidence</a:t>
            </a:r>
          </a:p>
        </p:txBody>
      </p:sp>
      <p:sp>
        <p:nvSpPr>
          <p:cNvPr id="18" name="Rounded Rectangle 17"/>
          <p:cNvSpPr/>
          <p:nvPr/>
        </p:nvSpPr>
        <p:spPr>
          <a:xfrm>
            <a:off x="4434840" y="2148840"/>
            <a:ext cx="1188720" cy="960120"/>
          </a:xfrm>
          <a:prstGeom prst="roundRect">
            <a:avLst/>
          </a:prstGeom>
          <a:solidFill>
            <a:srgbClr val="2FA8B8"/>
          </a:solidFill>
          <a:ln>
            <a:solidFill>
              <a:srgbClr val="2FA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26279" y="2231136"/>
            <a:ext cx="1005840" cy="795528"/>
          </a:xfrm>
          <a:prstGeom prst="rect">
            <a:avLst/>
          </a:prstGeom>
          <a:noFill/>
        </p:spPr>
        <p:txBody>
          <a:bodyPr wrap="square" anchor="ctr">
            <a:spAutoFit/>
          </a:bodyPr>
          <a:lstStyle/>
          <a:p>
            <a:pPr algn="ctr"/>
            <a:r>
              <a:rPr sz="1120" b="1">
                <a:solidFill>
                  <a:srgbClr val="FFFFFF"/>
                </a:solidFill>
                <a:latin typeface="Aptos"/>
              </a:rPr>
              <a:t>SILVER
Cleaned data</a:t>
            </a:r>
          </a:p>
        </p:txBody>
      </p:sp>
      <p:sp>
        <p:nvSpPr>
          <p:cNvPr id="20" name="Rounded Rectangle 19"/>
          <p:cNvSpPr/>
          <p:nvPr/>
        </p:nvSpPr>
        <p:spPr>
          <a:xfrm>
            <a:off x="5943600" y="2148840"/>
            <a:ext cx="1188720" cy="960120"/>
          </a:xfrm>
          <a:prstGeom prst="roundRect">
            <a:avLst/>
          </a:prstGeom>
          <a:solidFill>
            <a:srgbClr val="E3B341"/>
          </a:solidFill>
          <a:ln>
            <a:solidFill>
              <a:srgbClr val="E3B3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035040" y="2231136"/>
            <a:ext cx="1005840" cy="795528"/>
          </a:xfrm>
          <a:prstGeom prst="rect">
            <a:avLst/>
          </a:prstGeom>
          <a:noFill/>
        </p:spPr>
        <p:txBody>
          <a:bodyPr wrap="square" anchor="ctr">
            <a:spAutoFit/>
          </a:bodyPr>
          <a:lstStyle/>
          <a:p>
            <a:pPr algn="ctr"/>
            <a:r>
              <a:rPr sz="1120" b="1" dirty="0">
                <a:solidFill>
                  <a:srgbClr val="FFFFFF"/>
                </a:solidFill>
                <a:latin typeface="Aptos"/>
              </a:rPr>
              <a:t>GOLD
Matched data</a:t>
            </a:r>
          </a:p>
        </p:txBody>
      </p:sp>
      <p:sp>
        <p:nvSpPr>
          <p:cNvPr id="22" name="Rounded Rectangle 21"/>
          <p:cNvSpPr/>
          <p:nvPr/>
        </p:nvSpPr>
        <p:spPr>
          <a:xfrm>
            <a:off x="7665720" y="2089404"/>
            <a:ext cx="1600200" cy="1078992"/>
          </a:xfrm>
          <a:prstGeom prst="roundRect">
            <a:avLst/>
          </a:prstGeom>
          <a:solidFill>
            <a:srgbClr val="FFFFFF"/>
          </a:solidFill>
          <a:ln w="15240">
            <a:solidFill>
              <a:srgbClr val="0F6B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5448" y="2180844"/>
            <a:ext cx="1380744" cy="219456"/>
          </a:xfrm>
          <a:prstGeom prst="rect">
            <a:avLst/>
          </a:prstGeom>
          <a:noFill/>
        </p:spPr>
        <p:txBody>
          <a:bodyPr wrap="square" anchor="t">
            <a:spAutoFit/>
          </a:bodyPr>
          <a:lstStyle/>
          <a:p>
            <a:pPr algn="l"/>
            <a:r>
              <a:rPr sz="1320" b="1">
                <a:solidFill>
                  <a:srgbClr val="0F6B78"/>
                </a:solidFill>
                <a:latin typeface="Aptos"/>
              </a:rPr>
              <a:t>SQL Server</a:t>
            </a:r>
          </a:p>
        </p:txBody>
      </p:sp>
      <p:sp>
        <p:nvSpPr>
          <p:cNvPr id="24" name="TextBox 23"/>
          <p:cNvSpPr txBox="1"/>
          <p:nvPr/>
        </p:nvSpPr>
        <p:spPr>
          <a:xfrm>
            <a:off x="7775448" y="2455164"/>
            <a:ext cx="1380744" cy="594360"/>
          </a:xfrm>
          <a:prstGeom prst="rect">
            <a:avLst/>
          </a:prstGeom>
          <a:noFill/>
        </p:spPr>
        <p:txBody>
          <a:bodyPr wrap="square" anchor="t">
            <a:spAutoFit/>
          </a:bodyPr>
          <a:lstStyle/>
          <a:p>
            <a:pPr algn="l"/>
            <a:r>
              <a:rPr sz="819" b="0">
                <a:solidFill>
                  <a:srgbClr val="263238"/>
                </a:solidFill>
                <a:latin typeface="Aptos"/>
              </a:rPr>
              <a:t>Sponsor dimension
Gold evidence tables
Comparison + audit
Reporting views</a:t>
            </a:r>
          </a:p>
        </p:txBody>
      </p:sp>
      <p:sp>
        <p:nvSpPr>
          <p:cNvPr id="25" name="Rounded Rectangle 24"/>
          <p:cNvSpPr/>
          <p:nvPr/>
        </p:nvSpPr>
        <p:spPr>
          <a:xfrm>
            <a:off x="9601199" y="2122551"/>
            <a:ext cx="1600200" cy="1005840"/>
          </a:xfrm>
          <a:prstGeom prst="roundRect">
            <a:avLst/>
          </a:prstGeom>
          <a:solidFill>
            <a:srgbClr val="FFFFFF"/>
          </a:solidFill>
          <a:ln w="15240">
            <a:solidFill>
              <a:srgbClr val="2FA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710927" y="2213991"/>
            <a:ext cx="1380744" cy="219456"/>
          </a:xfrm>
          <a:prstGeom prst="rect">
            <a:avLst/>
          </a:prstGeom>
          <a:noFill/>
        </p:spPr>
        <p:txBody>
          <a:bodyPr wrap="square" anchor="t">
            <a:spAutoFit/>
          </a:bodyPr>
          <a:lstStyle/>
          <a:p>
            <a:pPr algn="l"/>
            <a:r>
              <a:rPr sz="1320" b="1">
                <a:solidFill>
                  <a:srgbClr val="2FA8B8"/>
                </a:solidFill>
                <a:latin typeface="Aptos"/>
              </a:rPr>
              <a:t>Power BI</a:t>
            </a:r>
          </a:p>
        </p:txBody>
      </p:sp>
      <p:sp>
        <p:nvSpPr>
          <p:cNvPr id="27" name="TextBox 26"/>
          <p:cNvSpPr txBox="1"/>
          <p:nvPr/>
        </p:nvSpPr>
        <p:spPr>
          <a:xfrm>
            <a:off x="9710927" y="2488311"/>
            <a:ext cx="1380744" cy="530352"/>
          </a:xfrm>
          <a:prstGeom prst="rect">
            <a:avLst/>
          </a:prstGeom>
          <a:noFill/>
        </p:spPr>
        <p:txBody>
          <a:bodyPr wrap="square" anchor="t">
            <a:spAutoFit/>
          </a:bodyPr>
          <a:lstStyle/>
          <a:p>
            <a:pPr algn="l"/>
            <a:r>
              <a:rPr sz="840" b="0">
                <a:solidFill>
                  <a:srgbClr val="263238"/>
                </a:solidFill>
                <a:latin typeface="Aptos"/>
              </a:rPr>
              <a:t>Overview
Contracts Finder
GtR
Data Quality</a:t>
            </a:r>
          </a:p>
        </p:txBody>
      </p:sp>
      <p:sp>
        <p:nvSpPr>
          <p:cNvPr id="28" name="Rounded Rectangle 27"/>
          <p:cNvSpPr/>
          <p:nvPr/>
        </p:nvSpPr>
        <p:spPr>
          <a:xfrm>
            <a:off x="9519285" y="3733038"/>
            <a:ext cx="1783080" cy="1078992"/>
          </a:xfrm>
          <a:prstGeom prst="roundRect">
            <a:avLst/>
          </a:prstGeom>
          <a:solidFill>
            <a:srgbClr val="FFFFFF"/>
          </a:solidFill>
          <a:ln w="15240">
            <a:solidFill>
              <a:srgbClr val="16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629013" y="3842766"/>
            <a:ext cx="1563624" cy="256032"/>
          </a:xfrm>
          <a:prstGeom prst="rect">
            <a:avLst/>
          </a:prstGeom>
          <a:noFill/>
        </p:spPr>
        <p:txBody>
          <a:bodyPr wrap="square" anchor="t">
            <a:spAutoFit/>
          </a:bodyPr>
          <a:lstStyle/>
          <a:p>
            <a:pPr algn="l"/>
            <a:r>
              <a:rPr sz="1200" b="1">
                <a:solidFill>
                  <a:srgbClr val="16324F"/>
                </a:solidFill>
                <a:latin typeface="Aptos"/>
              </a:rPr>
              <a:t>Career evidence</a:t>
            </a:r>
          </a:p>
        </p:txBody>
      </p:sp>
      <p:sp>
        <p:nvSpPr>
          <p:cNvPr id="30" name="TextBox 29"/>
          <p:cNvSpPr txBox="1"/>
          <p:nvPr/>
        </p:nvSpPr>
        <p:spPr>
          <a:xfrm>
            <a:off x="9629013" y="4190238"/>
            <a:ext cx="1563624" cy="475488"/>
          </a:xfrm>
          <a:prstGeom prst="rect">
            <a:avLst/>
          </a:prstGeom>
          <a:noFill/>
        </p:spPr>
        <p:txBody>
          <a:bodyPr wrap="square" anchor="t">
            <a:spAutoFit/>
          </a:bodyPr>
          <a:lstStyle/>
          <a:p>
            <a:pPr algn="l"/>
            <a:r>
              <a:rPr sz="910" b="0">
                <a:solidFill>
                  <a:srgbClr val="263238"/>
                </a:solidFill>
                <a:latin typeface="Aptos"/>
              </a:rPr>
              <a:t>Accepted links become inspectable dashboard records.</a:t>
            </a:r>
          </a:p>
        </p:txBody>
      </p:sp>
      <p:sp>
        <p:nvSpPr>
          <p:cNvPr id="31" name="Rounded Rectangle 30"/>
          <p:cNvSpPr/>
          <p:nvPr/>
        </p:nvSpPr>
        <p:spPr>
          <a:xfrm>
            <a:off x="2148840" y="4833366"/>
            <a:ext cx="6949440" cy="960120"/>
          </a:xfrm>
          <a:prstGeom prst="roundRect">
            <a:avLst/>
          </a:prstGeom>
          <a:solidFill>
            <a:srgbClr val="FFFFFF"/>
          </a:solidFill>
          <a:ln w="15240">
            <a:solidFill>
              <a:srgbClr val="0F6B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258568" y="4924806"/>
            <a:ext cx="6729983" cy="228600"/>
          </a:xfrm>
          <a:prstGeom prst="rect">
            <a:avLst/>
          </a:prstGeom>
          <a:noFill/>
        </p:spPr>
        <p:txBody>
          <a:bodyPr wrap="square" anchor="t">
            <a:spAutoFit/>
          </a:bodyPr>
          <a:lstStyle/>
          <a:p>
            <a:pPr algn="l"/>
            <a:r>
              <a:rPr sz="1320" b="1">
                <a:solidFill>
                  <a:srgbClr val="0F6B78"/>
                </a:solidFill>
                <a:latin typeface="Aptos"/>
              </a:rPr>
              <a:t>SQL reporting model</a:t>
            </a:r>
          </a:p>
        </p:txBody>
      </p:sp>
      <p:sp>
        <p:nvSpPr>
          <p:cNvPr id="33" name="TextBox 32"/>
          <p:cNvSpPr txBox="1"/>
          <p:nvPr/>
        </p:nvSpPr>
        <p:spPr>
          <a:xfrm>
            <a:off x="2258568" y="5199126"/>
            <a:ext cx="6729983" cy="521208"/>
          </a:xfrm>
          <a:prstGeom prst="rect">
            <a:avLst/>
          </a:prstGeom>
          <a:noFill/>
        </p:spPr>
        <p:txBody>
          <a:bodyPr wrap="square" anchor="t">
            <a:spAutoFit/>
          </a:bodyPr>
          <a:lstStyle/>
          <a:p>
            <a:pPr algn="l"/>
            <a:r>
              <a:rPr sz="960" b="0">
                <a:solidFill>
                  <a:srgbClr val="263238"/>
                </a:solidFill>
                <a:latin typeface="Aptos"/>
              </a:rPr>
              <a:t>One sponsor record can link to many contract or research records. MatchComparison keeps accepted and excluded matching evidence, while DataLoadAudit records each pipeline run. SQL views prepare the reporting data for Power BI, and dated Bronze and Silver files remain in Google Drive.</a:t>
            </a:r>
          </a:p>
        </p:txBody>
      </p:sp>
      <p:sp>
        <p:nvSpPr>
          <p:cNvPr id="34" name="TextBox 33"/>
          <p:cNvSpPr txBox="1"/>
          <p:nvPr/>
        </p:nvSpPr>
        <p:spPr>
          <a:xfrm>
            <a:off x="411480" y="6245352"/>
            <a:ext cx="11155680" cy="182880"/>
          </a:xfrm>
          <a:prstGeom prst="rect">
            <a:avLst/>
          </a:prstGeom>
          <a:noFill/>
        </p:spPr>
        <p:txBody>
          <a:bodyPr wrap="square" anchor="t">
            <a:spAutoFit/>
          </a:bodyPr>
          <a:lstStyle/>
          <a:p>
            <a:pPr algn="l"/>
            <a:r>
              <a:rPr sz="800" b="0">
                <a:solidFill>
                  <a:srgbClr val="657786"/>
                </a:solidFill>
                <a:latin typeface="Aptos"/>
              </a:rPr>
              <a:t>Souha et al. (2025); Cvetkov-Iliev et al. (2022).</a:t>
            </a:r>
          </a:p>
        </p:txBody>
      </p:sp>
      <p:cxnSp>
        <p:nvCxnSpPr>
          <p:cNvPr id="36" name="Straight Arrow Connector 35">
            <a:extLst>
              <a:ext uri="{FF2B5EF4-FFF2-40B4-BE49-F238E27FC236}">
                <a16:creationId xmlns:a16="http://schemas.microsoft.com/office/drawing/2014/main" id="{2FF84FC4-FF2F-9AEA-7D87-4E35BD3073BC}"/>
              </a:ext>
            </a:extLst>
          </p:cNvPr>
          <p:cNvCxnSpPr>
            <a:cxnSpLocks/>
            <a:stCxn id="7" idx="3"/>
          </p:cNvCxnSpPr>
          <p:nvPr/>
        </p:nvCxnSpPr>
        <p:spPr>
          <a:xfrm>
            <a:off x="2503170" y="1577340"/>
            <a:ext cx="468630" cy="62103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BEF350DB-5AFE-0CF5-6121-65863AEC7AE4}"/>
              </a:ext>
            </a:extLst>
          </p:cNvPr>
          <p:cNvCxnSpPr>
            <a:cxnSpLocks/>
            <a:stCxn id="10" idx="3"/>
            <a:endCxn id="16" idx="1"/>
          </p:cNvCxnSpPr>
          <p:nvPr/>
        </p:nvCxnSpPr>
        <p:spPr>
          <a:xfrm>
            <a:off x="2499359" y="2623566"/>
            <a:ext cx="426721" cy="53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DD48C008-ED44-A0C2-9C79-E22CEFBF93AB}"/>
              </a:ext>
            </a:extLst>
          </p:cNvPr>
          <p:cNvCxnSpPr>
            <a:cxnSpLocks/>
            <a:stCxn id="16" idx="3"/>
            <a:endCxn id="18" idx="1"/>
          </p:cNvCxnSpPr>
          <p:nvPr/>
        </p:nvCxnSpPr>
        <p:spPr>
          <a:xfrm>
            <a:off x="4114800" y="2628900"/>
            <a:ext cx="32004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1EEFCDED-7CAD-576A-1ABA-AF071FDAFD6C}"/>
              </a:ext>
            </a:extLst>
          </p:cNvPr>
          <p:cNvCxnSpPr>
            <a:cxnSpLocks/>
            <a:stCxn id="18" idx="3"/>
            <a:endCxn id="20" idx="1"/>
          </p:cNvCxnSpPr>
          <p:nvPr/>
        </p:nvCxnSpPr>
        <p:spPr>
          <a:xfrm>
            <a:off x="5623560" y="2628900"/>
            <a:ext cx="32004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26EA798B-B4B6-B38F-056A-3E255917C386}"/>
              </a:ext>
            </a:extLst>
          </p:cNvPr>
          <p:cNvCxnSpPr>
            <a:cxnSpLocks/>
            <a:stCxn id="20" idx="3"/>
            <a:endCxn id="22" idx="1"/>
          </p:cNvCxnSpPr>
          <p:nvPr/>
        </p:nvCxnSpPr>
        <p:spPr>
          <a:xfrm>
            <a:off x="7132320" y="2628900"/>
            <a:ext cx="533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E99665A8-CEB0-52F8-05BD-651A12800D55}"/>
              </a:ext>
            </a:extLst>
          </p:cNvPr>
          <p:cNvCxnSpPr>
            <a:cxnSpLocks/>
            <a:stCxn id="22" idx="3"/>
            <a:endCxn id="25" idx="1"/>
          </p:cNvCxnSpPr>
          <p:nvPr/>
        </p:nvCxnSpPr>
        <p:spPr>
          <a:xfrm flipV="1">
            <a:off x="9265920" y="2625471"/>
            <a:ext cx="335279" cy="342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CFF4A140-6EDB-934D-A5F0-9E81EB2C825B}"/>
              </a:ext>
            </a:extLst>
          </p:cNvPr>
          <p:cNvCxnSpPr>
            <a:cxnSpLocks/>
            <a:stCxn id="25" idx="2"/>
            <a:endCxn id="28" idx="0"/>
          </p:cNvCxnSpPr>
          <p:nvPr/>
        </p:nvCxnSpPr>
        <p:spPr>
          <a:xfrm>
            <a:off x="10401299" y="3128391"/>
            <a:ext cx="9526" cy="60464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Connector 58">
            <a:extLst>
              <a:ext uri="{FF2B5EF4-FFF2-40B4-BE49-F238E27FC236}">
                <a16:creationId xmlns:a16="http://schemas.microsoft.com/office/drawing/2014/main" id="{E97A9AE3-2F72-94CB-F12C-DCE394D82481}"/>
              </a:ext>
            </a:extLst>
          </p:cNvPr>
          <p:cNvCxnSpPr>
            <a:cxnSpLocks/>
            <a:stCxn id="13" idx="3"/>
          </p:cNvCxnSpPr>
          <p:nvPr/>
        </p:nvCxnSpPr>
        <p:spPr>
          <a:xfrm flipV="1">
            <a:off x="2560320" y="3931921"/>
            <a:ext cx="3977640" cy="22860"/>
          </a:xfrm>
          <a:prstGeom prst="line">
            <a:avLst/>
          </a:prstGeom>
          <a:ln w="19050">
            <a:solidFill>
              <a:srgbClr val="227C8C"/>
            </a:solidFill>
          </a:ln>
        </p:spPr>
        <p:style>
          <a:lnRef idx="2">
            <a:schemeClr val="accent1"/>
          </a:lnRef>
          <a:fillRef idx="0">
            <a:schemeClr val="accent1"/>
          </a:fillRef>
          <a:effectRef idx="1">
            <a:schemeClr val="accent1"/>
          </a:effectRef>
          <a:fontRef idx="minor">
            <a:schemeClr val="tx1"/>
          </a:fontRef>
        </p:style>
      </p:cxnSp>
      <p:cxnSp>
        <p:nvCxnSpPr>
          <p:cNvPr id="45" name="Connector 59">
            <a:extLst>
              <a:ext uri="{FF2B5EF4-FFF2-40B4-BE49-F238E27FC236}">
                <a16:creationId xmlns:a16="http://schemas.microsoft.com/office/drawing/2014/main" id="{33992DF4-5F9A-22CD-FE4B-2C7E89E5ABEC}"/>
              </a:ext>
            </a:extLst>
          </p:cNvPr>
          <p:cNvCxnSpPr>
            <a:cxnSpLocks/>
            <a:endCxn id="20" idx="2"/>
          </p:cNvCxnSpPr>
          <p:nvPr/>
        </p:nvCxnSpPr>
        <p:spPr>
          <a:xfrm flipV="1">
            <a:off x="6537960" y="3108960"/>
            <a:ext cx="0" cy="845821"/>
          </a:xfrm>
          <a:prstGeom prst="line">
            <a:avLst/>
          </a:prstGeom>
          <a:ln w="19050">
            <a:solidFill>
              <a:srgbClr val="227C8C"/>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28C28"/>
          </a:solidFill>
          <a:ln>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6473952"/>
            <a:ext cx="3657600" cy="164592"/>
          </a:xfrm>
          <a:prstGeom prst="rect">
            <a:avLst/>
          </a:prstGeom>
          <a:noFill/>
        </p:spPr>
        <p:txBody>
          <a:bodyPr wrap="square" anchor="t">
            <a:spAutoFit/>
          </a:bodyPr>
          <a:lstStyle/>
          <a:p>
            <a:pPr algn="l"/>
            <a:r>
              <a:rPr sz="830" b="0">
                <a:solidFill>
                  <a:srgbClr val="657786"/>
                </a:solidFill>
                <a:latin typeface="Aptos"/>
              </a:rPr>
              <a:t>LD6053 · UG Computing Project</a:t>
            </a:r>
          </a:p>
        </p:txBody>
      </p:sp>
      <p:sp>
        <p:nvSpPr>
          <p:cNvPr id="4" name="TextBox 3"/>
          <p:cNvSpPr txBox="1"/>
          <p:nvPr/>
        </p:nvSpPr>
        <p:spPr>
          <a:xfrm>
            <a:off x="9326880" y="6473952"/>
            <a:ext cx="2377440" cy="164592"/>
          </a:xfrm>
          <a:prstGeom prst="rect">
            <a:avLst/>
          </a:prstGeom>
          <a:noFill/>
        </p:spPr>
        <p:txBody>
          <a:bodyPr wrap="square" anchor="t">
            <a:spAutoFit/>
          </a:bodyPr>
          <a:lstStyle/>
          <a:p>
            <a:pPr algn="r"/>
            <a:r>
              <a:rPr sz="830" b="0">
                <a:solidFill>
                  <a:srgbClr val="657786"/>
                </a:solidFill>
                <a:latin typeface="Aptos"/>
              </a:rPr>
              <a:t>Jorge Tomas Chabrillon</a:t>
            </a:r>
          </a:p>
        </p:txBody>
      </p:sp>
      <p:sp>
        <p:nvSpPr>
          <p:cNvPr id="5" name="TextBox 4"/>
          <p:cNvSpPr txBox="1"/>
          <p:nvPr/>
        </p:nvSpPr>
        <p:spPr>
          <a:xfrm>
            <a:off x="411480" y="274320"/>
            <a:ext cx="4389120" cy="201168"/>
          </a:xfrm>
          <a:prstGeom prst="rect">
            <a:avLst/>
          </a:prstGeom>
          <a:noFill/>
        </p:spPr>
        <p:txBody>
          <a:bodyPr wrap="square" anchor="t">
            <a:spAutoFit/>
          </a:bodyPr>
          <a:lstStyle/>
          <a:p>
            <a:pPr algn="l"/>
            <a:r>
              <a:rPr sz="980" b="1">
                <a:solidFill>
                  <a:srgbClr val="F28C28"/>
                </a:solidFill>
                <a:latin typeface="Aptos"/>
              </a:rPr>
              <a:t>IMPLEMENTATION EVIDENCE</a:t>
            </a:r>
          </a:p>
        </p:txBody>
      </p:sp>
      <p:sp>
        <p:nvSpPr>
          <p:cNvPr id="6" name="TextBox 5"/>
          <p:cNvSpPr txBox="1"/>
          <p:nvPr/>
        </p:nvSpPr>
        <p:spPr>
          <a:xfrm>
            <a:off x="411480" y="530352"/>
            <a:ext cx="11155680" cy="461665"/>
          </a:xfrm>
          <a:prstGeom prst="rect">
            <a:avLst/>
          </a:prstGeom>
          <a:noFill/>
        </p:spPr>
        <p:txBody>
          <a:bodyPr wrap="square" anchor="t">
            <a:spAutoFit/>
          </a:bodyPr>
          <a:lstStyle/>
          <a:p>
            <a:r>
              <a:rPr lang="en-US" sz="2400" b="1">
                <a:solidFill>
                  <a:srgbClr val="16324F"/>
                </a:solidFill>
                <a:latin typeface="Aptos"/>
              </a:rPr>
              <a:t>Controlled</a:t>
            </a:r>
            <a:r>
              <a:rPr sz="2400" b="1">
                <a:solidFill>
                  <a:srgbClr val="16324F"/>
                </a:solidFill>
                <a:latin typeface="Aptos"/>
              </a:rPr>
              <a:t> </a:t>
            </a:r>
            <a:r>
              <a:rPr sz="2400" b="1" dirty="0">
                <a:solidFill>
                  <a:srgbClr val="16324F"/>
                </a:solidFill>
                <a:latin typeface="Aptos"/>
              </a:rPr>
              <a:t>bounded run: data moved through each stage</a:t>
            </a:r>
          </a:p>
        </p:txBody>
      </p:sp>
      <p:sp>
        <p:nvSpPr>
          <p:cNvPr id="7" name="TextBox 6"/>
          <p:cNvSpPr txBox="1"/>
          <p:nvPr/>
        </p:nvSpPr>
        <p:spPr>
          <a:xfrm>
            <a:off x="658368" y="1143000"/>
            <a:ext cx="1645920" cy="411480"/>
          </a:xfrm>
          <a:prstGeom prst="rect">
            <a:avLst/>
          </a:prstGeom>
          <a:noFill/>
        </p:spPr>
        <p:txBody>
          <a:bodyPr wrap="square" anchor="t">
            <a:spAutoFit/>
          </a:bodyPr>
          <a:lstStyle/>
          <a:p>
            <a:pPr algn="l"/>
            <a:r>
              <a:rPr sz="1150" b="1">
                <a:solidFill>
                  <a:srgbClr val="16324F"/>
                </a:solidFill>
                <a:latin typeface="Aptos"/>
              </a:rPr>
              <a:t>Source</a:t>
            </a:r>
          </a:p>
        </p:txBody>
      </p:sp>
      <p:sp>
        <p:nvSpPr>
          <p:cNvPr id="8" name="TextBox 7"/>
          <p:cNvSpPr txBox="1"/>
          <p:nvPr/>
        </p:nvSpPr>
        <p:spPr>
          <a:xfrm>
            <a:off x="2606040" y="1143000"/>
            <a:ext cx="1005840" cy="411480"/>
          </a:xfrm>
          <a:prstGeom prst="rect">
            <a:avLst/>
          </a:prstGeom>
          <a:noFill/>
        </p:spPr>
        <p:txBody>
          <a:bodyPr wrap="square" anchor="t">
            <a:spAutoFit/>
          </a:bodyPr>
          <a:lstStyle/>
          <a:p>
            <a:pPr algn="ctr"/>
            <a:r>
              <a:rPr sz="1150" b="1">
                <a:solidFill>
                  <a:srgbClr val="16324F"/>
                </a:solidFill>
                <a:latin typeface="Aptos"/>
              </a:rPr>
              <a:t>Bronze</a:t>
            </a:r>
          </a:p>
        </p:txBody>
      </p:sp>
      <p:sp>
        <p:nvSpPr>
          <p:cNvPr id="9" name="TextBox 8"/>
          <p:cNvSpPr txBox="1"/>
          <p:nvPr/>
        </p:nvSpPr>
        <p:spPr>
          <a:xfrm>
            <a:off x="3977639" y="1143000"/>
            <a:ext cx="1005840" cy="411480"/>
          </a:xfrm>
          <a:prstGeom prst="rect">
            <a:avLst/>
          </a:prstGeom>
          <a:noFill/>
        </p:spPr>
        <p:txBody>
          <a:bodyPr wrap="square" anchor="t">
            <a:spAutoFit/>
          </a:bodyPr>
          <a:lstStyle/>
          <a:p>
            <a:pPr algn="ctr"/>
            <a:r>
              <a:rPr sz="1150" b="1">
                <a:solidFill>
                  <a:srgbClr val="16324F"/>
                </a:solidFill>
                <a:latin typeface="Aptos"/>
              </a:rPr>
              <a:t>Silver</a:t>
            </a:r>
          </a:p>
        </p:txBody>
      </p:sp>
      <p:sp>
        <p:nvSpPr>
          <p:cNvPr id="10" name="TextBox 9"/>
          <p:cNvSpPr txBox="1"/>
          <p:nvPr/>
        </p:nvSpPr>
        <p:spPr>
          <a:xfrm>
            <a:off x="5349240" y="1143000"/>
            <a:ext cx="1325880" cy="411480"/>
          </a:xfrm>
          <a:prstGeom prst="rect">
            <a:avLst/>
          </a:prstGeom>
          <a:noFill/>
        </p:spPr>
        <p:txBody>
          <a:bodyPr wrap="square" anchor="t">
            <a:spAutoFit/>
          </a:bodyPr>
          <a:lstStyle/>
          <a:p>
            <a:pPr algn="ctr"/>
            <a:r>
              <a:rPr sz="1150" b="1">
                <a:solidFill>
                  <a:srgbClr val="16324F"/>
                </a:solidFill>
                <a:latin typeface="Aptos"/>
              </a:rPr>
              <a:t>Compared
organisations</a:t>
            </a:r>
          </a:p>
        </p:txBody>
      </p:sp>
      <p:sp>
        <p:nvSpPr>
          <p:cNvPr id="11" name="TextBox 10"/>
          <p:cNvSpPr txBox="1"/>
          <p:nvPr/>
        </p:nvSpPr>
        <p:spPr>
          <a:xfrm>
            <a:off x="6903720" y="1143000"/>
            <a:ext cx="1417320" cy="411480"/>
          </a:xfrm>
          <a:prstGeom prst="rect">
            <a:avLst/>
          </a:prstGeom>
          <a:noFill/>
        </p:spPr>
        <p:txBody>
          <a:bodyPr wrap="square" anchor="t">
            <a:spAutoFit/>
          </a:bodyPr>
          <a:lstStyle/>
          <a:p>
            <a:pPr algn="ctr"/>
            <a:r>
              <a:rPr sz="1150" b="1">
                <a:solidFill>
                  <a:srgbClr val="16324F"/>
                </a:solidFill>
                <a:latin typeface="Aptos"/>
              </a:rPr>
              <a:t>Accepted unique
organisations</a:t>
            </a:r>
          </a:p>
        </p:txBody>
      </p:sp>
      <p:sp>
        <p:nvSpPr>
          <p:cNvPr id="12" name="TextBox 11"/>
          <p:cNvSpPr txBox="1"/>
          <p:nvPr/>
        </p:nvSpPr>
        <p:spPr>
          <a:xfrm>
            <a:off x="8641080" y="1143000"/>
            <a:ext cx="1417320" cy="411480"/>
          </a:xfrm>
          <a:prstGeom prst="rect">
            <a:avLst/>
          </a:prstGeom>
          <a:noFill/>
        </p:spPr>
        <p:txBody>
          <a:bodyPr wrap="square" anchor="t">
            <a:spAutoFit/>
          </a:bodyPr>
          <a:lstStyle/>
          <a:p>
            <a:pPr algn="ctr"/>
            <a:r>
              <a:rPr sz="1150" b="1">
                <a:solidFill>
                  <a:srgbClr val="16324F"/>
                </a:solidFill>
                <a:latin typeface="Aptos"/>
              </a:rPr>
              <a:t>Dashboard
evidence rows</a:t>
            </a:r>
          </a:p>
        </p:txBody>
      </p:sp>
      <p:sp>
        <p:nvSpPr>
          <p:cNvPr id="13" name="Rounded Rectangle 12"/>
          <p:cNvSpPr/>
          <p:nvPr/>
        </p:nvSpPr>
        <p:spPr>
          <a:xfrm>
            <a:off x="566928" y="1682496"/>
            <a:ext cx="10789920" cy="932688"/>
          </a:xfrm>
          <a:prstGeom prst="roundRect">
            <a:avLst/>
          </a:prstGeom>
          <a:solidFill>
            <a:srgbClr val="FFF8EF"/>
          </a:solidFill>
          <a:ln>
            <a:solidFill>
              <a:srgbClr val="F3D6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9808" y="1920240"/>
            <a:ext cx="1691640" cy="365760"/>
          </a:xfrm>
          <a:prstGeom prst="rect">
            <a:avLst/>
          </a:prstGeom>
          <a:noFill/>
        </p:spPr>
        <p:txBody>
          <a:bodyPr wrap="square" anchor="t">
            <a:spAutoFit/>
          </a:bodyPr>
          <a:lstStyle/>
          <a:p>
            <a:pPr algn="l"/>
            <a:r>
              <a:rPr sz="1330" b="1">
                <a:solidFill>
                  <a:srgbClr val="F28C28"/>
                </a:solidFill>
                <a:latin typeface="Aptos"/>
              </a:rPr>
              <a:t>Contracts Finder</a:t>
            </a:r>
          </a:p>
        </p:txBody>
      </p:sp>
      <p:sp>
        <p:nvSpPr>
          <p:cNvPr id="15" name="TextBox 14"/>
          <p:cNvSpPr txBox="1"/>
          <p:nvPr/>
        </p:nvSpPr>
        <p:spPr>
          <a:xfrm>
            <a:off x="2651760" y="1901952"/>
            <a:ext cx="960120" cy="415498"/>
          </a:xfrm>
          <a:prstGeom prst="rect">
            <a:avLst/>
          </a:prstGeom>
          <a:noFill/>
        </p:spPr>
        <p:txBody>
          <a:bodyPr wrap="square" anchor="t">
            <a:spAutoFit/>
          </a:bodyPr>
          <a:lstStyle/>
          <a:p>
            <a:pPr algn="ctr"/>
            <a:r>
              <a:rPr lang="en-US" sz="2100" b="1" dirty="0">
                <a:solidFill>
                  <a:srgbClr val="16324F"/>
                </a:solidFill>
                <a:latin typeface="Aptos"/>
              </a:rPr>
              <a:t>277</a:t>
            </a:r>
            <a:endParaRPr sz="2100" b="1" dirty="0">
              <a:solidFill>
                <a:srgbClr val="16324F"/>
              </a:solidFill>
              <a:latin typeface="Aptos"/>
            </a:endParaRPr>
          </a:p>
        </p:txBody>
      </p:sp>
      <p:sp>
        <p:nvSpPr>
          <p:cNvPr id="16" name="TextBox 15"/>
          <p:cNvSpPr txBox="1"/>
          <p:nvPr/>
        </p:nvSpPr>
        <p:spPr>
          <a:xfrm>
            <a:off x="3584448" y="1975104"/>
            <a:ext cx="320040" cy="182880"/>
          </a:xfrm>
          <a:prstGeom prst="rect">
            <a:avLst/>
          </a:prstGeom>
          <a:noFill/>
        </p:spPr>
        <p:txBody>
          <a:bodyPr wrap="square" anchor="t">
            <a:spAutoFit/>
          </a:bodyPr>
          <a:lstStyle/>
          <a:p>
            <a:pPr algn="ctr"/>
            <a:r>
              <a:rPr sz="1800" b="1">
                <a:solidFill>
                  <a:srgbClr val="657786"/>
                </a:solidFill>
                <a:latin typeface="Aptos"/>
              </a:rPr>
              <a:t>→</a:t>
            </a:r>
          </a:p>
        </p:txBody>
      </p:sp>
      <p:sp>
        <p:nvSpPr>
          <p:cNvPr id="17" name="TextBox 16"/>
          <p:cNvSpPr txBox="1"/>
          <p:nvPr/>
        </p:nvSpPr>
        <p:spPr>
          <a:xfrm>
            <a:off x="4023360" y="1901952"/>
            <a:ext cx="960120" cy="415498"/>
          </a:xfrm>
          <a:prstGeom prst="rect">
            <a:avLst/>
          </a:prstGeom>
          <a:noFill/>
        </p:spPr>
        <p:txBody>
          <a:bodyPr wrap="square" anchor="t">
            <a:spAutoFit/>
          </a:bodyPr>
          <a:lstStyle/>
          <a:p>
            <a:pPr algn="ctr"/>
            <a:r>
              <a:rPr lang="en-US" sz="2100" b="1" dirty="0">
                <a:solidFill>
                  <a:srgbClr val="16324F"/>
                </a:solidFill>
                <a:latin typeface="Aptos"/>
              </a:rPr>
              <a:t>277</a:t>
            </a:r>
            <a:endParaRPr sz="2100" b="1" dirty="0">
              <a:solidFill>
                <a:srgbClr val="16324F"/>
              </a:solidFill>
              <a:latin typeface="Aptos"/>
            </a:endParaRPr>
          </a:p>
        </p:txBody>
      </p:sp>
      <p:sp>
        <p:nvSpPr>
          <p:cNvPr id="18" name="TextBox 17"/>
          <p:cNvSpPr txBox="1"/>
          <p:nvPr/>
        </p:nvSpPr>
        <p:spPr>
          <a:xfrm>
            <a:off x="4956048" y="1975104"/>
            <a:ext cx="320040" cy="182880"/>
          </a:xfrm>
          <a:prstGeom prst="rect">
            <a:avLst/>
          </a:prstGeom>
          <a:noFill/>
        </p:spPr>
        <p:txBody>
          <a:bodyPr wrap="square" anchor="t">
            <a:spAutoFit/>
          </a:bodyPr>
          <a:lstStyle/>
          <a:p>
            <a:pPr algn="ctr"/>
            <a:r>
              <a:rPr sz="1800" b="1">
                <a:solidFill>
                  <a:srgbClr val="657786"/>
                </a:solidFill>
                <a:latin typeface="Aptos"/>
              </a:rPr>
              <a:t>→</a:t>
            </a:r>
          </a:p>
        </p:txBody>
      </p:sp>
      <p:sp>
        <p:nvSpPr>
          <p:cNvPr id="19" name="TextBox 18"/>
          <p:cNvSpPr txBox="1"/>
          <p:nvPr/>
        </p:nvSpPr>
        <p:spPr>
          <a:xfrm>
            <a:off x="5440680" y="1901952"/>
            <a:ext cx="1078992" cy="415498"/>
          </a:xfrm>
          <a:prstGeom prst="rect">
            <a:avLst/>
          </a:prstGeom>
          <a:noFill/>
        </p:spPr>
        <p:txBody>
          <a:bodyPr wrap="square" anchor="t">
            <a:spAutoFit/>
          </a:bodyPr>
          <a:lstStyle/>
          <a:p>
            <a:pPr algn="ctr"/>
            <a:r>
              <a:rPr lang="en-US" sz="2100" b="1" dirty="0">
                <a:solidFill>
                  <a:srgbClr val="16324F"/>
                </a:solidFill>
                <a:latin typeface="Aptos"/>
              </a:rPr>
              <a:t>222</a:t>
            </a:r>
            <a:endParaRPr sz="2100" b="1" dirty="0">
              <a:solidFill>
                <a:srgbClr val="16324F"/>
              </a:solidFill>
              <a:latin typeface="Aptos"/>
            </a:endParaRPr>
          </a:p>
        </p:txBody>
      </p:sp>
      <p:sp>
        <p:nvSpPr>
          <p:cNvPr id="20" name="TextBox 19"/>
          <p:cNvSpPr txBox="1"/>
          <p:nvPr/>
        </p:nvSpPr>
        <p:spPr>
          <a:xfrm>
            <a:off x="6373368" y="1975104"/>
            <a:ext cx="320040" cy="182880"/>
          </a:xfrm>
          <a:prstGeom prst="rect">
            <a:avLst/>
          </a:prstGeom>
          <a:noFill/>
        </p:spPr>
        <p:txBody>
          <a:bodyPr wrap="square" anchor="t">
            <a:spAutoFit/>
          </a:bodyPr>
          <a:lstStyle/>
          <a:p>
            <a:pPr algn="ctr"/>
            <a:r>
              <a:rPr sz="1800" b="1">
                <a:solidFill>
                  <a:srgbClr val="657786"/>
                </a:solidFill>
                <a:latin typeface="Aptos"/>
              </a:rPr>
              <a:t>→</a:t>
            </a:r>
          </a:p>
        </p:txBody>
      </p:sp>
      <p:sp>
        <p:nvSpPr>
          <p:cNvPr id="21" name="TextBox 20"/>
          <p:cNvSpPr txBox="1"/>
          <p:nvPr/>
        </p:nvSpPr>
        <p:spPr>
          <a:xfrm>
            <a:off x="6967728" y="1901952"/>
            <a:ext cx="1078992" cy="415498"/>
          </a:xfrm>
          <a:prstGeom prst="rect">
            <a:avLst/>
          </a:prstGeom>
          <a:noFill/>
        </p:spPr>
        <p:txBody>
          <a:bodyPr wrap="square" anchor="t">
            <a:spAutoFit/>
          </a:bodyPr>
          <a:lstStyle/>
          <a:p>
            <a:pPr algn="ctr"/>
            <a:r>
              <a:rPr lang="en-US" sz="2100" b="1" dirty="0">
                <a:solidFill>
                  <a:srgbClr val="16324F"/>
                </a:solidFill>
                <a:latin typeface="Aptos"/>
              </a:rPr>
              <a:t>53</a:t>
            </a:r>
            <a:endParaRPr sz="2100" b="1" dirty="0">
              <a:solidFill>
                <a:srgbClr val="16324F"/>
              </a:solidFill>
              <a:latin typeface="Aptos"/>
            </a:endParaRPr>
          </a:p>
        </p:txBody>
      </p:sp>
      <p:sp>
        <p:nvSpPr>
          <p:cNvPr id="22" name="TextBox 21"/>
          <p:cNvSpPr txBox="1"/>
          <p:nvPr/>
        </p:nvSpPr>
        <p:spPr>
          <a:xfrm>
            <a:off x="7900416" y="1975104"/>
            <a:ext cx="320040" cy="182880"/>
          </a:xfrm>
          <a:prstGeom prst="rect">
            <a:avLst/>
          </a:prstGeom>
          <a:noFill/>
        </p:spPr>
        <p:txBody>
          <a:bodyPr wrap="square" anchor="t">
            <a:spAutoFit/>
          </a:bodyPr>
          <a:lstStyle/>
          <a:p>
            <a:pPr algn="ctr"/>
            <a:r>
              <a:rPr sz="1800" b="1">
                <a:solidFill>
                  <a:srgbClr val="657786"/>
                </a:solidFill>
                <a:latin typeface="Aptos"/>
              </a:rPr>
              <a:t>→</a:t>
            </a:r>
          </a:p>
        </p:txBody>
      </p:sp>
      <p:sp>
        <p:nvSpPr>
          <p:cNvPr id="23" name="TextBox 22"/>
          <p:cNvSpPr txBox="1"/>
          <p:nvPr/>
        </p:nvSpPr>
        <p:spPr>
          <a:xfrm>
            <a:off x="8732520" y="1901952"/>
            <a:ext cx="1078992" cy="415498"/>
          </a:xfrm>
          <a:prstGeom prst="rect">
            <a:avLst/>
          </a:prstGeom>
          <a:noFill/>
        </p:spPr>
        <p:txBody>
          <a:bodyPr wrap="square" anchor="t">
            <a:spAutoFit/>
          </a:bodyPr>
          <a:lstStyle/>
          <a:p>
            <a:pPr algn="ctr"/>
            <a:r>
              <a:rPr lang="en-US" sz="2100" b="1" dirty="0">
                <a:solidFill>
                  <a:srgbClr val="0F6B78"/>
                </a:solidFill>
                <a:latin typeface="Aptos"/>
              </a:rPr>
              <a:t>80</a:t>
            </a:r>
            <a:endParaRPr sz="2100" b="1" dirty="0">
              <a:solidFill>
                <a:srgbClr val="0F6B78"/>
              </a:solidFill>
              <a:latin typeface="Aptos"/>
            </a:endParaRPr>
          </a:p>
        </p:txBody>
      </p:sp>
      <p:sp>
        <p:nvSpPr>
          <p:cNvPr id="24" name="Rounded Rectangle 23"/>
          <p:cNvSpPr/>
          <p:nvPr/>
        </p:nvSpPr>
        <p:spPr>
          <a:xfrm>
            <a:off x="566928" y="3099815"/>
            <a:ext cx="10789920" cy="932688"/>
          </a:xfrm>
          <a:prstGeom prst="roundRect">
            <a:avLst/>
          </a:prstGeom>
          <a:solidFill>
            <a:srgbClr val="F0FAFC"/>
          </a:solidFill>
          <a:ln>
            <a:solidFill>
              <a:srgbClr val="C7E8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9808" y="3337560"/>
            <a:ext cx="1691640" cy="365760"/>
          </a:xfrm>
          <a:prstGeom prst="rect">
            <a:avLst/>
          </a:prstGeom>
          <a:noFill/>
        </p:spPr>
        <p:txBody>
          <a:bodyPr wrap="square" anchor="t">
            <a:spAutoFit/>
          </a:bodyPr>
          <a:lstStyle/>
          <a:p>
            <a:pPr algn="l"/>
            <a:r>
              <a:rPr sz="1330" b="1">
                <a:solidFill>
                  <a:srgbClr val="2FA8B8"/>
                </a:solidFill>
                <a:latin typeface="Aptos"/>
              </a:rPr>
              <a:t>Gateway to Research</a:t>
            </a:r>
          </a:p>
        </p:txBody>
      </p:sp>
      <p:sp>
        <p:nvSpPr>
          <p:cNvPr id="26" name="TextBox 25"/>
          <p:cNvSpPr txBox="1"/>
          <p:nvPr/>
        </p:nvSpPr>
        <p:spPr>
          <a:xfrm>
            <a:off x="2651760" y="3319272"/>
            <a:ext cx="960120" cy="415498"/>
          </a:xfrm>
          <a:prstGeom prst="rect">
            <a:avLst/>
          </a:prstGeom>
          <a:noFill/>
        </p:spPr>
        <p:txBody>
          <a:bodyPr wrap="square" anchor="t">
            <a:spAutoFit/>
          </a:bodyPr>
          <a:lstStyle/>
          <a:p>
            <a:pPr algn="ctr"/>
            <a:r>
              <a:rPr lang="en-US" sz="2100" b="1" dirty="0">
                <a:solidFill>
                  <a:srgbClr val="16324F"/>
                </a:solidFill>
                <a:latin typeface="Aptos"/>
              </a:rPr>
              <a:t>250</a:t>
            </a:r>
            <a:endParaRPr sz="2100" b="1" dirty="0">
              <a:solidFill>
                <a:srgbClr val="16324F"/>
              </a:solidFill>
              <a:latin typeface="Aptos"/>
            </a:endParaRPr>
          </a:p>
        </p:txBody>
      </p:sp>
      <p:sp>
        <p:nvSpPr>
          <p:cNvPr id="27" name="TextBox 26"/>
          <p:cNvSpPr txBox="1"/>
          <p:nvPr/>
        </p:nvSpPr>
        <p:spPr>
          <a:xfrm>
            <a:off x="3584448" y="3392424"/>
            <a:ext cx="320040" cy="182880"/>
          </a:xfrm>
          <a:prstGeom prst="rect">
            <a:avLst/>
          </a:prstGeom>
          <a:noFill/>
        </p:spPr>
        <p:txBody>
          <a:bodyPr wrap="square" anchor="t">
            <a:spAutoFit/>
          </a:bodyPr>
          <a:lstStyle/>
          <a:p>
            <a:pPr algn="ctr"/>
            <a:r>
              <a:rPr sz="1800" b="1">
                <a:solidFill>
                  <a:srgbClr val="657786"/>
                </a:solidFill>
                <a:latin typeface="Aptos"/>
              </a:rPr>
              <a:t>→</a:t>
            </a:r>
          </a:p>
        </p:txBody>
      </p:sp>
      <p:sp>
        <p:nvSpPr>
          <p:cNvPr id="28" name="TextBox 27"/>
          <p:cNvSpPr txBox="1"/>
          <p:nvPr/>
        </p:nvSpPr>
        <p:spPr>
          <a:xfrm>
            <a:off x="4023360" y="3319272"/>
            <a:ext cx="960120" cy="415498"/>
          </a:xfrm>
          <a:prstGeom prst="rect">
            <a:avLst/>
          </a:prstGeom>
          <a:noFill/>
        </p:spPr>
        <p:txBody>
          <a:bodyPr wrap="square" anchor="t">
            <a:spAutoFit/>
          </a:bodyPr>
          <a:lstStyle/>
          <a:p>
            <a:pPr algn="ctr"/>
            <a:r>
              <a:rPr lang="en-US" sz="2100" b="1" dirty="0">
                <a:solidFill>
                  <a:srgbClr val="16324F"/>
                </a:solidFill>
                <a:latin typeface="Aptos"/>
              </a:rPr>
              <a:t>250</a:t>
            </a:r>
            <a:endParaRPr sz="2100" b="1" dirty="0">
              <a:solidFill>
                <a:srgbClr val="16324F"/>
              </a:solidFill>
              <a:latin typeface="Aptos"/>
            </a:endParaRPr>
          </a:p>
        </p:txBody>
      </p:sp>
      <p:sp>
        <p:nvSpPr>
          <p:cNvPr id="29" name="TextBox 28"/>
          <p:cNvSpPr txBox="1"/>
          <p:nvPr/>
        </p:nvSpPr>
        <p:spPr>
          <a:xfrm>
            <a:off x="4956048" y="3392424"/>
            <a:ext cx="320040" cy="182880"/>
          </a:xfrm>
          <a:prstGeom prst="rect">
            <a:avLst/>
          </a:prstGeom>
          <a:noFill/>
        </p:spPr>
        <p:txBody>
          <a:bodyPr wrap="square" anchor="t">
            <a:spAutoFit/>
          </a:bodyPr>
          <a:lstStyle/>
          <a:p>
            <a:pPr algn="ctr"/>
            <a:r>
              <a:rPr sz="1800" b="1">
                <a:solidFill>
                  <a:srgbClr val="657786"/>
                </a:solidFill>
                <a:latin typeface="Aptos"/>
              </a:rPr>
              <a:t>→</a:t>
            </a:r>
          </a:p>
        </p:txBody>
      </p:sp>
      <p:sp>
        <p:nvSpPr>
          <p:cNvPr id="30" name="TextBox 29"/>
          <p:cNvSpPr txBox="1"/>
          <p:nvPr/>
        </p:nvSpPr>
        <p:spPr>
          <a:xfrm>
            <a:off x="5440680" y="3319272"/>
            <a:ext cx="1078992" cy="415498"/>
          </a:xfrm>
          <a:prstGeom prst="rect">
            <a:avLst/>
          </a:prstGeom>
          <a:noFill/>
        </p:spPr>
        <p:txBody>
          <a:bodyPr wrap="square" anchor="t">
            <a:spAutoFit/>
          </a:bodyPr>
          <a:lstStyle/>
          <a:p>
            <a:pPr algn="ctr"/>
            <a:r>
              <a:rPr lang="en-US" sz="2100" b="1" dirty="0">
                <a:solidFill>
                  <a:srgbClr val="16324F"/>
                </a:solidFill>
                <a:latin typeface="Aptos"/>
              </a:rPr>
              <a:t>141</a:t>
            </a:r>
            <a:endParaRPr sz="2100" b="1" dirty="0">
              <a:solidFill>
                <a:srgbClr val="16324F"/>
              </a:solidFill>
              <a:latin typeface="Aptos"/>
            </a:endParaRPr>
          </a:p>
        </p:txBody>
      </p:sp>
      <p:sp>
        <p:nvSpPr>
          <p:cNvPr id="31" name="TextBox 30"/>
          <p:cNvSpPr txBox="1"/>
          <p:nvPr/>
        </p:nvSpPr>
        <p:spPr>
          <a:xfrm>
            <a:off x="6373368" y="3392424"/>
            <a:ext cx="320040" cy="182880"/>
          </a:xfrm>
          <a:prstGeom prst="rect">
            <a:avLst/>
          </a:prstGeom>
          <a:noFill/>
        </p:spPr>
        <p:txBody>
          <a:bodyPr wrap="square" anchor="t">
            <a:spAutoFit/>
          </a:bodyPr>
          <a:lstStyle/>
          <a:p>
            <a:pPr algn="ctr"/>
            <a:r>
              <a:rPr sz="1800" b="1">
                <a:solidFill>
                  <a:srgbClr val="657786"/>
                </a:solidFill>
                <a:latin typeface="Aptos"/>
              </a:rPr>
              <a:t>→</a:t>
            </a:r>
          </a:p>
        </p:txBody>
      </p:sp>
      <p:sp>
        <p:nvSpPr>
          <p:cNvPr id="32" name="TextBox 31"/>
          <p:cNvSpPr txBox="1"/>
          <p:nvPr/>
        </p:nvSpPr>
        <p:spPr>
          <a:xfrm>
            <a:off x="6967728" y="3319272"/>
            <a:ext cx="1078992" cy="415498"/>
          </a:xfrm>
          <a:prstGeom prst="rect">
            <a:avLst/>
          </a:prstGeom>
          <a:noFill/>
        </p:spPr>
        <p:txBody>
          <a:bodyPr wrap="square" anchor="t">
            <a:spAutoFit/>
          </a:bodyPr>
          <a:lstStyle/>
          <a:p>
            <a:pPr algn="ctr"/>
            <a:r>
              <a:rPr lang="en-US" sz="2100" b="1" dirty="0">
                <a:solidFill>
                  <a:srgbClr val="16324F"/>
                </a:solidFill>
                <a:latin typeface="Aptos"/>
              </a:rPr>
              <a:t>81</a:t>
            </a:r>
            <a:endParaRPr sz="2100" b="1" dirty="0">
              <a:solidFill>
                <a:srgbClr val="16324F"/>
              </a:solidFill>
              <a:latin typeface="Aptos"/>
            </a:endParaRPr>
          </a:p>
        </p:txBody>
      </p:sp>
      <p:sp>
        <p:nvSpPr>
          <p:cNvPr id="33" name="TextBox 32"/>
          <p:cNvSpPr txBox="1"/>
          <p:nvPr/>
        </p:nvSpPr>
        <p:spPr>
          <a:xfrm>
            <a:off x="7900416" y="3392424"/>
            <a:ext cx="320040" cy="182880"/>
          </a:xfrm>
          <a:prstGeom prst="rect">
            <a:avLst/>
          </a:prstGeom>
          <a:noFill/>
        </p:spPr>
        <p:txBody>
          <a:bodyPr wrap="square" anchor="t">
            <a:spAutoFit/>
          </a:bodyPr>
          <a:lstStyle/>
          <a:p>
            <a:pPr algn="ctr"/>
            <a:r>
              <a:rPr sz="1800" b="1">
                <a:solidFill>
                  <a:srgbClr val="657786"/>
                </a:solidFill>
                <a:latin typeface="Aptos"/>
              </a:rPr>
              <a:t>→</a:t>
            </a:r>
          </a:p>
        </p:txBody>
      </p:sp>
      <p:sp>
        <p:nvSpPr>
          <p:cNvPr id="34" name="TextBox 33"/>
          <p:cNvSpPr txBox="1"/>
          <p:nvPr/>
        </p:nvSpPr>
        <p:spPr>
          <a:xfrm>
            <a:off x="8732520" y="3319272"/>
            <a:ext cx="1078992" cy="415498"/>
          </a:xfrm>
          <a:prstGeom prst="rect">
            <a:avLst/>
          </a:prstGeom>
          <a:noFill/>
        </p:spPr>
        <p:txBody>
          <a:bodyPr wrap="square" anchor="t">
            <a:spAutoFit/>
          </a:bodyPr>
          <a:lstStyle/>
          <a:p>
            <a:pPr algn="ctr"/>
            <a:r>
              <a:rPr lang="en-US" sz="2100" b="1" dirty="0">
                <a:solidFill>
                  <a:srgbClr val="0F6B78"/>
                </a:solidFill>
                <a:latin typeface="Aptos"/>
              </a:rPr>
              <a:t>175</a:t>
            </a:r>
            <a:endParaRPr sz="2100" b="1" dirty="0">
              <a:solidFill>
                <a:srgbClr val="0F6B78"/>
              </a:solidFill>
              <a:latin typeface="Aptos"/>
            </a:endParaRPr>
          </a:p>
        </p:txBody>
      </p:sp>
      <p:sp>
        <p:nvSpPr>
          <p:cNvPr id="35" name="Rounded Rectangle 34"/>
          <p:cNvSpPr/>
          <p:nvPr/>
        </p:nvSpPr>
        <p:spPr>
          <a:xfrm>
            <a:off x="841248" y="4617720"/>
            <a:ext cx="10149840" cy="841248"/>
          </a:xfrm>
          <a:prstGeom prst="roundRect">
            <a:avLst/>
          </a:prstGeom>
          <a:solidFill>
            <a:srgbClr val="FFFFFF"/>
          </a:solidFill>
          <a:ln w="15240">
            <a:solidFill>
              <a:srgbClr val="C94C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50976" y="4709159"/>
            <a:ext cx="9930384" cy="228600"/>
          </a:xfrm>
          <a:prstGeom prst="rect">
            <a:avLst/>
          </a:prstGeom>
          <a:noFill/>
        </p:spPr>
        <p:txBody>
          <a:bodyPr wrap="square" anchor="t">
            <a:spAutoFit/>
          </a:bodyPr>
          <a:lstStyle/>
          <a:p>
            <a:pPr algn="l"/>
            <a:r>
              <a:rPr sz="1320" b="1">
                <a:solidFill>
                  <a:srgbClr val="C94C4C"/>
                </a:solidFill>
                <a:latin typeface="Aptos"/>
              </a:rPr>
              <a:t>Interpretation</a:t>
            </a:r>
          </a:p>
        </p:txBody>
      </p:sp>
      <p:sp>
        <p:nvSpPr>
          <p:cNvPr id="37" name="TextBox 36"/>
          <p:cNvSpPr txBox="1"/>
          <p:nvPr/>
        </p:nvSpPr>
        <p:spPr>
          <a:xfrm>
            <a:off x="950976" y="4983480"/>
            <a:ext cx="9930384" cy="261610"/>
          </a:xfrm>
          <a:prstGeom prst="rect">
            <a:avLst/>
          </a:prstGeom>
          <a:noFill/>
        </p:spPr>
        <p:txBody>
          <a:bodyPr wrap="square" anchor="t">
            <a:spAutoFit/>
          </a:bodyPr>
          <a:lstStyle/>
          <a:p>
            <a:r>
              <a:rPr lang="en-US" sz="1100" dirty="0"/>
              <a:t>255 dashboard evidence rows is higher than 134 accepted </a:t>
            </a:r>
            <a:r>
              <a:rPr lang="en-US" sz="1100" dirty="0" err="1"/>
              <a:t>organisations</a:t>
            </a:r>
            <a:r>
              <a:rPr lang="en-US" sz="1100" dirty="0"/>
              <a:t> because one accepted </a:t>
            </a:r>
            <a:r>
              <a:rPr lang="en-US" sz="1100" dirty="0" err="1"/>
              <a:t>organisation</a:t>
            </a:r>
            <a:r>
              <a:rPr lang="en-US" sz="1100" dirty="0"/>
              <a:t> can be linked to multiple contracts or research projects.</a:t>
            </a:r>
          </a:p>
        </p:txBody>
      </p:sp>
      <p:sp>
        <p:nvSpPr>
          <p:cNvPr id="38" name="TextBox 37"/>
          <p:cNvSpPr txBox="1"/>
          <p:nvPr/>
        </p:nvSpPr>
        <p:spPr>
          <a:xfrm>
            <a:off x="411480" y="6245352"/>
            <a:ext cx="11155680" cy="215444"/>
          </a:xfrm>
          <a:prstGeom prst="rect">
            <a:avLst/>
          </a:prstGeom>
          <a:noFill/>
        </p:spPr>
        <p:txBody>
          <a:bodyPr wrap="square" anchor="t">
            <a:spAutoFit/>
          </a:bodyPr>
          <a:lstStyle/>
          <a:p>
            <a:r>
              <a:rPr lang="en-US" sz="800" dirty="0">
                <a:solidFill>
                  <a:srgbClr val="657786"/>
                </a:solidFill>
                <a:latin typeface="Aptos"/>
              </a:rPr>
              <a:t>Project evidence: validated 10 August 2026 snapshot using a 90-day evidence window. </a:t>
            </a:r>
            <a:r>
              <a:rPr sz="800" dirty="0">
                <a:solidFill>
                  <a:srgbClr val="657786"/>
                </a:solidFill>
                <a:latin typeface="Aptos"/>
              </a:rPr>
              <a:t>Academic </a:t>
            </a:r>
            <a:r>
              <a:rPr sz="800" b="0" dirty="0">
                <a:solidFill>
                  <a:srgbClr val="657786"/>
                </a:solidFill>
                <a:latin typeface="Aptos"/>
              </a:rPr>
              <a:t>context: Cvetkov-Iliev et al. (2022); Sharifi &amp; Ahmadzadeh (2025).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28C28"/>
          </a:solidFill>
          <a:ln>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6473952"/>
            <a:ext cx="3657600" cy="164592"/>
          </a:xfrm>
          <a:prstGeom prst="rect">
            <a:avLst/>
          </a:prstGeom>
          <a:noFill/>
        </p:spPr>
        <p:txBody>
          <a:bodyPr wrap="square" anchor="t">
            <a:spAutoFit/>
          </a:bodyPr>
          <a:lstStyle/>
          <a:p>
            <a:pPr algn="l"/>
            <a:r>
              <a:rPr sz="830" b="0">
                <a:solidFill>
                  <a:srgbClr val="657786"/>
                </a:solidFill>
                <a:latin typeface="Aptos"/>
              </a:rPr>
              <a:t>LD6053 · UG Computing Project</a:t>
            </a:r>
          </a:p>
        </p:txBody>
      </p:sp>
      <p:sp>
        <p:nvSpPr>
          <p:cNvPr id="4" name="TextBox 3"/>
          <p:cNvSpPr txBox="1"/>
          <p:nvPr/>
        </p:nvSpPr>
        <p:spPr>
          <a:xfrm>
            <a:off x="9326880" y="6473952"/>
            <a:ext cx="2377440" cy="164592"/>
          </a:xfrm>
          <a:prstGeom prst="rect">
            <a:avLst/>
          </a:prstGeom>
          <a:noFill/>
        </p:spPr>
        <p:txBody>
          <a:bodyPr wrap="square" anchor="t">
            <a:spAutoFit/>
          </a:bodyPr>
          <a:lstStyle/>
          <a:p>
            <a:pPr algn="r"/>
            <a:r>
              <a:rPr sz="830" b="0">
                <a:solidFill>
                  <a:srgbClr val="657786"/>
                </a:solidFill>
                <a:latin typeface="Aptos"/>
              </a:rPr>
              <a:t>Jorge Tomas Chabrillon</a:t>
            </a:r>
          </a:p>
        </p:txBody>
      </p:sp>
      <p:sp>
        <p:nvSpPr>
          <p:cNvPr id="5" name="TextBox 4"/>
          <p:cNvSpPr txBox="1"/>
          <p:nvPr/>
        </p:nvSpPr>
        <p:spPr>
          <a:xfrm>
            <a:off x="411480" y="274320"/>
            <a:ext cx="4389120" cy="201168"/>
          </a:xfrm>
          <a:prstGeom prst="rect">
            <a:avLst/>
          </a:prstGeom>
          <a:noFill/>
        </p:spPr>
        <p:txBody>
          <a:bodyPr wrap="square" anchor="t">
            <a:spAutoFit/>
          </a:bodyPr>
          <a:lstStyle/>
          <a:p>
            <a:pPr algn="l"/>
            <a:r>
              <a:rPr sz="980" b="1">
                <a:solidFill>
                  <a:srgbClr val="F28C28"/>
                </a:solidFill>
                <a:latin typeface="Aptos"/>
              </a:rPr>
              <a:t>ALGORITHM DESIGN</a:t>
            </a:r>
          </a:p>
        </p:txBody>
      </p:sp>
      <p:sp>
        <p:nvSpPr>
          <p:cNvPr id="6" name="TextBox 5"/>
          <p:cNvSpPr txBox="1"/>
          <p:nvPr/>
        </p:nvSpPr>
        <p:spPr>
          <a:xfrm>
            <a:off x="411480" y="530352"/>
            <a:ext cx="11155680" cy="411480"/>
          </a:xfrm>
          <a:prstGeom prst="rect">
            <a:avLst/>
          </a:prstGeom>
          <a:noFill/>
        </p:spPr>
        <p:txBody>
          <a:bodyPr wrap="square" anchor="t">
            <a:spAutoFit/>
          </a:bodyPr>
          <a:lstStyle/>
          <a:p>
            <a:pPr algn="l"/>
            <a:r>
              <a:rPr sz="2400" b="1" dirty="0">
                <a:solidFill>
                  <a:srgbClr val="16324F"/>
                </a:solidFill>
                <a:latin typeface="Aptos"/>
              </a:rPr>
              <a:t>Hybrid matching and conservative acceptance logic</a:t>
            </a:r>
          </a:p>
        </p:txBody>
      </p:sp>
      <p:sp>
        <p:nvSpPr>
          <p:cNvPr id="66" name="TextBox 65"/>
          <p:cNvSpPr txBox="1"/>
          <p:nvPr/>
        </p:nvSpPr>
        <p:spPr>
          <a:xfrm>
            <a:off x="365760" y="6117336"/>
            <a:ext cx="10652760" cy="420624"/>
          </a:xfrm>
          <a:prstGeom prst="rect">
            <a:avLst/>
          </a:prstGeom>
          <a:noFill/>
        </p:spPr>
        <p:txBody>
          <a:bodyPr wrap="square" lIns="36576" tIns="36576" rIns="36576" bIns="36576" anchor="ctr">
            <a:spAutoFit/>
          </a:bodyPr>
          <a:lstStyle/>
          <a:p>
            <a:r>
              <a:rPr sz="750" dirty="0">
                <a:latin typeface="Aptos"/>
              </a:rPr>
              <a:t>Sharifi &amp; Ahmadzadeh (2025); Cvetkov-Iliev et al. (2022); scikit-learn implementation documentation.</a:t>
            </a:r>
          </a:p>
        </p:txBody>
      </p:sp>
      <p:cxnSp>
        <p:nvCxnSpPr>
          <p:cNvPr id="10" name="Connector 6">
            <a:extLst>
              <a:ext uri="{FF2B5EF4-FFF2-40B4-BE49-F238E27FC236}">
                <a16:creationId xmlns:a16="http://schemas.microsoft.com/office/drawing/2014/main" id="{84D4B2EB-3EDE-25A8-24F1-141BF3F3E7B1}"/>
              </a:ext>
            </a:extLst>
          </p:cNvPr>
          <p:cNvCxnSpPr/>
          <p:nvPr/>
        </p:nvCxnSpPr>
        <p:spPr>
          <a:xfrm>
            <a:off x="3820287" y="1409700"/>
            <a:ext cx="1005840" cy="0"/>
          </a:xfrm>
          <a:prstGeom prst="line">
            <a:avLst/>
          </a:prstGeom>
          <a:ln w="20320">
            <a:solidFill>
              <a:srgbClr val="16324F"/>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7">
            <a:extLst>
              <a:ext uri="{FF2B5EF4-FFF2-40B4-BE49-F238E27FC236}">
                <a16:creationId xmlns:a16="http://schemas.microsoft.com/office/drawing/2014/main" id="{38F8331D-CDDF-919B-10D9-BC8D3521D672}"/>
              </a:ext>
            </a:extLst>
          </p:cNvPr>
          <p:cNvCxnSpPr/>
          <p:nvPr/>
        </p:nvCxnSpPr>
        <p:spPr>
          <a:xfrm>
            <a:off x="5969127" y="1656588"/>
            <a:ext cx="0" cy="237744"/>
          </a:xfrm>
          <a:prstGeom prst="line">
            <a:avLst/>
          </a:prstGeom>
          <a:ln w="20320">
            <a:solidFill>
              <a:srgbClr val="16324F"/>
            </a:solidFill>
          </a:ln>
        </p:spPr>
        <p:style>
          <a:lnRef idx="2">
            <a:schemeClr val="accent1"/>
          </a:lnRef>
          <a:fillRef idx="0">
            <a:schemeClr val="accent1"/>
          </a:fillRef>
          <a:effectRef idx="1">
            <a:schemeClr val="accent1"/>
          </a:effectRef>
          <a:fontRef idx="minor">
            <a:schemeClr val="tx1"/>
          </a:fontRef>
        </p:style>
      </p:cxnSp>
      <p:cxnSp>
        <p:nvCxnSpPr>
          <p:cNvPr id="12" name="Connector 8">
            <a:extLst>
              <a:ext uri="{FF2B5EF4-FFF2-40B4-BE49-F238E27FC236}">
                <a16:creationId xmlns:a16="http://schemas.microsoft.com/office/drawing/2014/main" id="{9EF3BF51-3EA4-F181-ABA3-B64CA1A883E8}"/>
              </a:ext>
            </a:extLst>
          </p:cNvPr>
          <p:cNvCxnSpPr/>
          <p:nvPr/>
        </p:nvCxnSpPr>
        <p:spPr>
          <a:xfrm flipH="1">
            <a:off x="3390519" y="1894332"/>
            <a:ext cx="2578608" cy="0"/>
          </a:xfrm>
          <a:prstGeom prst="line">
            <a:avLst/>
          </a:prstGeom>
          <a:ln w="20320">
            <a:solidFill>
              <a:srgbClr val="16324F"/>
            </a:solidFill>
          </a:ln>
        </p:spPr>
        <p:style>
          <a:lnRef idx="2">
            <a:schemeClr val="accent1"/>
          </a:lnRef>
          <a:fillRef idx="0">
            <a:schemeClr val="accent1"/>
          </a:fillRef>
          <a:effectRef idx="1">
            <a:schemeClr val="accent1"/>
          </a:effectRef>
          <a:fontRef idx="minor">
            <a:schemeClr val="tx1"/>
          </a:fontRef>
        </p:style>
      </p:cxnSp>
      <p:cxnSp>
        <p:nvCxnSpPr>
          <p:cNvPr id="13" name="Connector 9">
            <a:extLst>
              <a:ext uri="{FF2B5EF4-FFF2-40B4-BE49-F238E27FC236}">
                <a16:creationId xmlns:a16="http://schemas.microsoft.com/office/drawing/2014/main" id="{79F16A5A-37B5-B564-4E9B-834EC8F04B5A}"/>
              </a:ext>
            </a:extLst>
          </p:cNvPr>
          <p:cNvCxnSpPr/>
          <p:nvPr/>
        </p:nvCxnSpPr>
        <p:spPr>
          <a:xfrm>
            <a:off x="3390519" y="1894332"/>
            <a:ext cx="0" cy="201168"/>
          </a:xfrm>
          <a:prstGeom prst="line">
            <a:avLst/>
          </a:prstGeom>
          <a:ln w="20320">
            <a:solidFill>
              <a:srgbClr val="16324F"/>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0">
            <a:extLst>
              <a:ext uri="{FF2B5EF4-FFF2-40B4-BE49-F238E27FC236}">
                <a16:creationId xmlns:a16="http://schemas.microsoft.com/office/drawing/2014/main" id="{1F3130E6-F71D-B3C2-AC80-4E10D07B18FD}"/>
              </a:ext>
            </a:extLst>
          </p:cNvPr>
          <p:cNvCxnSpPr/>
          <p:nvPr/>
        </p:nvCxnSpPr>
        <p:spPr>
          <a:xfrm>
            <a:off x="5969127" y="1894332"/>
            <a:ext cx="2578608" cy="0"/>
          </a:xfrm>
          <a:prstGeom prst="line">
            <a:avLst/>
          </a:prstGeom>
          <a:ln w="20320">
            <a:solidFill>
              <a:srgbClr val="16324F"/>
            </a:solidFill>
          </a:ln>
        </p:spPr>
        <p:style>
          <a:lnRef idx="2">
            <a:schemeClr val="accent1"/>
          </a:lnRef>
          <a:fillRef idx="0">
            <a:schemeClr val="accent1"/>
          </a:fillRef>
          <a:effectRef idx="1">
            <a:schemeClr val="accent1"/>
          </a:effectRef>
          <a:fontRef idx="minor">
            <a:schemeClr val="tx1"/>
          </a:fontRef>
        </p:style>
      </p:cxnSp>
      <p:cxnSp>
        <p:nvCxnSpPr>
          <p:cNvPr id="16" name="Connector 11">
            <a:extLst>
              <a:ext uri="{FF2B5EF4-FFF2-40B4-BE49-F238E27FC236}">
                <a16:creationId xmlns:a16="http://schemas.microsoft.com/office/drawing/2014/main" id="{5C417DE2-74FE-DF47-F2D0-230EF349C93B}"/>
              </a:ext>
            </a:extLst>
          </p:cNvPr>
          <p:cNvCxnSpPr/>
          <p:nvPr/>
        </p:nvCxnSpPr>
        <p:spPr>
          <a:xfrm>
            <a:off x="8547735" y="1894332"/>
            <a:ext cx="0" cy="201168"/>
          </a:xfrm>
          <a:prstGeom prst="line">
            <a:avLst/>
          </a:prstGeom>
          <a:ln w="20320">
            <a:solidFill>
              <a:srgbClr val="16324F"/>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2">
            <a:extLst>
              <a:ext uri="{FF2B5EF4-FFF2-40B4-BE49-F238E27FC236}">
                <a16:creationId xmlns:a16="http://schemas.microsoft.com/office/drawing/2014/main" id="{ECDEAA9D-1078-3E82-AA0C-EF7ABFBD5B8C}"/>
              </a:ext>
            </a:extLst>
          </p:cNvPr>
          <p:cNvCxnSpPr/>
          <p:nvPr/>
        </p:nvCxnSpPr>
        <p:spPr>
          <a:xfrm>
            <a:off x="5969127" y="1894332"/>
            <a:ext cx="0" cy="2478024"/>
          </a:xfrm>
          <a:prstGeom prst="line">
            <a:avLst/>
          </a:prstGeom>
          <a:ln w="20320">
            <a:solidFill>
              <a:srgbClr val="16324F"/>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3">
            <a:extLst>
              <a:ext uri="{FF2B5EF4-FFF2-40B4-BE49-F238E27FC236}">
                <a16:creationId xmlns:a16="http://schemas.microsoft.com/office/drawing/2014/main" id="{5ACA5710-02A9-C96A-AD38-481E687F3ABA}"/>
              </a:ext>
            </a:extLst>
          </p:cNvPr>
          <p:cNvCxnSpPr/>
          <p:nvPr/>
        </p:nvCxnSpPr>
        <p:spPr>
          <a:xfrm>
            <a:off x="3390519" y="3823716"/>
            <a:ext cx="0" cy="320040"/>
          </a:xfrm>
          <a:prstGeom prst="line">
            <a:avLst/>
          </a:prstGeom>
          <a:ln w="20320">
            <a:solidFill>
              <a:srgbClr val="16324F"/>
            </a:solidFill>
          </a:ln>
        </p:spPr>
        <p:style>
          <a:lnRef idx="2">
            <a:schemeClr val="accent1"/>
          </a:lnRef>
          <a:fillRef idx="0">
            <a:schemeClr val="accent1"/>
          </a:fillRef>
          <a:effectRef idx="1">
            <a:schemeClr val="accent1"/>
          </a:effectRef>
          <a:fontRef idx="minor">
            <a:schemeClr val="tx1"/>
          </a:fontRef>
        </p:style>
      </p:cxnSp>
      <p:cxnSp>
        <p:nvCxnSpPr>
          <p:cNvPr id="19" name="Connector 14">
            <a:extLst>
              <a:ext uri="{FF2B5EF4-FFF2-40B4-BE49-F238E27FC236}">
                <a16:creationId xmlns:a16="http://schemas.microsoft.com/office/drawing/2014/main" id="{86A28098-1F7E-C3D0-F66F-3C2413DC0B34}"/>
              </a:ext>
            </a:extLst>
          </p:cNvPr>
          <p:cNvCxnSpPr/>
          <p:nvPr/>
        </p:nvCxnSpPr>
        <p:spPr>
          <a:xfrm>
            <a:off x="3390519" y="4143756"/>
            <a:ext cx="5157216" cy="0"/>
          </a:xfrm>
          <a:prstGeom prst="line">
            <a:avLst/>
          </a:prstGeom>
          <a:ln w="20320">
            <a:solidFill>
              <a:srgbClr val="16324F"/>
            </a:solidFill>
          </a:ln>
        </p:spPr>
        <p:style>
          <a:lnRef idx="2">
            <a:schemeClr val="accent1"/>
          </a:lnRef>
          <a:fillRef idx="0">
            <a:schemeClr val="accent1"/>
          </a:fillRef>
          <a:effectRef idx="1">
            <a:schemeClr val="accent1"/>
          </a:effectRef>
          <a:fontRef idx="minor">
            <a:schemeClr val="tx1"/>
          </a:fontRef>
        </p:style>
      </p:cxnSp>
      <p:cxnSp>
        <p:nvCxnSpPr>
          <p:cNvPr id="20" name="Connector 15">
            <a:extLst>
              <a:ext uri="{FF2B5EF4-FFF2-40B4-BE49-F238E27FC236}">
                <a16:creationId xmlns:a16="http://schemas.microsoft.com/office/drawing/2014/main" id="{55F1A204-9CB9-FC95-7944-C80594919082}"/>
              </a:ext>
            </a:extLst>
          </p:cNvPr>
          <p:cNvCxnSpPr/>
          <p:nvPr/>
        </p:nvCxnSpPr>
        <p:spPr>
          <a:xfrm>
            <a:off x="8547735" y="3823716"/>
            <a:ext cx="0" cy="320040"/>
          </a:xfrm>
          <a:prstGeom prst="line">
            <a:avLst/>
          </a:prstGeom>
          <a:ln w="20320">
            <a:solidFill>
              <a:srgbClr val="16324F"/>
            </a:solidFill>
          </a:ln>
        </p:spPr>
        <p:style>
          <a:lnRef idx="2">
            <a:schemeClr val="accent1"/>
          </a:lnRef>
          <a:fillRef idx="0">
            <a:schemeClr val="accent1"/>
          </a:fillRef>
          <a:effectRef idx="1">
            <a:schemeClr val="accent1"/>
          </a:effectRef>
          <a:fontRef idx="minor">
            <a:schemeClr val="tx1"/>
          </a:fontRef>
        </p:style>
      </p:cxnSp>
      <p:cxnSp>
        <p:nvCxnSpPr>
          <p:cNvPr id="21" name="Connector 16">
            <a:extLst>
              <a:ext uri="{FF2B5EF4-FFF2-40B4-BE49-F238E27FC236}">
                <a16:creationId xmlns:a16="http://schemas.microsoft.com/office/drawing/2014/main" id="{C5B9478F-E5AA-6490-3534-52B598931B99}"/>
              </a:ext>
            </a:extLst>
          </p:cNvPr>
          <p:cNvCxnSpPr/>
          <p:nvPr/>
        </p:nvCxnSpPr>
        <p:spPr>
          <a:xfrm>
            <a:off x="5969127" y="4143756"/>
            <a:ext cx="0" cy="228600"/>
          </a:xfrm>
          <a:prstGeom prst="line">
            <a:avLst/>
          </a:prstGeom>
          <a:ln w="20320">
            <a:solidFill>
              <a:srgbClr val="16324F"/>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17">
            <a:extLst>
              <a:ext uri="{FF2B5EF4-FFF2-40B4-BE49-F238E27FC236}">
                <a16:creationId xmlns:a16="http://schemas.microsoft.com/office/drawing/2014/main" id="{E65A6640-7244-2D19-6BC7-0492779674D0}"/>
              </a:ext>
            </a:extLst>
          </p:cNvPr>
          <p:cNvSpPr/>
          <p:nvPr/>
        </p:nvSpPr>
        <p:spPr>
          <a:xfrm>
            <a:off x="1534287" y="1162812"/>
            <a:ext cx="2286000" cy="502920"/>
          </a:xfrm>
          <a:prstGeom prst="roundRect">
            <a:avLst/>
          </a:prstGeom>
          <a:solidFill>
            <a:srgbClr val="FEF3E7"/>
          </a:solidFill>
          <a:ln w="1778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3A4EB98C-199C-CE0C-6AC7-A367FA59FBF0}"/>
              </a:ext>
            </a:extLst>
          </p:cNvPr>
          <p:cNvSpPr txBox="1"/>
          <p:nvPr/>
        </p:nvSpPr>
        <p:spPr>
          <a:xfrm>
            <a:off x="1598295" y="1217676"/>
            <a:ext cx="2157984" cy="384048"/>
          </a:xfrm>
          <a:prstGeom prst="rect">
            <a:avLst/>
          </a:prstGeom>
          <a:noFill/>
          <a:ln>
            <a:noFill/>
          </a:ln>
        </p:spPr>
        <p:txBody>
          <a:bodyPr wrap="none" lIns="0" tIns="0" rIns="0" bIns="0" anchor="ctr">
            <a:spAutoFit/>
          </a:bodyPr>
          <a:lstStyle/>
          <a:p>
            <a:pPr algn="ctr"/>
            <a:r>
              <a:rPr sz="1240" b="1">
                <a:solidFill>
                  <a:srgbClr val="F28C28"/>
                </a:solidFill>
                <a:latin typeface="Aptos"/>
              </a:rPr>
              <a:t>1. Clean organisation name</a:t>
            </a:r>
          </a:p>
        </p:txBody>
      </p:sp>
      <p:sp>
        <p:nvSpPr>
          <p:cNvPr id="24" name="Rounded Rectangle 19">
            <a:extLst>
              <a:ext uri="{FF2B5EF4-FFF2-40B4-BE49-F238E27FC236}">
                <a16:creationId xmlns:a16="http://schemas.microsoft.com/office/drawing/2014/main" id="{87B267F1-C0CD-615F-655E-A19F5CE2F181}"/>
              </a:ext>
            </a:extLst>
          </p:cNvPr>
          <p:cNvSpPr/>
          <p:nvPr/>
        </p:nvSpPr>
        <p:spPr>
          <a:xfrm>
            <a:off x="4826127" y="1162812"/>
            <a:ext cx="2286000" cy="502920"/>
          </a:xfrm>
          <a:prstGeom prst="roundRect">
            <a:avLst/>
          </a:prstGeom>
          <a:solidFill>
            <a:srgbClr val="FEF3E7"/>
          </a:solidFill>
          <a:ln w="1778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ED2C8819-EDC9-41E8-E3E7-03997F3E8E32}"/>
              </a:ext>
            </a:extLst>
          </p:cNvPr>
          <p:cNvSpPr txBox="1"/>
          <p:nvPr/>
        </p:nvSpPr>
        <p:spPr>
          <a:xfrm>
            <a:off x="4899279" y="1217676"/>
            <a:ext cx="2139696" cy="384048"/>
          </a:xfrm>
          <a:prstGeom prst="rect">
            <a:avLst/>
          </a:prstGeom>
          <a:noFill/>
          <a:ln>
            <a:noFill/>
          </a:ln>
        </p:spPr>
        <p:txBody>
          <a:bodyPr wrap="none" lIns="0" tIns="0" rIns="0" bIns="0" anchor="ctr">
            <a:spAutoFit/>
          </a:bodyPr>
          <a:lstStyle/>
          <a:p>
            <a:pPr algn="ctr"/>
            <a:r>
              <a:rPr sz="1240" b="1" dirty="0">
                <a:solidFill>
                  <a:srgbClr val="F28C28"/>
                </a:solidFill>
                <a:latin typeface="Aptos"/>
              </a:rPr>
              <a:t>2. Exact check</a:t>
            </a:r>
          </a:p>
        </p:txBody>
      </p:sp>
      <p:sp>
        <p:nvSpPr>
          <p:cNvPr id="26" name="TextBox 25">
            <a:extLst>
              <a:ext uri="{FF2B5EF4-FFF2-40B4-BE49-F238E27FC236}">
                <a16:creationId xmlns:a16="http://schemas.microsoft.com/office/drawing/2014/main" id="{062DD8F2-529E-7144-A6E3-5AE177BABE68}"/>
              </a:ext>
            </a:extLst>
          </p:cNvPr>
          <p:cNvSpPr txBox="1"/>
          <p:nvPr/>
        </p:nvSpPr>
        <p:spPr>
          <a:xfrm>
            <a:off x="3910965" y="1692399"/>
            <a:ext cx="749808" cy="146302"/>
          </a:xfrm>
          <a:prstGeom prst="rect">
            <a:avLst/>
          </a:prstGeom>
          <a:solidFill>
            <a:srgbClr val="FFFFFF"/>
          </a:solidFill>
          <a:ln>
            <a:noFill/>
          </a:ln>
        </p:spPr>
        <p:txBody>
          <a:bodyPr wrap="square" lIns="0" tIns="0" rIns="0" bIns="0" anchor="t">
            <a:spAutoFit/>
          </a:bodyPr>
          <a:lstStyle/>
          <a:p>
            <a:pPr algn="l"/>
            <a:r>
              <a:rPr sz="919" b="1" dirty="0">
                <a:solidFill>
                  <a:srgbClr val="16324F"/>
                </a:solidFill>
                <a:latin typeface="Aptos"/>
              </a:rPr>
              <a:t>If not exact</a:t>
            </a:r>
          </a:p>
        </p:txBody>
      </p:sp>
      <p:sp>
        <p:nvSpPr>
          <p:cNvPr id="27" name="TextBox 26">
            <a:extLst>
              <a:ext uri="{FF2B5EF4-FFF2-40B4-BE49-F238E27FC236}">
                <a16:creationId xmlns:a16="http://schemas.microsoft.com/office/drawing/2014/main" id="{1118BEDE-77EE-6380-0C08-E93E93F73FAF}"/>
              </a:ext>
            </a:extLst>
          </p:cNvPr>
          <p:cNvSpPr txBox="1"/>
          <p:nvPr/>
        </p:nvSpPr>
        <p:spPr>
          <a:xfrm>
            <a:off x="5829994" y="2093355"/>
            <a:ext cx="296556" cy="141449"/>
          </a:xfrm>
          <a:prstGeom prst="rect">
            <a:avLst/>
          </a:prstGeom>
          <a:solidFill>
            <a:srgbClr val="FFFFFF"/>
          </a:solidFill>
          <a:ln>
            <a:noFill/>
          </a:ln>
        </p:spPr>
        <p:txBody>
          <a:bodyPr wrap="none" lIns="0" tIns="0" rIns="0" bIns="0" anchor="ctr">
            <a:spAutoFit/>
          </a:bodyPr>
          <a:lstStyle/>
          <a:p>
            <a:pPr algn="ctr"/>
            <a:r>
              <a:rPr sz="919" b="1" dirty="0">
                <a:solidFill>
                  <a:srgbClr val="16324F"/>
                </a:solidFill>
                <a:latin typeface="Aptos"/>
              </a:rPr>
              <a:t>Exact</a:t>
            </a:r>
          </a:p>
        </p:txBody>
      </p:sp>
      <p:sp>
        <p:nvSpPr>
          <p:cNvPr id="28" name="Rounded Rectangle 23">
            <a:extLst>
              <a:ext uri="{FF2B5EF4-FFF2-40B4-BE49-F238E27FC236}">
                <a16:creationId xmlns:a16="http://schemas.microsoft.com/office/drawing/2014/main" id="{C721DC30-9A34-A5C4-4E0D-8C683937A769}"/>
              </a:ext>
            </a:extLst>
          </p:cNvPr>
          <p:cNvSpPr/>
          <p:nvPr/>
        </p:nvSpPr>
        <p:spPr>
          <a:xfrm>
            <a:off x="1013079" y="2095499"/>
            <a:ext cx="4754880" cy="1874519"/>
          </a:xfrm>
          <a:prstGeom prst="roundRect">
            <a:avLst/>
          </a:prstGeom>
          <a:solidFill>
            <a:srgbClr val="E7F4F7"/>
          </a:solidFill>
          <a:ln w="17780">
            <a:solidFill>
              <a:srgbClr val="39A4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9E8850D9-90AA-499C-01F8-0199FB2E306D}"/>
              </a:ext>
            </a:extLst>
          </p:cNvPr>
          <p:cNvSpPr txBox="1"/>
          <p:nvPr/>
        </p:nvSpPr>
        <p:spPr>
          <a:xfrm>
            <a:off x="1177671" y="2177796"/>
            <a:ext cx="1740476" cy="215444"/>
          </a:xfrm>
          <a:prstGeom prst="rect">
            <a:avLst/>
          </a:prstGeom>
          <a:noFill/>
          <a:ln>
            <a:noFill/>
          </a:ln>
        </p:spPr>
        <p:txBody>
          <a:bodyPr wrap="none" lIns="0" tIns="0" rIns="0" bIns="0" anchor="t">
            <a:spAutoFit/>
          </a:bodyPr>
          <a:lstStyle/>
          <a:p>
            <a:pPr algn="l"/>
            <a:r>
              <a:rPr sz="1400" b="1" dirty="0">
                <a:solidFill>
                  <a:srgbClr val="39A4B8"/>
                </a:solidFill>
                <a:latin typeface="Aptos"/>
              </a:rPr>
              <a:t>FUZZY</a:t>
            </a:r>
            <a:r>
              <a:rPr lang="en-US" sz="1400" b="1" dirty="0">
                <a:solidFill>
                  <a:srgbClr val="39A4B8"/>
                </a:solidFill>
                <a:latin typeface="Aptos"/>
              </a:rPr>
              <a:t> SCORE</a:t>
            </a:r>
            <a:r>
              <a:rPr sz="1400" b="1" dirty="0">
                <a:solidFill>
                  <a:srgbClr val="39A4B8"/>
                </a:solidFill>
                <a:latin typeface="Aptos"/>
              </a:rPr>
              <a:t> ROUTE</a:t>
            </a:r>
          </a:p>
        </p:txBody>
      </p:sp>
      <p:sp>
        <p:nvSpPr>
          <p:cNvPr id="30" name="Rounded Rectangle 25">
            <a:extLst>
              <a:ext uri="{FF2B5EF4-FFF2-40B4-BE49-F238E27FC236}">
                <a16:creationId xmlns:a16="http://schemas.microsoft.com/office/drawing/2014/main" id="{95D3FDDE-41EF-7E61-9D11-6A86C86E8DCB}"/>
              </a:ext>
            </a:extLst>
          </p:cNvPr>
          <p:cNvSpPr/>
          <p:nvPr/>
        </p:nvSpPr>
        <p:spPr>
          <a:xfrm>
            <a:off x="1195959" y="2585847"/>
            <a:ext cx="4389120" cy="398528"/>
          </a:xfrm>
          <a:prstGeom prst="roundRect">
            <a:avLst/>
          </a:prstGeom>
          <a:solidFill>
            <a:srgbClr val="FFFFFF"/>
          </a:solidFill>
          <a:ln w="10160">
            <a:solidFill>
              <a:srgbClr val="D9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100" dirty="0">
              <a:solidFill>
                <a:srgbClr val="263238"/>
              </a:solidFill>
              <a:latin typeface="Aptos"/>
            </a:endParaRPr>
          </a:p>
          <a:p>
            <a:pPr algn="ctr"/>
            <a:r>
              <a:rPr lang="en-US" sz="1100" dirty="0">
                <a:solidFill>
                  <a:srgbClr val="263238"/>
                </a:solidFill>
                <a:latin typeface="Aptos"/>
              </a:rPr>
              <a:t>TF-IDF + Nearest </a:t>
            </a:r>
            <a:r>
              <a:rPr lang="en-US" sz="1100" dirty="0" err="1">
                <a:solidFill>
                  <a:srgbClr val="263238"/>
                </a:solidFill>
                <a:latin typeface="Aptos"/>
              </a:rPr>
              <a:t>Neighbours</a:t>
            </a:r>
            <a:r>
              <a:rPr lang="en-US" sz="1100" dirty="0">
                <a:solidFill>
                  <a:srgbClr val="263238"/>
                </a:solidFill>
                <a:latin typeface="Aptos"/>
              </a:rPr>
              <a:t> reduce the Sponsor Register </a:t>
            </a:r>
          </a:p>
          <a:p>
            <a:pPr algn="ctr"/>
            <a:r>
              <a:rPr lang="en-US" sz="1100" dirty="0">
                <a:solidFill>
                  <a:srgbClr val="263238"/>
                </a:solidFill>
                <a:latin typeface="Aptos"/>
              </a:rPr>
              <a:t>to 25 likely names. This is only a speed step.</a:t>
            </a:r>
          </a:p>
          <a:p>
            <a:pPr algn="ctr"/>
            <a:endParaRPr sz="1100" dirty="0"/>
          </a:p>
        </p:txBody>
      </p:sp>
      <p:sp>
        <p:nvSpPr>
          <p:cNvPr id="31" name="TextBox 30">
            <a:extLst>
              <a:ext uri="{FF2B5EF4-FFF2-40B4-BE49-F238E27FC236}">
                <a16:creationId xmlns:a16="http://schemas.microsoft.com/office/drawing/2014/main" id="{AF3B66B3-6D2F-A637-4A6C-F4EE04B2676C}"/>
              </a:ext>
            </a:extLst>
          </p:cNvPr>
          <p:cNvSpPr txBox="1"/>
          <p:nvPr/>
        </p:nvSpPr>
        <p:spPr>
          <a:xfrm>
            <a:off x="1241679" y="2416683"/>
            <a:ext cx="3840480" cy="219456"/>
          </a:xfrm>
          <a:prstGeom prst="rect">
            <a:avLst/>
          </a:prstGeom>
          <a:noFill/>
          <a:ln>
            <a:noFill/>
          </a:ln>
        </p:spPr>
        <p:txBody>
          <a:bodyPr wrap="none" lIns="0" tIns="0" rIns="0" bIns="0" anchor="t">
            <a:spAutoFit/>
          </a:bodyPr>
          <a:lstStyle/>
          <a:p>
            <a:pPr algn="l"/>
            <a:r>
              <a:rPr sz="1019" b="1" dirty="0">
                <a:solidFill>
                  <a:srgbClr val="16324F"/>
                </a:solidFill>
                <a:latin typeface="Aptos"/>
              </a:rPr>
              <a:t>Candidate shortlist</a:t>
            </a:r>
          </a:p>
        </p:txBody>
      </p:sp>
      <p:sp>
        <p:nvSpPr>
          <p:cNvPr id="32" name="Rounded Rectangle 29">
            <a:extLst>
              <a:ext uri="{FF2B5EF4-FFF2-40B4-BE49-F238E27FC236}">
                <a16:creationId xmlns:a16="http://schemas.microsoft.com/office/drawing/2014/main" id="{083CAA66-DEEB-0952-F87C-4879DE532E24}"/>
              </a:ext>
            </a:extLst>
          </p:cNvPr>
          <p:cNvSpPr/>
          <p:nvPr/>
        </p:nvSpPr>
        <p:spPr>
          <a:xfrm>
            <a:off x="1195959" y="3225164"/>
            <a:ext cx="4389120" cy="497967"/>
          </a:xfrm>
          <a:prstGeom prst="roundRect">
            <a:avLst/>
          </a:prstGeom>
          <a:solidFill>
            <a:srgbClr val="FFFFFF"/>
          </a:solidFill>
          <a:ln w="10160">
            <a:solidFill>
              <a:srgbClr val="D9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solidFill>
                <a:srgbClr val="263238"/>
              </a:solidFill>
              <a:latin typeface="Aptos"/>
            </a:endParaRPr>
          </a:p>
          <a:p>
            <a:pPr algn="ctr"/>
            <a:r>
              <a:rPr lang="en-US" sz="1200" dirty="0" err="1">
                <a:solidFill>
                  <a:srgbClr val="263238"/>
                </a:solidFill>
                <a:latin typeface="Aptos"/>
              </a:rPr>
              <a:t>TheFuzz</a:t>
            </a:r>
            <a:r>
              <a:rPr lang="en-US" sz="1200" dirty="0">
                <a:solidFill>
                  <a:srgbClr val="263238"/>
                </a:solidFill>
                <a:latin typeface="Aptos"/>
              </a:rPr>
              <a:t> </a:t>
            </a:r>
            <a:r>
              <a:rPr lang="en-US" sz="1200" dirty="0" err="1">
                <a:solidFill>
                  <a:srgbClr val="263238"/>
                </a:solidFill>
                <a:latin typeface="Aptos"/>
              </a:rPr>
              <a:t>token_sort_ratio</a:t>
            </a:r>
            <a:r>
              <a:rPr lang="en-US" sz="1200" dirty="0">
                <a:solidFill>
                  <a:srgbClr val="263238"/>
                </a:solidFill>
                <a:latin typeface="Aptos"/>
              </a:rPr>
              <a:t> compares the shortlisted names and returns the fuzzy candidate and fuzzy score.</a:t>
            </a:r>
          </a:p>
          <a:p>
            <a:pPr algn="ctr"/>
            <a:endParaRPr sz="1200" dirty="0"/>
          </a:p>
        </p:txBody>
      </p:sp>
      <p:sp>
        <p:nvSpPr>
          <p:cNvPr id="33" name="TextBox 32">
            <a:extLst>
              <a:ext uri="{FF2B5EF4-FFF2-40B4-BE49-F238E27FC236}">
                <a16:creationId xmlns:a16="http://schemas.microsoft.com/office/drawing/2014/main" id="{4B6E547D-CDAF-F6EB-F4A1-0BCA3E7976C1}"/>
              </a:ext>
            </a:extLst>
          </p:cNvPr>
          <p:cNvSpPr txBox="1"/>
          <p:nvPr/>
        </p:nvSpPr>
        <p:spPr>
          <a:xfrm>
            <a:off x="1287399" y="3072765"/>
            <a:ext cx="3840480" cy="219456"/>
          </a:xfrm>
          <a:prstGeom prst="rect">
            <a:avLst/>
          </a:prstGeom>
          <a:noFill/>
          <a:ln>
            <a:noFill/>
          </a:ln>
        </p:spPr>
        <p:txBody>
          <a:bodyPr wrap="none" lIns="0" tIns="0" rIns="0" bIns="0" anchor="t">
            <a:spAutoFit/>
          </a:bodyPr>
          <a:lstStyle/>
          <a:p>
            <a:pPr algn="l"/>
            <a:r>
              <a:rPr sz="1019" b="1" dirty="0">
                <a:solidFill>
                  <a:srgbClr val="16324F"/>
                </a:solidFill>
                <a:latin typeface="Aptos"/>
              </a:rPr>
              <a:t>Rule-based fuzzy scoring</a:t>
            </a:r>
          </a:p>
        </p:txBody>
      </p:sp>
      <p:sp>
        <p:nvSpPr>
          <p:cNvPr id="34" name="Rounded Rectangle 33">
            <a:extLst>
              <a:ext uri="{FF2B5EF4-FFF2-40B4-BE49-F238E27FC236}">
                <a16:creationId xmlns:a16="http://schemas.microsoft.com/office/drawing/2014/main" id="{238D43CD-1FB0-478F-872B-93D1B0A6BFBC}"/>
              </a:ext>
            </a:extLst>
          </p:cNvPr>
          <p:cNvSpPr/>
          <p:nvPr/>
        </p:nvSpPr>
        <p:spPr>
          <a:xfrm>
            <a:off x="6170295" y="2095500"/>
            <a:ext cx="4754880" cy="1901952"/>
          </a:xfrm>
          <a:prstGeom prst="roundRect">
            <a:avLst/>
          </a:prstGeom>
          <a:solidFill>
            <a:srgbClr val="ECF7F0"/>
          </a:solidFill>
          <a:ln w="17780">
            <a:solidFill>
              <a:srgbClr val="59AE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EB959B8E-D7AA-9D63-9387-C1909F73BC02}"/>
              </a:ext>
            </a:extLst>
          </p:cNvPr>
          <p:cNvSpPr txBox="1"/>
          <p:nvPr/>
        </p:nvSpPr>
        <p:spPr>
          <a:xfrm>
            <a:off x="6334887" y="2177796"/>
            <a:ext cx="4425696" cy="274320"/>
          </a:xfrm>
          <a:prstGeom prst="rect">
            <a:avLst/>
          </a:prstGeom>
          <a:noFill/>
          <a:ln>
            <a:noFill/>
          </a:ln>
        </p:spPr>
        <p:txBody>
          <a:bodyPr wrap="none" lIns="0" tIns="0" rIns="0" bIns="0" anchor="t">
            <a:spAutoFit/>
          </a:bodyPr>
          <a:lstStyle/>
          <a:p>
            <a:pPr algn="l"/>
            <a:r>
              <a:rPr sz="1400" b="1">
                <a:solidFill>
                  <a:srgbClr val="59AE7A"/>
                </a:solidFill>
                <a:latin typeface="Aptos"/>
              </a:rPr>
              <a:t>ML ROUTE · unsupervised</a:t>
            </a:r>
          </a:p>
        </p:txBody>
      </p:sp>
      <p:sp>
        <p:nvSpPr>
          <p:cNvPr id="36" name="Rounded Rectangle 35">
            <a:extLst>
              <a:ext uri="{FF2B5EF4-FFF2-40B4-BE49-F238E27FC236}">
                <a16:creationId xmlns:a16="http://schemas.microsoft.com/office/drawing/2014/main" id="{8BB5C82C-EA8B-43E5-18BF-0159297D9EA4}"/>
              </a:ext>
            </a:extLst>
          </p:cNvPr>
          <p:cNvSpPr/>
          <p:nvPr/>
        </p:nvSpPr>
        <p:spPr>
          <a:xfrm>
            <a:off x="6353175" y="2506980"/>
            <a:ext cx="4389120" cy="502920"/>
          </a:xfrm>
          <a:prstGeom prst="roundRect">
            <a:avLst/>
          </a:prstGeom>
          <a:solidFill>
            <a:srgbClr val="FFFFFF"/>
          </a:solidFill>
          <a:ln w="10160">
            <a:solidFill>
              <a:srgbClr val="D9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solidFill>
                <a:srgbClr val="263238"/>
              </a:solidFill>
              <a:latin typeface="Aptos"/>
            </a:endParaRPr>
          </a:p>
          <a:p>
            <a:pPr algn="ctr"/>
            <a:r>
              <a:rPr lang="en-US" sz="1200" dirty="0">
                <a:solidFill>
                  <a:srgbClr val="263238"/>
                </a:solidFill>
                <a:latin typeface="Aptos"/>
              </a:rPr>
              <a:t>TF-IDF character n-grams convert each cleaned </a:t>
            </a:r>
            <a:r>
              <a:rPr lang="en-US" sz="1200" dirty="0" err="1">
                <a:solidFill>
                  <a:srgbClr val="263238"/>
                </a:solidFill>
                <a:latin typeface="Aptos"/>
              </a:rPr>
              <a:t>organisation</a:t>
            </a:r>
            <a:r>
              <a:rPr lang="en-US" sz="1200" dirty="0">
                <a:solidFill>
                  <a:srgbClr val="263238"/>
                </a:solidFill>
                <a:latin typeface="Aptos"/>
              </a:rPr>
              <a:t> name into a numerical vector.</a:t>
            </a:r>
          </a:p>
          <a:p>
            <a:pPr algn="ctr"/>
            <a:endParaRPr sz="1200" dirty="0"/>
          </a:p>
        </p:txBody>
      </p:sp>
      <p:sp>
        <p:nvSpPr>
          <p:cNvPr id="37" name="TextBox 36">
            <a:extLst>
              <a:ext uri="{FF2B5EF4-FFF2-40B4-BE49-F238E27FC236}">
                <a16:creationId xmlns:a16="http://schemas.microsoft.com/office/drawing/2014/main" id="{6DD8DC41-3E66-2A68-573F-DDF941FD1758}"/>
              </a:ext>
            </a:extLst>
          </p:cNvPr>
          <p:cNvSpPr txBox="1"/>
          <p:nvPr/>
        </p:nvSpPr>
        <p:spPr>
          <a:xfrm>
            <a:off x="6353175" y="2351532"/>
            <a:ext cx="1252728" cy="156838"/>
          </a:xfrm>
          <a:prstGeom prst="rect">
            <a:avLst/>
          </a:prstGeom>
          <a:noFill/>
          <a:ln>
            <a:noFill/>
          </a:ln>
        </p:spPr>
        <p:txBody>
          <a:bodyPr wrap="square" lIns="0" tIns="0" rIns="0" bIns="0" anchor="t">
            <a:spAutoFit/>
          </a:bodyPr>
          <a:lstStyle/>
          <a:p>
            <a:pPr algn="l"/>
            <a:r>
              <a:rPr sz="1019" b="1" dirty="0">
                <a:solidFill>
                  <a:srgbClr val="16324F"/>
                </a:solidFill>
                <a:latin typeface="Aptos"/>
              </a:rPr>
              <a:t>Text representation</a:t>
            </a:r>
          </a:p>
        </p:txBody>
      </p:sp>
      <p:sp>
        <p:nvSpPr>
          <p:cNvPr id="38" name="Rounded Rectangle 39">
            <a:extLst>
              <a:ext uri="{FF2B5EF4-FFF2-40B4-BE49-F238E27FC236}">
                <a16:creationId xmlns:a16="http://schemas.microsoft.com/office/drawing/2014/main" id="{72D49A8F-F944-61FB-D7E0-D714F8FF1DC7}"/>
              </a:ext>
            </a:extLst>
          </p:cNvPr>
          <p:cNvSpPr/>
          <p:nvPr/>
        </p:nvSpPr>
        <p:spPr>
          <a:xfrm>
            <a:off x="6353175" y="3206114"/>
            <a:ext cx="4389120" cy="502920"/>
          </a:xfrm>
          <a:prstGeom prst="roundRect">
            <a:avLst/>
          </a:prstGeom>
          <a:solidFill>
            <a:srgbClr val="FFFFFF"/>
          </a:solidFill>
          <a:ln w="10160">
            <a:solidFill>
              <a:srgbClr val="D9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solidFill>
                <a:srgbClr val="263238"/>
              </a:solidFill>
              <a:latin typeface="Aptos"/>
            </a:endParaRPr>
          </a:p>
          <a:p>
            <a:pPr algn="ctr"/>
            <a:r>
              <a:rPr lang="en-US" sz="1200" dirty="0">
                <a:solidFill>
                  <a:srgbClr val="263238"/>
                </a:solidFill>
                <a:latin typeface="Aptos"/>
              </a:rPr>
              <a:t>Cosine distance + Nearest </a:t>
            </a:r>
            <a:r>
              <a:rPr lang="en-US" sz="1200" dirty="0" err="1">
                <a:solidFill>
                  <a:srgbClr val="263238"/>
                </a:solidFill>
                <a:latin typeface="Aptos"/>
              </a:rPr>
              <a:t>Neighbours</a:t>
            </a:r>
            <a:r>
              <a:rPr lang="en-US" sz="1200" dirty="0">
                <a:solidFill>
                  <a:srgbClr val="263238"/>
                </a:solidFill>
                <a:latin typeface="Aptos"/>
              </a:rPr>
              <a:t> return the closest sponsor and the ML similarity score.</a:t>
            </a:r>
          </a:p>
          <a:p>
            <a:pPr algn="ctr"/>
            <a:endParaRPr sz="1200" dirty="0"/>
          </a:p>
        </p:txBody>
      </p:sp>
      <p:sp>
        <p:nvSpPr>
          <p:cNvPr id="39" name="TextBox 38">
            <a:extLst>
              <a:ext uri="{FF2B5EF4-FFF2-40B4-BE49-F238E27FC236}">
                <a16:creationId xmlns:a16="http://schemas.microsoft.com/office/drawing/2014/main" id="{09FA8C7D-A80E-B623-015F-49B7B0A6B732}"/>
              </a:ext>
            </a:extLst>
          </p:cNvPr>
          <p:cNvSpPr txBox="1"/>
          <p:nvPr/>
        </p:nvSpPr>
        <p:spPr>
          <a:xfrm>
            <a:off x="6353175" y="3082670"/>
            <a:ext cx="3840480" cy="219456"/>
          </a:xfrm>
          <a:prstGeom prst="rect">
            <a:avLst/>
          </a:prstGeom>
          <a:noFill/>
          <a:ln>
            <a:noFill/>
          </a:ln>
        </p:spPr>
        <p:txBody>
          <a:bodyPr wrap="none" lIns="0" tIns="0" rIns="0" bIns="0" anchor="t">
            <a:spAutoFit/>
          </a:bodyPr>
          <a:lstStyle/>
          <a:p>
            <a:pPr algn="l"/>
            <a:r>
              <a:rPr sz="1019" b="1" dirty="0">
                <a:solidFill>
                  <a:srgbClr val="16324F"/>
                </a:solidFill>
                <a:latin typeface="Aptos"/>
              </a:rPr>
              <a:t>Nearest-candidate retrieval</a:t>
            </a:r>
          </a:p>
        </p:txBody>
      </p:sp>
      <p:sp>
        <p:nvSpPr>
          <p:cNvPr id="40" name="Rounded Rectangle 43">
            <a:extLst>
              <a:ext uri="{FF2B5EF4-FFF2-40B4-BE49-F238E27FC236}">
                <a16:creationId xmlns:a16="http://schemas.microsoft.com/office/drawing/2014/main" id="{B4236DF0-AE6A-5D5E-0FA2-51ED854E2E9F}"/>
              </a:ext>
            </a:extLst>
          </p:cNvPr>
          <p:cNvSpPr/>
          <p:nvPr/>
        </p:nvSpPr>
        <p:spPr>
          <a:xfrm>
            <a:off x="2448687" y="4372356"/>
            <a:ext cx="7040880" cy="932688"/>
          </a:xfrm>
          <a:prstGeom prst="roundRect">
            <a:avLst/>
          </a:prstGeom>
          <a:solidFill>
            <a:srgbClr val="FEF3E7"/>
          </a:solidFill>
          <a:ln w="17780">
            <a:solidFill>
              <a:srgbClr val="E6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2149ED97-B056-E284-89DB-4B490F8A5478}"/>
              </a:ext>
            </a:extLst>
          </p:cNvPr>
          <p:cNvSpPr txBox="1"/>
          <p:nvPr/>
        </p:nvSpPr>
        <p:spPr>
          <a:xfrm>
            <a:off x="2631567" y="4454652"/>
            <a:ext cx="6675120" cy="256032"/>
          </a:xfrm>
          <a:prstGeom prst="rect">
            <a:avLst/>
          </a:prstGeom>
          <a:noFill/>
          <a:ln>
            <a:noFill/>
          </a:ln>
        </p:spPr>
        <p:txBody>
          <a:bodyPr wrap="none" lIns="0" tIns="0" rIns="0" bIns="0" anchor="ctr">
            <a:spAutoFit/>
          </a:bodyPr>
          <a:lstStyle/>
          <a:p>
            <a:pPr algn="ctr"/>
            <a:r>
              <a:rPr sz="1400" b="1">
                <a:solidFill>
                  <a:srgbClr val="E6B437"/>
                </a:solidFill>
                <a:latin typeface="Aptos"/>
              </a:rPr>
              <a:t>COMPARE + DECISION RULES</a:t>
            </a:r>
          </a:p>
        </p:txBody>
      </p:sp>
      <p:sp>
        <p:nvSpPr>
          <p:cNvPr id="53" name="TextBox 52">
            <a:extLst>
              <a:ext uri="{FF2B5EF4-FFF2-40B4-BE49-F238E27FC236}">
                <a16:creationId xmlns:a16="http://schemas.microsoft.com/office/drawing/2014/main" id="{090DFBAF-7182-5804-ECA9-FC43ED2808FD}"/>
              </a:ext>
            </a:extLst>
          </p:cNvPr>
          <p:cNvSpPr txBox="1"/>
          <p:nvPr/>
        </p:nvSpPr>
        <p:spPr>
          <a:xfrm>
            <a:off x="2631567" y="4747260"/>
            <a:ext cx="2057400" cy="182880"/>
          </a:xfrm>
          <a:prstGeom prst="rect">
            <a:avLst/>
          </a:prstGeom>
          <a:noFill/>
          <a:ln>
            <a:noFill/>
          </a:ln>
        </p:spPr>
        <p:txBody>
          <a:bodyPr wrap="none" lIns="0" tIns="0" rIns="0" bIns="0" anchor="ctr">
            <a:spAutoFit/>
          </a:bodyPr>
          <a:lstStyle/>
          <a:p>
            <a:pPr algn="ctr"/>
            <a:r>
              <a:rPr sz="1030" b="1">
                <a:solidFill>
                  <a:srgbClr val="F28C28"/>
                </a:solidFill>
                <a:latin typeface="Aptos"/>
              </a:rPr>
              <a:t>EXACT</a:t>
            </a:r>
          </a:p>
        </p:txBody>
      </p:sp>
      <p:sp>
        <p:nvSpPr>
          <p:cNvPr id="67" name="TextBox 66">
            <a:extLst>
              <a:ext uri="{FF2B5EF4-FFF2-40B4-BE49-F238E27FC236}">
                <a16:creationId xmlns:a16="http://schemas.microsoft.com/office/drawing/2014/main" id="{9285F5ED-FC42-F61E-A8DF-AF78C8762869}"/>
              </a:ext>
            </a:extLst>
          </p:cNvPr>
          <p:cNvSpPr txBox="1"/>
          <p:nvPr/>
        </p:nvSpPr>
        <p:spPr>
          <a:xfrm>
            <a:off x="4396359" y="4747260"/>
            <a:ext cx="3127248" cy="182880"/>
          </a:xfrm>
          <a:prstGeom prst="rect">
            <a:avLst/>
          </a:prstGeom>
          <a:noFill/>
          <a:ln>
            <a:noFill/>
          </a:ln>
        </p:spPr>
        <p:txBody>
          <a:bodyPr wrap="none" lIns="0" tIns="0" rIns="0" bIns="0" anchor="ctr">
            <a:spAutoFit/>
          </a:bodyPr>
          <a:lstStyle/>
          <a:p>
            <a:pPr algn="ctr"/>
            <a:r>
              <a:rPr sz="1030" b="1">
                <a:solidFill>
                  <a:srgbClr val="16324F"/>
                </a:solidFill>
                <a:latin typeface="Aptos"/>
              </a:rPr>
              <a:t>NON-EXACT</a:t>
            </a:r>
          </a:p>
        </p:txBody>
      </p:sp>
      <p:sp>
        <p:nvSpPr>
          <p:cNvPr id="68" name="TextBox 67">
            <a:extLst>
              <a:ext uri="{FF2B5EF4-FFF2-40B4-BE49-F238E27FC236}">
                <a16:creationId xmlns:a16="http://schemas.microsoft.com/office/drawing/2014/main" id="{09B4FE72-CE39-958C-DF07-D38227A43393}"/>
              </a:ext>
            </a:extLst>
          </p:cNvPr>
          <p:cNvSpPr txBox="1"/>
          <p:nvPr/>
        </p:nvSpPr>
        <p:spPr>
          <a:xfrm>
            <a:off x="7203567" y="4747260"/>
            <a:ext cx="2057400" cy="182880"/>
          </a:xfrm>
          <a:prstGeom prst="rect">
            <a:avLst/>
          </a:prstGeom>
          <a:noFill/>
          <a:ln>
            <a:noFill/>
          </a:ln>
        </p:spPr>
        <p:txBody>
          <a:bodyPr wrap="none" lIns="0" tIns="0" rIns="0" bIns="0" anchor="ctr">
            <a:spAutoFit/>
          </a:bodyPr>
          <a:lstStyle/>
          <a:p>
            <a:pPr algn="ctr"/>
            <a:r>
              <a:rPr sz="1030" b="1">
                <a:solidFill>
                  <a:srgbClr val="263238"/>
                </a:solidFill>
                <a:latin typeface="Aptos"/>
              </a:rPr>
              <a:t>OTHERWISE</a:t>
            </a:r>
          </a:p>
        </p:txBody>
      </p:sp>
      <p:sp>
        <p:nvSpPr>
          <p:cNvPr id="69" name="TextBox 68">
            <a:extLst>
              <a:ext uri="{FF2B5EF4-FFF2-40B4-BE49-F238E27FC236}">
                <a16:creationId xmlns:a16="http://schemas.microsoft.com/office/drawing/2014/main" id="{763B5EFE-868F-3DF2-B180-63CF92FF6F3A}"/>
              </a:ext>
            </a:extLst>
          </p:cNvPr>
          <p:cNvSpPr txBox="1"/>
          <p:nvPr/>
        </p:nvSpPr>
        <p:spPr>
          <a:xfrm>
            <a:off x="2604135" y="4957572"/>
            <a:ext cx="2103120" cy="201168"/>
          </a:xfrm>
          <a:prstGeom prst="rect">
            <a:avLst/>
          </a:prstGeom>
          <a:noFill/>
          <a:ln>
            <a:noFill/>
          </a:ln>
        </p:spPr>
        <p:txBody>
          <a:bodyPr wrap="none" lIns="0" tIns="0" rIns="0" bIns="0" anchor="ctr">
            <a:spAutoFit/>
          </a:bodyPr>
          <a:lstStyle/>
          <a:p>
            <a:pPr algn="ctr"/>
            <a:r>
              <a:rPr sz="919" b="0">
                <a:solidFill>
                  <a:srgbClr val="263238"/>
                </a:solidFill>
                <a:latin typeface="Aptos"/>
              </a:rPr>
              <a:t>Accepted at 100</a:t>
            </a:r>
          </a:p>
        </p:txBody>
      </p:sp>
      <p:sp>
        <p:nvSpPr>
          <p:cNvPr id="70" name="TextBox 69">
            <a:extLst>
              <a:ext uri="{FF2B5EF4-FFF2-40B4-BE49-F238E27FC236}">
                <a16:creationId xmlns:a16="http://schemas.microsoft.com/office/drawing/2014/main" id="{61B00E70-FE6C-B1EC-BF7B-A5BBBA4BB07F}"/>
              </a:ext>
            </a:extLst>
          </p:cNvPr>
          <p:cNvSpPr txBox="1"/>
          <p:nvPr/>
        </p:nvSpPr>
        <p:spPr>
          <a:xfrm>
            <a:off x="4295775" y="4957572"/>
            <a:ext cx="3310128" cy="201168"/>
          </a:xfrm>
          <a:prstGeom prst="rect">
            <a:avLst/>
          </a:prstGeom>
          <a:noFill/>
          <a:ln>
            <a:noFill/>
          </a:ln>
        </p:spPr>
        <p:txBody>
          <a:bodyPr wrap="none" lIns="0" tIns="0" rIns="0" bIns="0" anchor="ctr">
            <a:spAutoFit/>
          </a:bodyPr>
          <a:lstStyle/>
          <a:p>
            <a:pPr algn="ctr"/>
            <a:r>
              <a:rPr sz="900" b="0">
                <a:solidFill>
                  <a:srgbClr val="263238"/>
                </a:solidFill>
                <a:latin typeface="Aptos"/>
              </a:rPr>
              <a:t>Same sponsor + fuzzy ≥ 90 + ML ≥ 75</a:t>
            </a:r>
          </a:p>
        </p:txBody>
      </p:sp>
      <p:sp>
        <p:nvSpPr>
          <p:cNvPr id="71" name="TextBox 70">
            <a:extLst>
              <a:ext uri="{FF2B5EF4-FFF2-40B4-BE49-F238E27FC236}">
                <a16:creationId xmlns:a16="http://schemas.microsoft.com/office/drawing/2014/main" id="{11314A8E-8DEC-F4D3-378A-52E2A5174911}"/>
              </a:ext>
            </a:extLst>
          </p:cNvPr>
          <p:cNvSpPr txBox="1"/>
          <p:nvPr/>
        </p:nvSpPr>
        <p:spPr>
          <a:xfrm>
            <a:off x="7112127" y="4957572"/>
            <a:ext cx="2194560" cy="201168"/>
          </a:xfrm>
          <a:prstGeom prst="rect">
            <a:avLst/>
          </a:prstGeom>
          <a:noFill/>
          <a:ln>
            <a:noFill/>
          </a:ln>
        </p:spPr>
        <p:txBody>
          <a:bodyPr wrap="none" lIns="0" tIns="0" rIns="0" bIns="0" anchor="ctr">
            <a:spAutoFit/>
          </a:bodyPr>
          <a:lstStyle/>
          <a:p>
            <a:pPr algn="ctr"/>
            <a:r>
              <a:rPr sz="900" b="0">
                <a:solidFill>
                  <a:srgbClr val="263238"/>
                </a:solidFill>
                <a:latin typeface="Aptos"/>
              </a:rPr>
              <a:t>Excluded; retained for audit</a:t>
            </a:r>
          </a:p>
        </p:txBody>
      </p:sp>
      <p:sp>
        <p:nvSpPr>
          <p:cNvPr id="72" name="Rounded Rectangle 51">
            <a:extLst>
              <a:ext uri="{FF2B5EF4-FFF2-40B4-BE49-F238E27FC236}">
                <a16:creationId xmlns:a16="http://schemas.microsoft.com/office/drawing/2014/main" id="{948160DD-999B-E106-AA60-6959889F8A5D}"/>
              </a:ext>
            </a:extLst>
          </p:cNvPr>
          <p:cNvSpPr/>
          <p:nvPr/>
        </p:nvSpPr>
        <p:spPr>
          <a:xfrm>
            <a:off x="1141095" y="5524500"/>
            <a:ext cx="9656064" cy="457200"/>
          </a:xfrm>
          <a:prstGeom prst="roundRect">
            <a:avLst/>
          </a:prstGeom>
          <a:solidFill>
            <a:srgbClr val="F4F6F8"/>
          </a:solidFill>
          <a:ln w="10160">
            <a:solidFill>
              <a:srgbClr val="D9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solidFill>
                <a:srgbClr val="263238"/>
              </a:solidFill>
              <a:latin typeface="Aptos"/>
            </a:endParaRPr>
          </a:p>
          <a:p>
            <a:pPr algn="ctr"/>
            <a:r>
              <a:rPr lang="en-US" sz="1200" dirty="0">
                <a:solidFill>
                  <a:srgbClr val="263238"/>
                </a:solidFill>
                <a:latin typeface="Aptos"/>
              </a:rPr>
              <a:t>ML boundary: Nearest </a:t>
            </a:r>
            <a:r>
              <a:rPr lang="en-US" sz="1200" dirty="0" err="1">
                <a:solidFill>
                  <a:srgbClr val="263238"/>
                </a:solidFill>
                <a:latin typeface="Aptos"/>
              </a:rPr>
              <a:t>Neighbours</a:t>
            </a:r>
            <a:r>
              <a:rPr lang="en-US" sz="1200" dirty="0">
                <a:solidFill>
                  <a:srgbClr val="263238"/>
                </a:solidFill>
                <a:latin typeface="Aptos"/>
              </a:rPr>
              <a:t> is used for the fuzzy shortlist and for the separate ML candidate. </a:t>
            </a:r>
          </a:p>
          <a:p>
            <a:pPr algn="ctr"/>
            <a:r>
              <a:rPr lang="en-US" sz="1200" dirty="0">
                <a:solidFill>
                  <a:srgbClr val="263238"/>
                </a:solidFill>
                <a:latin typeface="Aptos"/>
              </a:rPr>
              <a:t>TF-IDF represents text; cosine measures distance; </a:t>
            </a:r>
            <a:r>
              <a:rPr lang="en-US" sz="1200" dirty="0" err="1">
                <a:solidFill>
                  <a:srgbClr val="263238"/>
                </a:solidFill>
                <a:latin typeface="Aptos"/>
              </a:rPr>
              <a:t>token_sort_ratio</a:t>
            </a:r>
            <a:r>
              <a:rPr lang="en-US" sz="1200" dirty="0">
                <a:solidFill>
                  <a:srgbClr val="263238"/>
                </a:solidFill>
                <a:latin typeface="Aptos"/>
              </a:rPr>
              <a:t> and the acceptance thresholds are rule-based.</a:t>
            </a:r>
          </a:p>
          <a:p>
            <a:pPr algn="ctr"/>
            <a:endParaRPr sz="1200" dirty="0"/>
          </a:p>
        </p:txBody>
      </p:sp>
      <p:sp>
        <p:nvSpPr>
          <p:cNvPr id="74" name="TextBox 73">
            <a:extLst>
              <a:ext uri="{FF2B5EF4-FFF2-40B4-BE49-F238E27FC236}">
                <a16:creationId xmlns:a16="http://schemas.microsoft.com/office/drawing/2014/main" id="{81BD07D1-1E4B-86A1-8F62-D4F92EF073A1}"/>
              </a:ext>
            </a:extLst>
          </p:cNvPr>
          <p:cNvSpPr txBox="1"/>
          <p:nvPr/>
        </p:nvSpPr>
        <p:spPr>
          <a:xfrm>
            <a:off x="7203567" y="1743449"/>
            <a:ext cx="749808" cy="146302"/>
          </a:xfrm>
          <a:prstGeom prst="rect">
            <a:avLst/>
          </a:prstGeom>
          <a:solidFill>
            <a:srgbClr val="FFFFFF"/>
          </a:solidFill>
          <a:ln>
            <a:noFill/>
          </a:ln>
        </p:spPr>
        <p:txBody>
          <a:bodyPr wrap="square" lIns="0" tIns="0" rIns="0" bIns="0" anchor="t">
            <a:spAutoFit/>
          </a:bodyPr>
          <a:lstStyle/>
          <a:p>
            <a:pPr algn="l"/>
            <a:r>
              <a:rPr sz="919" b="1" dirty="0">
                <a:solidFill>
                  <a:srgbClr val="16324F"/>
                </a:solidFill>
                <a:latin typeface="Aptos"/>
              </a:rPr>
              <a:t>If not exact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28C28"/>
          </a:solidFill>
          <a:ln>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6473952"/>
            <a:ext cx="3657600" cy="164592"/>
          </a:xfrm>
          <a:prstGeom prst="rect">
            <a:avLst/>
          </a:prstGeom>
          <a:noFill/>
        </p:spPr>
        <p:txBody>
          <a:bodyPr wrap="square" anchor="t">
            <a:spAutoFit/>
          </a:bodyPr>
          <a:lstStyle/>
          <a:p>
            <a:pPr algn="l"/>
            <a:r>
              <a:rPr sz="830" b="0">
                <a:solidFill>
                  <a:srgbClr val="657786"/>
                </a:solidFill>
                <a:latin typeface="Aptos"/>
              </a:rPr>
              <a:t>LD6053 · UG Computing Project</a:t>
            </a:r>
          </a:p>
        </p:txBody>
      </p:sp>
      <p:sp>
        <p:nvSpPr>
          <p:cNvPr id="4" name="TextBox 3"/>
          <p:cNvSpPr txBox="1"/>
          <p:nvPr/>
        </p:nvSpPr>
        <p:spPr>
          <a:xfrm>
            <a:off x="9326880" y="6473952"/>
            <a:ext cx="2377440" cy="164592"/>
          </a:xfrm>
          <a:prstGeom prst="rect">
            <a:avLst/>
          </a:prstGeom>
          <a:noFill/>
        </p:spPr>
        <p:txBody>
          <a:bodyPr wrap="square" anchor="t">
            <a:spAutoFit/>
          </a:bodyPr>
          <a:lstStyle/>
          <a:p>
            <a:pPr algn="r"/>
            <a:r>
              <a:rPr sz="830" b="0">
                <a:solidFill>
                  <a:srgbClr val="657786"/>
                </a:solidFill>
                <a:latin typeface="Aptos"/>
              </a:rPr>
              <a:t>Jorge Tomas Chabrillon</a:t>
            </a:r>
          </a:p>
        </p:txBody>
      </p:sp>
      <p:sp>
        <p:nvSpPr>
          <p:cNvPr id="5" name="TextBox 4"/>
          <p:cNvSpPr txBox="1"/>
          <p:nvPr/>
        </p:nvSpPr>
        <p:spPr>
          <a:xfrm>
            <a:off x="411480" y="274320"/>
            <a:ext cx="4389120" cy="201168"/>
          </a:xfrm>
          <a:prstGeom prst="rect">
            <a:avLst/>
          </a:prstGeom>
          <a:noFill/>
        </p:spPr>
        <p:txBody>
          <a:bodyPr wrap="square" anchor="t">
            <a:spAutoFit/>
          </a:bodyPr>
          <a:lstStyle/>
          <a:p>
            <a:pPr algn="l"/>
            <a:r>
              <a:rPr sz="980" b="1">
                <a:solidFill>
                  <a:srgbClr val="F28C28"/>
                </a:solidFill>
                <a:latin typeface="Aptos"/>
              </a:rPr>
              <a:t>JUSTIFICATION AND EVALUATION</a:t>
            </a:r>
          </a:p>
        </p:txBody>
      </p:sp>
      <p:sp>
        <p:nvSpPr>
          <p:cNvPr id="6" name="TextBox 5"/>
          <p:cNvSpPr txBox="1"/>
          <p:nvPr/>
        </p:nvSpPr>
        <p:spPr>
          <a:xfrm>
            <a:off x="411480" y="530352"/>
            <a:ext cx="11155680" cy="411480"/>
          </a:xfrm>
          <a:prstGeom prst="rect">
            <a:avLst/>
          </a:prstGeom>
          <a:noFill/>
        </p:spPr>
        <p:txBody>
          <a:bodyPr wrap="square" anchor="t">
            <a:spAutoFit/>
          </a:bodyPr>
          <a:lstStyle/>
          <a:p>
            <a:pPr algn="l"/>
            <a:r>
              <a:rPr sz="2400" b="1">
                <a:solidFill>
                  <a:srgbClr val="16324F"/>
                </a:solidFill>
                <a:latin typeface="Aptos"/>
              </a:rPr>
              <a:t>Method selection and technical testing</a:t>
            </a:r>
          </a:p>
        </p:txBody>
      </p:sp>
      <p:sp>
        <p:nvSpPr>
          <p:cNvPr id="7" name="Rounded Rectangle 6"/>
          <p:cNvSpPr/>
          <p:nvPr/>
        </p:nvSpPr>
        <p:spPr>
          <a:xfrm>
            <a:off x="640080" y="1143000"/>
            <a:ext cx="3520440" cy="1143000"/>
          </a:xfrm>
          <a:prstGeom prst="roundRect">
            <a:avLst/>
          </a:prstGeom>
          <a:solidFill>
            <a:srgbClr val="FFFFFF"/>
          </a:solidFill>
          <a:ln w="1524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1234440"/>
            <a:ext cx="3300984" cy="228600"/>
          </a:xfrm>
          <a:prstGeom prst="rect">
            <a:avLst/>
          </a:prstGeom>
          <a:noFill/>
        </p:spPr>
        <p:txBody>
          <a:bodyPr wrap="square" anchor="t">
            <a:spAutoFit/>
          </a:bodyPr>
          <a:lstStyle/>
          <a:p>
            <a:pPr algn="l"/>
            <a:r>
              <a:rPr sz="1320" b="1">
                <a:solidFill>
                  <a:srgbClr val="F28C28"/>
                </a:solidFill>
                <a:latin typeface="Aptos"/>
              </a:rPr>
              <a:t>Python / Colab</a:t>
            </a:r>
          </a:p>
        </p:txBody>
      </p:sp>
      <p:sp>
        <p:nvSpPr>
          <p:cNvPr id="9" name="TextBox 8"/>
          <p:cNvSpPr txBox="1"/>
          <p:nvPr/>
        </p:nvSpPr>
        <p:spPr>
          <a:xfrm>
            <a:off x="749808" y="1508760"/>
            <a:ext cx="3300984" cy="704088"/>
          </a:xfrm>
          <a:prstGeom prst="rect">
            <a:avLst/>
          </a:prstGeom>
          <a:noFill/>
        </p:spPr>
        <p:txBody>
          <a:bodyPr wrap="square" anchor="t">
            <a:spAutoFit/>
          </a:bodyPr>
          <a:lstStyle/>
          <a:p>
            <a:pPr algn="l"/>
            <a:r>
              <a:rPr sz="1040" b="0">
                <a:solidFill>
                  <a:srgbClr val="263238"/>
                </a:solidFill>
                <a:latin typeface="Aptos"/>
              </a:rPr>
              <a:t>Supports API requests, XML/JSON/CSV parsing, matching logic, dated outputs, runtime logging and SQL upload in one reproducible environment.</a:t>
            </a:r>
          </a:p>
        </p:txBody>
      </p:sp>
      <p:sp>
        <p:nvSpPr>
          <p:cNvPr id="10" name="Rounded Rectangle 9"/>
          <p:cNvSpPr/>
          <p:nvPr/>
        </p:nvSpPr>
        <p:spPr>
          <a:xfrm>
            <a:off x="4343400" y="1143000"/>
            <a:ext cx="3520440" cy="1143000"/>
          </a:xfrm>
          <a:prstGeom prst="roundRect">
            <a:avLst/>
          </a:prstGeom>
          <a:solidFill>
            <a:srgbClr val="FFFFFF"/>
          </a:solidFill>
          <a:ln w="15240">
            <a:solidFill>
              <a:srgbClr val="0F6B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53128" y="1234440"/>
            <a:ext cx="3300984" cy="228600"/>
          </a:xfrm>
          <a:prstGeom prst="rect">
            <a:avLst/>
          </a:prstGeom>
          <a:noFill/>
        </p:spPr>
        <p:txBody>
          <a:bodyPr wrap="square" anchor="t">
            <a:spAutoFit/>
          </a:bodyPr>
          <a:lstStyle/>
          <a:p>
            <a:pPr algn="l"/>
            <a:r>
              <a:rPr sz="1320" b="1">
                <a:solidFill>
                  <a:srgbClr val="0F6B78"/>
                </a:solidFill>
                <a:latin typeface="Aptos"/>
              </a:rPr>
              <a:t>Relational SQL Server</a:t>
            </a:r>
          </a:p>
        </p:txBody>
      </p:sp>
      <p:sp>
        <p:nvSpPr>
          <p:cNvPr id="12" name="TextBox 11"/>
          <p:cNvSpPr txBox="1"/>
          <p:nvPr/>
        </p:nvSpPr>
        <p:spPr>
          <a:xfrm>
            <a:off x="4453128" y="1508760"/>
            <a:ext cx="3300984" cy="704088"/>
          </a:xfrm>
          <a:prstGeom prst="rect">
            <a:avLst/>
          </a:prstGeom>
          <a:noFill/>
        </p:spPr>
        <p:txBody>
          <a:bodyPr wrap="square" anchor="t">
            <a:spAutoFit/>
          </a:bodyPr>
          <a:lstStyle/>
          <a:p>
            <a:pPr algn="l"/>
            <a:r>
              <a:rPr sz="1040" b="0">
                <a:solidFill>
                  <a:srgbClr val="263238"/>
                </a:solidFill>
                <a:latin typeface="Aptos"/>
              </a:rPr>
              <a:t>Tables, constraints, audit evidence and stable reporting views support integrity and reusable reporting.</a:t>
            </a:r>
          </a:p>
        </p:txBody>
      </p:sp>
      <p:sp>
        <p:nvSpPr>
          <p:cNvPr id="13" name="Rounded Rectangle 12"/>
          <p:cNvSpPr/>
          <p:nvPr/>
        </p:nvSpPr>
        <p:spPr>
          <a:xfrm>
            <a:off x="8046720" y="1143000"/>
            <a:ext cx="3520440" cy="1143000"/>
          </a:xfrm>
          <a:prstGeom prst="roundRect">
            <a:avLst/>
          </a:prstGeom>
          <a:solidFill>
            <a:srgbClr val="FFFFFF"/>
          </a:solidFill>
          <a:ln w="15240">
            <a:solidFill>
              <a:srgbClr val="2FA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56448" y="1234440"/>
            <a:ext cx="3300984" cy="228600"/>
          </a:xfrm>
          <a:prstGeom prst="rect">
            <a:avLst/>
          </a:prstGeom>
          <a:noFill/>
        </p:spPr>
        <p:txBody>
          <a:bodyPr wrap="square" anchor="t">
            <a:spAutoFit/>
          </a:bodyPr>
          <a:lstStyle/>
          <a:p>
            <a:pPr algn="l"/>
            <a:r>
              <a:rPr sz="1320" b="1">
                <a:solidFill>
                  <a:srgbClr val="2FA8B8"/>
                </a:solidFill>
                <a:latin typeface="Aptos"/>
              </a:rPr>
              <a:t>Power BI Desktop</a:t>
            </a:r>
          </a:p>
        </p:txBody>
      </p:sp>
      <p:sp>
        <p:nvSpPr>
          <p:cNvPr id="15" name="TextBox 14"/>
          <p:cNvSpPr txBox="1"/>
          <p:nvPr/>
        </p:nvSpPr>
        <p:spPr>
          <a:xfrm>
            <a:off x="8156448" y="1508760"/>
            <a:ext cx="3300984" cy="704088"/>
          </a:xfrm>
          <a:prstGeom prst="rect">
            <a:avLst/>
          </a:prstGeom>
          <a:noFill/>
        </p:spPr>
        <p:txBody>
          <a:bodyPr wrap="square" anchor="t">
            <a:spAutoFit/>
          </a:bodyPr>
          <a:lstStyle/>
          <a:p>
            <a:pPr algn="l"/>
            <a:r>
              <a:rPr sz="1040" b="0">
                <a:solidFill>
                  <a:srgbClr val="263238"/>
                </a:solidFill>
                <a:latin typeface="Aptos"/>
              </a:rPr>
              <a:t>Provides filterable evidence tables for a non-technical audience, backed by the SQL reporting views.</a:t>
            </a:r>
          </a:p>
        </p:txBody>
      </p:sp>
      <p:sp>
        <p:nvSpPr>
          <p:cNvPr id="16" name="Rounded Rectangle 15"/>
          <p:cNvSpPr/>
          <p:nvPr/>
        </p:nvSpPr>
        <p:spPr>
          <a:xfrm>
            <a:off x="640080" y="2606040"/>
            <a:ext cx="3520440" cy="1325880"/>
          </a:xfrm>
          <a:prstGeom prst="roundRect">
            <a:avLst/>
          </a:prstGeom>
          <a:solidFill>
            <a:srgbClr val="FFFFFF"/>
          </a:solidFill>
          <a:ln w="15240">
            <a:solidFill>
              <a:srgbClr val="0F6B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9808" y="2697480"/>
            <a:ext cx="3300984" cy="228600"/>
          </a:xfrm>
          <a:prstGeom prst="rect">
            <a:avLst/>
          </a:prstGeom>
          <a:noFill/>
        </p:spPr>
        <p:txBody>
          <a:bodyPr wrap="square" anchor="t">
            <a:spAutoFit/>
          </a:bodyPr>
          <a:lstStyle/>
          <a:p>
            <a:r>
              <a:rPr>
                <a:latin typeface="Aptos"/>
              </a:rPr>
              <a:t>Why this ML method?</a:t>
            </a:r>
          </a:p>
        </p:txBody>
      </p:sp>
      <p:sp>
        <p:nvSpPr>
          <p:cNvPr id="18" name="TextBox 17"/>
          <p:cNvSpPr txBox="1"/>
          <p:nvPr/>
        </p:nvSpPr>
        <p:spPr>
          <a:xfrm>
            <a:off x="749808" y="2971800"/>
            <a:ext cx="3300984" cy="886968"/>
          </a:xfrm>
          <a:prstGeom prst="rect">
            <a:avLst/>
          </a:prstGeom>
          <a:noFill/>
        </p:spPr>
        <p:txBody>
          <a:bodyPr wrap="square" anchor="t">
            <a:spAutoFit/>
          </a:bodyPr>
          <a:lstStyle/>
          <a:p>
            <a:r>
              <a:rPr sz="1030">
                <a:latin typeface="Aptos"/>
              </a:rPr>
              <a:t>The task is nearest-candidate retrieval for short organisation names, not outcome prediction. Nearest Neighbours works without labelled examples and makes every selected candidate inspectable.</a:t>
            </a:r>
          </a:p>
        </p:txBody>
      </p:sp>
      <p:sp>
        <p:nvSpPr>
          <p:cNvPr id="19" name="Rounded Rectangle 18"/>
          <p:cNvSpPr/>
          <p:nvPr/>
        </p:nvSpPr>
        <p:spPr>
          <a:xfrm>
            <a:off x="4343400" y="2606040"/>
            <a:ext cx="3520440" cy="1325880"/>
          </a:xfrm>
          <a:prstGeom prst="roundRect">
            <a:avLst/>
          </a:prstGeom>
          <a:solidFill>
            <a:srgbClr val="FFFFFF"/>
          </a:solidFill>
          <a:ln w="1524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53128" y="2697480"/>
            <a:ext cx="3300984" cy="228600"/>
          </a:xfrm>
          <a:prstGeom prst="rect">
            <a:avLst/>
          </a:prstGeom>
          <a:noFill/>
        </p:spPr>
        <p:txBody>
          <a:bodyPr wrap="square" anchor="t">
            <a:spAutoFit/>
          </a:bodyPr>
          <a:lstStyle/>
          <a:p>
            <a:r>
              <a:rPr>
                <a:latin typeface="Aptos"/>
              </a:rPr>
              <a:t>Why not supervised models?</a:t>
            </a:r>
          </a:p>
        </p:txBody>
      </p:sp>
      <p:sp>
        <p:nvSpPr>
          <p:cNvPr id="21" name="TextBox 20"/>
          <p:cNvSpPr txBox="1"/>
          <p:nvPr/>
        </p:nvSpPr>
        <p:spPr>
          <a:xfrm>
            <a:off x="4453128" y="2971800"/>
            <a:ext cx="3300984" cy="886968"/>
          </a:xfrm>
          <a:prstGeom prst="rect">
            <a:avLst/>
          </a:prstGeom>
          <a:noFill/>
        </p:spPr>
        <p:txBody>
          <a:bodyPr wrap="square" anchor="t">
            <a:spAutoFit/>
          </a:bodyPr>
          <a:lstStyle/>
          <a:p>
            <a:r>
              <a:rPr sz="1010">
                <a:latin typeface="Aptos"/>
              </a:rPr>
              <a:t>Random Forest, SVM or neural classifiers would require trustworthy match/non-match labels and a train/test evaluation. Those labels did not exist, so supervised performance claims would be artificial.</a:t>
            </a:r>
          </a:p>
        </p:txBody>
      </p:sp>
      <p:sp>
        <p:nvSpPr>
          <p:cNvPr id="22" name="Rounded Rectangle 21"/>
          <p:cNvSpPr/>
          <p:nvPr/>
        </p:nvSpPr>
        <p:spPr>
          <a:xfrm>
            <a:off x="8046720" y="2606040"/>
            <a:ext cx="3520440" cy="1325880"/>
          </a:xfrm>
          <a:prstGeom prst="roundRect">
            <a:avLst/>
          </a:prstGeom>
          <a:solidFill>
            <a:srgbClr val="FFFFFF"/>
          </a:solidFill>
          <a:ln w="15240">
            <a:solidFill>
              <a:srgbClr val="C94C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56448" y="2697480"/>
            <a:ext cx="3300984" cy="228600"/>
          </a:xfrm>
          <a:prstGeom prst="rect">
            <a:avLst/>
          </a:prstGeom>
          <a:noFill/>
        </p:spPr>
        <p:txBody>
          <a:bodyPr wrap="square" anchor="t">
            <a:spAutoFit/>
          </a:bodyPr>
          <a:lstStyle/>
          <a:p>
            <a:r>
              <a:rPr>
                <a:latin typeface="Aptos"/>
              </a:rPr>
              <a:t>Testing completed</a:t>
            </a:r>
          </a:p>
        </p:txBody>
      </p:sp>
      <p:sp>
        <p:nvSpPr>
          <p:cNvPr id="24" name="TextBox 23"/>
          <p:cNvSpPr txBox="1"/>
          <p:nvPr/>
        </p:nvSpPr>
        <p:spPr>
          <a:xfrm>
            <a:off x="8156448" y="2971800"/>
            <a:ext cx="3300984" cy="886968"/>
          </a:xfrm>
          <a:prstGeom prst="rect">
            <a:avLst/>
          </a:prstGeom>
          <a:noFill/>
        </p:spPr>
        <p:txBody>
          <a:bodyPr wrap="square" anchor="t">
            <a:spAutoFit/>
          </a:bodyPr>
          <a:lstStyle/>
          <a:p>
            <a:r>
              <a:rPr sz="1010">
                <a:latin typeface="Aptos"/>
              </a:rPr>
              <a:t>Component: APIs, parsing, cleaning, dates, duplicates, scores and rules. Integration: API → files → comparison → SQL. System: SQL reconciliation, Power BI pages, filters and disclaimer.</a:t>
            </a:r>
          </a:p>
        </p:txBody>
      </p:sp>
      <p:sp>
        <p:nvSpPr>
          <p:cNvPr id="25" name="Rounded Rectangle 24"/>
          <p:cNvSpPr/>
          <p:nvPr/>
        </p:nvSpPr>
        <p:spPr>
          <a:xfrm>
            <a:off x="777240" y="4407407"/>
            <a:ext cx="10515600" cy="1142999"/>
          </a:xfrm>
          <a:prstGeom prst="roundRect">
            <a:avLst/>
          </a:prstGeom>
          <a:solidFill>
            <a:srgbClr val="FFFFFF"/>
          </a:solidFill>
          <a:ln w="1524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86968" y="4498848"/>
            <a:ext cx="10296144" cy="369332"/>
          </a:xfrm>
          <a:prstGeom prst="rect">
            <a:avLst/>
          </a:prstGeom>
          <a:noFill/>
        </p:spPr>
        <p:txBody>
          <a:bodyPr wrap="square" anchor="t">
            <a:spAutoFit/>
          </a:bodyPr>
          <a:lstStyle/>
          <a:p>
            <a:r>
              <a:rPr lang="en-US" dirty="0"/>
              <a:t>Evaluation boundary</a:t>
            </a:r>
            <a:endParaRPr dirty="0">
              <a:latin typeface="Aptos"/>
            </a:endParaRPr>
          </a:p>
        </p:txBody>
      </p:sp>
      <p:sp>
        <p:nvSpPr>
          <p:cNvPr id="27" name="TextBox 26"/>
          <p:cNvSpPr txBox="1"/>
          <p:nvPr/>
        </p:nvSpPr>
        <p:spPr>
          <a:xfrm>
            <a:off x="886968" y="4773168"/>
            <a:ext cx="10296144" cy="415498"/>
          </a:xfrm>
          <a:prstGeom prst="rect">
            <a:avLst/>
          </a:prstGeom>
          <a:noFill/>
        </p:spPr>
        <p:txBody>
          <a:bodyPr wrap="square" anchor="t">
            <a:spAutoFit/>
          </a:bodyPr>
          <a:lstStyle/>
          <a:p>
            <a:r>
              <a:rPr lang="en-US" sz="1050" dirty="0"/>
              <a:t>Measured: method agreement, exclusions, runtime, SQL reconciliation and dashboard </a:t>
            </a:r>
            <a:r>
              <a:rPr lang="en-US" sz="1050" dirty="0" err="1"/>
              <a:t>behaviour</a:t>
            </a:r>
            <a:r>
              <a:rPr lang="en-US" sz="1050" dirty="0"/>
              <a:t>.</a:t>
            </a:r>
            <a:br>
              <a:rPr lang="en-US" sz="1050" dirty="0"/>
            </a:br>
            <a:r>
              <a:rPr lang="en-US" sz="1050" dirty="0"/>
              <a:t>Not measured: labelled accuracy, precision, recall or participant usability.</a:t>
            </a:r>
          </a:p>
        </p:txBody>
      </p:sp>
      <p:sp>
        <p:nvSpPr>
          <p:cNvPr id="28" name="TextBox 27"/>
          <p:cNvSpPr txBox="1"/>
          <p:nvPr/>
        </p:nvSpPr>
        <p:spPr>
          <a:xfrm>
            <a:off x="411480" y="6245352"/>
            <a:ext cx="11155680" cy="182880"/>
          </a:xfrm>
          <a:prstGeom prst="rect">
            <a:avLst/>
          </a:prstGeom>
          <a:noFill/>
        </p:spPr>
        <p:txBody>
          <a:bodyPr wrap="square" anchor="t">
            <a:spAutoFit/>
          </a:bodyPr>
          <a:lstStyle/>
          <a:p>
            <a:pPr algn="l"/>
            <a:r>
              <a:rPr sz="800" b="0">
                <a:solidFill>
                  <a:srgbClr val="657786"/>
                </a:solidFill>
                <a:latin typeface="Aptos"/>
              </a:rPr>
              <a:t>Sharifi &amp; Ahmadzadeh (2025); Cvetkov-Iliev et al. (2022). Project testing evidence: runtime log, SQL views and Power BI pages.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28C28"/>
          </a:solidFill>
          <a:ln>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6473952"/>
            <a:ext cx="3657600" cy="164592"/>
          </a:xfrm>
          <a:prstGeom prst="rect">
            <a:avLst/>
          </a:prstGeom>
          <a:noFill/>
        </p:spPr>
        <p:txBody>
          <a:bodyPr wrap="square" anchor="t">
            <a:spAutoFit/>
          </a:bodyPr>
          <a:lstStyle/>
          <a:p>
            <a:pPr algn="l"/>
            <a:r>
              <a:rPr sz="830" b="0">
                <a:solidFill>
                  <a:srgbClr val="657786"/>
                </a:solidFill>
                <a:latin typeface="Aptos"/>
              </a:rPr>
              <a:t>LD6053 · UG Computing Project</a:t>
            </a:r>
          </a:p>
        </p:txBody>
      </p:sp>
      <p:sp>
        <p:nvSpPr>
          <p:cNvPr id="4" name="TextBox 3"/>
          <p:cNvSpPr txBox="1"/>
          <p:nvPr/>
        </p:nvSpPr>
        <p:spPr>
          <a:xfrm>
            <a:off x="9326880" y="6473952"/>
            <a:ext cx="2377440" cy="164592"/>
          </a:xfrm>
          <a:prstGeom prst="rect">
            <a:avLst/>
          </a:prstGeom>
          <a:noFill/>
        </p:spPr>
        <p:txBody>
          <a:bodyPr wrap="square" anchor="t">
            <a:spAutoFit/>
          </a:bodyPr>
          <a:lstStyle/>
          <a:p>
            <a:pPr algn="r"/>
            <a:r>
              <a:rPr sz="830" b="0">
                <a:solidFill>
                  <a:srgbClr val="657786"/>
                </a:solidFill>
                <a:latin typeface="Aptos"/>
              </a:rPr>
              <a:t>Jorge Tomas Chabrillon</a:t>
            </a:r>
          </a:p>
        </p:txBody>
      </p:sp>
      <p:sp>
        <p:nvSpPr>
          <p:cNvPr id="5" name="TextBox 4"/>
          <p:cNvSpPr txBox="1"/>
          <p:nvPr/>
        </p:nvSpPr>
        <p:spPr>
          <a:xfrm>
            <a:off x="411480" y="274320"/>
            <a:ext cx="4389120" cy="201168"/>
          </a:xfrm>
          <a:prstGeom prst="rect">
            <a:avLst/>
          </a:prstGeom>
          <a:noFill/>
        </p:spPr>
        <p:txBody>
          <a:bodyPr wrap="square" anchor="t">
            <a:spAutoFit/>
          </a:bodyPr>
          <a:lstStyle/>
          <a:p>
            <a:pPr algn="l"/>
            <a:r>
              <a:rPr sz="980" b="1">
                <a:solidFill>
                  <a:srgbClr val="F28C28"/>
                </a:solidFill>
                <a:latin typeface="Aptos"/>
              </a:rPr>
              <a:t>RESULTS</a:t>
            </a:r>
          </a:p>
        </p:txBody>
      </p:sp>
      <p:sp>
        <p:nvSpPr>
          <p:cNvPr id="6" name="TextBox 5"/>
          <p:cNvSpPr txBox="1"/>
          <p:nvPr/>
        </p:nvSpPr>
        <p:spPr>
          <a:xfrm>
            <a:off x="411480" y="530352"/>
            <a:ext cx="11155680" cy="369332"/>
          </a:xfrm>
          <a:prstGeom prst="rect">
            <a:avLst/>
          </a:prstGeom>
          <a:noFill/>
        </p:spPr>
        <p:txBody>
          <a:bodyPr wrap="square" anchor="t">
            <a:spAutoFit/>
          </a:bodyPr>
          <a:lstStyle/>
          <a:p>
            <a:r>
              <a:rPr lang="en-US" dirty="0">
                <a:latin typeface="Aptos"/>
              </a:rPr>
              <a:t>Validation </a:t>
            </a:r>
            <a:r>
              <a:rPr dirty="0">
                <a:latin typeface="Aptos"/>
              </a:rPr>
              <a:t>snapshot · </a:t>
            </a:r>
            <a:r>
              <a:rPr lang="en-US" dirty="0">
                <a:latin typeface="Aptos"/>
              </a:rPr>
              <a:t>10</a:t>
            </a:r>
            <a:r>
              <a:rPr dirty="0">
                <a:latin typeface="Aptos"/>
              </a:rPr>
              <a:t> August 2026</a:t>
            </a:r>
          </a:p>
        </p:txBody>
      </p:sp>
      <p:sp>
        <p:nvSpPr>
          <p:cNvPr id="7" name="Rounded Rectangle 6"/>
          <p:cNvSpPr/>
          <p:nvPr/>
        </p:nvSpPr>
        <p:spPr>
          <a:xfrm>
            <a:off x="621792" y="1097280"/>
            <a:ext cx="1600200" cy="868680"/>
          </a:xfrm>
          <a:prstGeom prst="roundRect">
            <a:avLst/>
          </a:prstGeom>
          <a:solidFill>
            <a:srgbClr val="FFFFFF"/>
          </a:solidFill>
          <a:ln>
            <a:solidFill>
              <a:srgbClr val="D6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4944" y="1207007"/>
            <a:ext cx="1453896" cy="461665"/>
          </a:xfrm>
          <a:prstGeom prst="rect">
            <a:avLst/>
          </a:prstGeom>
          <a:noFill/>
        </p:spPr>
        <p:txBody>
          <a:bodyPr wrap="square" anchor="t">
            <a:spAutoFit/>
          </a:bodyPr>
          <a:lstStyle/>
          <a:p>
            <a:pPr algn="ctr"/>
            <a:r>
              <a:rPr lang="en-US" sz="2400" b="1" dirty="0">
                <a:solidFill>
                  <a:srgbClr val="16324F"/>
                </a:solidFill>
                <a:latin typeface="Aptos"/>
              </a:rPr>
              <a:t>255</a:t>
            </a:r>
            <a:endParaRPr sz="2400" b="1" dirty="0">
              <a:solidFill>
                <a:srgbClr val="16324F"/>
              </a:solidFill>
              <a:latin typeface="Aptos"/>
            </a:endParaRPr>
          </a:p>
        </p:txBody>
      </p:sp>
      <p:sp>
        <p:nvSpPr>
          <p:cNvPr id="9" name="TextBox 8"/>
          <p:cNvSpPr txBox="1"/>
          <p:nvPr/>
        </p:nvSpPr>
        <p:spPr>
          <a:xfrm>
            <a:off x="694944" y="1600200"/>
            <a:ext cx="1453896" cy="201168"/>
          </a:xfrm>
          <a:prstGeom prst="rect">
            <a:avLst/>
          </a:prstGeom>
          <a:noFill/>
        </p:spPr>
        <p:txBody>
          <a:bodyPr wrap="square" anchor="t">
            <a:spAutoFit/>
          </a:bodyPr>
          <a:lstStyle/>
          <a:p>
            <a:pPr algn="ctr"/>
            <a:r>
              <a:rPr sz="1000" b="0">
                <a:solidFill>
                  <a:srgbClr val="263238"/>
                </a:solidFill>
                <a:latin typeface="Aptos"/>
              </a:rPr>
              <a:t>Accepted funding evidence rows</a:t>
            </a:r>
          </a:p>
        </p:txBody>
      </p:sp>
      <p:sp>
        <p:nvSpPr>
          <p:cNvPr id="10" name="Rounded Rectangle 9"/>
          <p:cNvSpPr/>
          <p:nvPr/>
        </p:nvSpPr>
        <p:spPr>
          <a:xfrm>
            <a:off x="2359152" y="1097280"/>
            <a:ext cx="1600200" cy="868680"/>
          </a:xfrm>
          <a:prstGeom prst="roundRect">
            <a:avLst/>
          </a:prstGeom>
          <a:solidFill>
            <a:srgbClr val="FFFFFF"/>
          </a:solidFill>
          <a:ln>
            <a:solidFill>
              <a:srgbClr val="D6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432304" y="1207007"/>
            <a:ext cx="1453896" cy="461665"/>
          </a:xfrm>
          <a:prstGeom prst="rect">
            <a:avLst/>
          </a:prstGeom>
          <a:noFill/>
        </p:spPr>
        <p:txBody>
          <a:bodyPr wrap="square" anchor="t">
            <a:spAutoFit/>
          </a:bodyPr>
          <a:lstStyle/>
          <a:p>
            <a:pPr algn="ctr"/>
            <a:r>
              <a:rPr lang="en-US" sz="2400" b="1" dirty="0">
                <a:solidFill>
                  <a:srgbClr val="F28C28"/>
                </a:solidFill>
                <a:latin typeface="Aptos"/>
              </a:rPr>
              <a:t>80</a:t>
            </a:r>
            <a:endParaRPr sz="2400" b="1" dirty="0">
              <a:solidFill>
                <a:srgbClr val="F28C28"/>
              </a:solidFill>
              <a:latin typeface="Aptos"/>
            </a:endParaRPr>
          </a:p>
        </p:txBody>
      </p:sp>
      <p:sp>
        <p:nvSpPr>
          <p:cNvPr id="12" name="TextBox 11"/>
          <p:cNvSpPr txBox="1"/>
          <p:nvPr/>
        </p:nvSpPr>
        <p:spPr>
          <a:xfrm>
            <a:off x="2432304" y="1600200"/>
            <a:ext cx="1453896" cy="201168"/>
          </a:xfrm>
          <a:prstGeom prst="rect">
            <a:avLst/>
          </a:prstGeom>
          <a:noFill/>
        </p:spPr>
        <p:txBody>
          <a:bodyPr wrap="square" anchor="t">
            <a:spAutoFit/>
          </a:bodyPr>
          <a:lstStyle/>
          <a:p>
            <a:pPr algn="ctr"/>
            <a:r>
              <a:rPr sz="1000" b="0">
                <a:solidFill>
                  <a:srgbClr val="263238"/>
                </a:solidFill>
                <a:latin typeface="Aptos"/>
              </a:rPr>
              <a:t>Contracts Finder evidence rows</a:t>
            </a:r>
          </a:p>
        </p:txBody>
      </p:sp>
      <p:sp>
        <p:nvSpPr>
          <p:cNvPr id="13" name="Rounded Rectangle 12"/>
          <p:cNvSpPr/>
          <p:nvPr/>
        </p:nvSpPr>
        <p:spPr>
          <a:xfrm>
            <a:off x="4096512" y="1097280"/>
            <a:ext cx="1417320" cy="868680"/>
          </a:xfrm>
          <a:prstGeom prst="roundRect">
            <a:avLst/>
          </a:prstGeom>
          <a:solidFill>
            <a:srgbClr val="FFFFFF"/>
          </a:solidFill>
          <a:ln>
            <a:solidFill>
              <a:srgbClr val="D6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169664" y="1207007"/>
            <a:ext cx="1271016" cy="461665"/>
          </a:xfrm>
          <a:prstGeom prst="rect">
            <a:avLst/>
          </a:prstGeom>
          <a:noFill/>
        </p:spPr>
        <p:txBody>
          <a:bodyPr wrap="square" anchor="t">
            <a:spAutoFit/>
          </a:bodyPr>
          <a:lstStyle/>
          <a:p>
            <a:pPr algn="ctr"/>
            <a:r>
              <a:rPr lang="en-US" sz="2400" b="1" dirty="0">
                <a:solidFill>
                  <a:srgbClr val="2FA8B8"/>
                </a:solidFill>
                <a:latin typeface="Aptos"/>
              </a:rPr>
              <a:t>175</a:t>
            </a:r>
            <a:endParaRPr sz="2400" b="1" dirty="0">
              <a:solidFill>
                <a:srgbClr val="2FA8B8"/>
              </a:solidFill>
              <a:latin typeface="Aptos"/>
            </a:endParaRPr>
          </a:p>
        </p:txBody>
      </p:sp>
      <p:sp>
        <p:nvSpPr>
          <p:cNvPr id="15" name="TextBox 14"/>
          <p:cNvSpPr txBox="1"/>
          <p:nvPr/>
        </p:nvSpPr>
        <p:spPr>
          <a:xfrm>
            <a:off x="4169664" y="1600200"/>
            <a:ext cx="1271016" cy="201168"/>
          </a:xfrm>
          <a:prstGeom prst="rect">
            <a:avLst/>
          </a:prstGeom>
          <a:noFill/>
        </p:spPr>
        <p:txBody>
          <a:bodyPr wrap="square" anchor="t">
            <a:spAutoFit/>
          </a:bodyPr>
          <a:lstStyle/>
          <a:p>
            <a:pPr algn="ctr"/>
            <a:r>
              <a:rPr sz="1000" b="0">
                <a:solidFill>
                  <a:srgbClr val="263238"/>
                </a:solidFill>
                <a:latin typeface="Aptos"/>
              </a:rPr>
              <a:t>GtR evidence rows</a:t>
            </a:r>
          </a:p>
        </p:txBody>
      </p:sp>
      <p:sp>
        <p:nvSpPr>
          <p:cNvPr id="16" name="Rounded Rectangle 15"/>
          <p:cNvSpPr/>
          <p:nvPr/>
        </p:nvSpPr>
        <p:spPr>
          <a:xfrm>
            <a:off x="5669280" y="1097280"/>
            <a:ext cx="1691640" cy="868680"/>
          </a:xfrm>
          <a:prstGeom prst="roundRect">
            <a:avLst/>
          </a:prstGeom>
          <a:solidFill>
            <a:srgbClr val="FFFFFF"/>
          </a:solidFill>
          <a:ln>
            <a:solidFill>
              <a:srgbClr val="D6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42432" y="1207007"/>
            <a:ext cx="1545336" cy="461665"/>
          </a:xfrm>
          <a:prstGeom prst="rect">
            <a:avLst/>
          </a:prstGeom>
          <a:noFill/>
        </p:spPr>
        <p:txBody>
          <a:bodyPr wrap="square" anchor="t">
            <a:spAutoFit/>
          </a:bodyPr>
          <a:lstStyle/>
          <a:p>
            <a:pPr algn="ctr"/>
            <a:r>
              <a:rPr lang="en-US" sz="2400" b="1" dirty="0">
                <a:solidFill>
                  <a:srgbClr val="0F6B78"/>
                </a:solidFill>
                <a:latin typeface="Aptos"/>
              </a:rPr>
              <a:t>134</a:t>
            </a:r>
            <a:endParaRPr sz="2400" b="1" dirty="0">
              <a:solidFill>
                <a:srgbClr val="0F6B78"/>
              </a:solidFill>
              <a:latin typeface="Aptos"/>
            </a:endParaRPr>
          </a:p>
        </p:txBody>
      </p:sp>
      <p:sp>
        <p:nvSpPr>
          <p:cNvPr id="18" name="TextBox 17"/>
          <p:cNvSpPr txBox="1"/>
          <p:nvPr/>
        </p:nvSpPr>
        <p:spPr>
          <a:xfrm>
            <a:off x="5742432" y="1600200"/>
            <a:ext cx="1545336" cy="201168"/>
          </a:xfrm>
          <a:prstGeom prst="rect">
            <a:avLst/>
          </a:prstGeom>
          <a:noFill/>
        </p:spPr>
        <p:txBody>
          <a:bodyPr wrap="square" anchor="t">
            <a:spAutoFit/>
          </a:bodyPr>
          <a:lstStyle/>
          <a:p>
            <a:pPr algn="ctr"/>
            <a:r>
              <a:rPr sz="1000" b="0">
                <a:solidFill>
                  <a:srgbClr val="263238"/>
                </a:solidFill>
                <a:latin typeface="Aptos"/>
              </a:rPr>
              <a:t>Accepted unique organisations</a:t>
            </a:r>
          </a:p>
        </p:txBody>
      </p:sp>
      <p:sp>
        <p:nvSpPr>
          <p:cNvPr id="19" name="Rounded Rectangle 18"/>
          <p:cNvSpPr/>
          <p:nvPr/>
        </p:nvSpPr>
        <p:spPr>
          <a:xfrm>
            <a:off x="7516368" y="1097280"/>
            <a:ext cx="1508760" cy="868680"/>
          </a:xfrm>
          <a:prstGeom prst="roundRect">
            <a:avLst/>
          </a:prstGeom>
          <a:solidFill>
            <a:srgbClr val="FFFFFF"/>
          </a:solidFill>
          <a:ln>
            <a:solidFill>
              <a:srgbClr val="D6E0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89520" y="1207007"/>
            <a:ext cx="1362456" cy="461665"/>
          </a:xfrm>
          <a:prstGeom prst="rect">
            <a:avLst/>
          </a:prstGeom>
          <a:noFill/>
        </p:spPr>
        <p:txBody>
          <a:bodyPr wrap="square" anchor="t">
            <a:spAutoFit/>
          </a:bodyPr>
          <a:lstStyle/>
          <a:p>
            <a:pPr algn="ctr"/>
            <a:r>
              <a:rPr lang="en-US" sz="2400" b="1" dirty="0">
                <a:solidFill>
                  <a:srgbClr val="2E8B57"/>
                </a:solidFill>
                <a:latin typeface="Aptos"/>
              </a:rPr>
              <a:t>0</a:t>
            </a:r>
            <a:endParaRPr sz="2400" b="1" dirty="0">
              <a:solidFill>
                <a:srgbClr val="2E8B57"/>
              </a:solidFill>
              <a:latin typeface="Aptos"/>
            </a:endParaRPr>
          </a:p>
        </p:txBody>
      </p:sp>
      <p:sp>
        <p:nvSpPr>
          <p:cNvPr id="21" name="TextBox 20"/>
          <p:cNvSpPr txBox="1"/>
          <p:nvPr/>
        </p:nvSpPr>
        <p:spPr>
          <a:xfrm>
            <a:off x="7589520" y="1600200"/>
            <a:ext cx="1362456" cy="400110"/>
          </a:xfrm>
          <a:prstGeom prst="rect">
            <a:avLst/>
          </a:prstGeom>
          <a:noFill/>
        </p:spPr>
        <p:txBody>
          <a:bodyPr wrap="square" anchor="t">
            <a:spAutoFit/>
          </a:bodyPr>
          <a:lstStyle/>
          <a:p>
            <a:pPr algn="ctr"/>
            <a:r>
              <a:rPr lang="en-US" sz="1000" dirty="0"/>
              <a:t>Missing matching scores</a:t>
            </a:r>
            <a:endParaRPr sz="1000" b="0" dirty="0">
              <a:solidFill>
                <a:srgbClr val="263238"/>
              </a:solidFill>
              <a:latin typeface="Aptos"/>
            </a:endParaRPr>
          </a:p>
        </p:txBody>
      </p:sp>
      <p:sp>
        <p:nvSpPr>
          <p:cNvPr id="22" name="Rounded Rectangle 21"/>
          <p:cNvSpPr/>
          <p:nvPr/>
        </p:nvSpPr>
        <p:spPr>
          <a:xfrm>
            <a:off x="713232" y="2423160"/>
            <a:ext cx="5166360" cy="1325880"/>
          </a:xfrm>
          <a:prstGeom prst="roundRect">
            <a:avLst/>
          </a:prstGeom>
          <a:solidFill>
            <a:srgbClr val="FFFFFF"/>
          </a:solidFill>
          <a:ln w="1524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2514600"/>
            <a:ext cx="4946904" cy="307777"/>
          </a:xfrm>
          <a:prstGeom prst="rect">
            <a:avLst/>
          </a:prstGeom>
          <a:noFill/>
        </p:spPr>
        <p:txBody>
          <a:bodyPr wrap="square" anchor="t">
            <a:spAutoFit/>
          </a:bodyPr>
          <a:lstStyle/>
          <a:p>
            <a:r>
              <a:rPr lang="en-US" sz="1400" b="1" dirty="0">
                <a:solidFill>
                  <a:srgbClr val="F28C28"/>
                </a:solidFill>
                <a:latin typeface="Aptos"/>
              </a:rPr>
              <a:t>Controlled acceptance picture</a:t>
            </a:r>
          </a:p>
        </p:txBody>
      </p:sp>
      <p:sp>
        <p:nvSpPr>
          <p:cNvPr id="24" name="TextBox 23"/>
          <p:cNvSpPr txBox="1"/>
          <p:nvPr/>
        </p:nvSpPr>
        <p:spPr>
          <a:xfrm>
            <a:off x="822960" y="2788920"/>
            <a:ext cx="4946904" cy="412421"/>
          </a:xfrm>
          <a:prstGeom prst="rect">
            <a:avLst/>
          </a:prstGeom>
          <a:noFill/>
        </p:spPr>
        <p:txBody>
          <a:bodyPr wrap="square" anchor="t">
            <a:spAutoFit/>
          </a:bodyPr>
          <a:lstStyle/>
          <a:p>
            <a:r>
              <a:rPr lang="en-US" sz="1040" dirty="0">
                <a:solidFill>
                  <a:srgbClr val="263238"/>
                </a:solidFill>
                <a:latin typeface="Aptos"/>
              </a:rPr>
              <a:t>Contracts Finder: 222 </a:t>
            </a:r>
            <a:r>
              <a:rPr lang="en-US" sz="1040" dirty="0" err="1">
                <a:solidFill>
                  <a:srgbClr val="263238"/>
                </a:solidFill>
                <a:latin typeface="Aptos"/>
              </a:rPr>
              <a:t>organisations</a:t>
            </a:r>
            <a:r>
              <a:rPr lang="en-US" sz="1040" dirty="0">
                <a:solidFill>
                  <a:srgbClr val="263238"/>
                </a:solidFill>
                <a:latin typeface="Aptos"/>
              </a:rPr>
              <a:t> compared, 53 accepted and 169 excluded. Gateway to Research: 141 compared, 81 accepted and 60 excluded.</a:t>
            </a:r>
          </a:p>
        </p:txBody>
      </p:sp>
      <p:sp>
        <p:nvSpPr>
          <p:cNvPr id="25" name="Rounded Rectangle 24"/>
          <p:cNvSpPr/>
          <p:nvPr/>
        </p:nvSpPr>
        <p:spPr>
          <a:xfrm>
            <a:off x="6126480" y="2423160"/>
            <a:ext cx="5166360" cy="1325880"/>
          </a:xfrm>
          <a:prstGeom prst="roundRect">
            <a:avLst/>
          </a:prstGeom>
          <a:solidFill>
            <a:srgbClr val="FFFFFF"/>
          </a:solidFill>
          <a:ln w="15240">
            <a:solidFill>
              <a:srgbClr val="C94C4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36208" y="2514600"/>
            <a:ext cx="4946904" cy="295466"/>
          </a:xfrm>
          <a:prstGeom prst="rect">
            <a:avLst/>
          </a:prstGeom>
          <a:noFill/>
        </p:spPr>
        <p:txBody>
          <a:bodyPr wrap="square" anchor="t">
            <a:spAutoFit/>
          </a:bodyPr>
          <a:lstStyle/>
          <a:p>
            <a:r>
              <a:rPr sz="1320" dirty="0">
                <a:latin typeface="Aptos" panose="020B0004020202020204" pitchFamily="34" charset="0"/>
              </a:rPr>
              <a:t>Automated validation outcomes</a:t>
            </a:r>
          </a:p>
        </p:txBody>
      </p:sp>
      <p:sp>
        <p:nvSpPr>
          <p:cNvPr id="27" name="TextBox 26"/>
          <p:cNvSpPr txBox="1"/>
          <p:nvPr/>
        </p:nvSpPr>
        <p:spPr>
          <a:xfrm>
            <a:off x="6236208" y="2788920"/>
            <a:ext cx="4946904" cy="572464"/>
          </a:xfrm>
          <a:prstGeom prst="rect">
            <a:avLst/>
          </a:prstGeom>
          <a:noFill/>
        </p:spPr>
        <p:txBody>
          <a:bodyPr wrap="square" anchor="t">
            <a:spAutoFit/>
          </a:bodyPr>
          <a:lstStyle/>
          <a:p>
            <a:r>
              <a:rPr lang="en-US" sz="1040" dirty="0">
                <a:solidFill>
                  <a:srgbClr val="263238"/>
                </a:solidFill>
                <a:latin typeface="Aptos"/>
              </a:rPr>
              <a:t>The workflow accepted 134 </a:t>
            </a:r>
            <a:r>
              <a:rPr lang="en-US" sz="1040" dirty="0" err="1">
                <a:solidFill>
                  <a:srgbClr val="263238"/>
                </a:solidFill>
                <a:latin typeface="Aptos"/>
              </a:rPr>
              <a:t>organisations</a:t>
            </a:r>
            <a:r>
              <a:rPr lang="en-US" sz="1040" dirty="0">
                <a:solidFill>
                  <a:srgbClr val="263238"/>
                </a:solidFill>
                <a:latin typeface="Aptos"/>
              </a:rPr>
              <a:t> and retained 229 excluded </a:t>
            </a:r>
            <a:r>
              <a:rPr lang="en-US" sz="1040" dirty="0" err="1">
                <a:solidFill>
                  <a:srgbClr val="263238"/>
                </a:solidFill>
                <a:latin typeface="Aptos"/>
              </a:rPr>
              <a:t>organisations</a:t>
            </a:r>
            <a:r>
              <a:rPr lang="en-US" sz="1040" dirty="0">
                <a:solidFill>
                  <a:srgbClr val="263238"/>
                </a:solidFill>
                <a:latin typeface="Aptos"/>
              </a:rPr>
              <a:t> for audit. Contracts Finder method agreement was 40.54%, while Gateway to Research agreement was 69.50%. Agreement is not accuracy.</a:t>
            </a:r>
            <a:endParaRPr sz="1040" dirty="0">
              <a:solidFill>
                <a:srgbClr val="263238"/>
              </a:solidFill>
              <a:latin typeface="Aptos"/>
            </a:endParaRPr>
          </a:p>
        </p:txBody>
      </p:sp>
      <p:sp>
        <p:nvSpPr>
          <p:cNvPr id="28" name="Rounded Rectangle 27"/>
          <p:cNvSpPr/>
          <p:nvPr/>
        </p:nvSpPr>
        <p:spPr>
          <a:xfrm>
            <a:off x="713232" y="3977639"/>
            <a:ext cx="5166360" cy="1051560"/>
          </a:xfrm>
          <a:prstGeom prst="roundRect">
            <a:avLst/>
          </a:prstGeom>
          <a:solidFill>
            <a:srgbClr val="FFFFFF"/>
          </a:solidFill>
          <a:ln w="1524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4069079"/>
            <a:ext cx="4946904" cy="228600"/>
          </a:xfrm>
          <a:prstGeom prst="rect">
            <a:avLst/>
          </a:prstGeom>
          <a:noFill/>
        </p:spPr>
        <p:txBody>
          <a:bodyPr wrap="square" anchor="t">
            <a:spAutoFit/>
          </a:bodyPr>
          <a:lstStyle/>
          <a:p>
            <a:pPr algn="l"/>
            <a:r>
              <a:rPr sz="1320" b="1" dirty="0">
                <a:solidFill>
                  <a:srgbClr val="2E8B57"/>
                </a:solidFill>
                <a:latin typeface="Aptos"/>
              </a:rPr>
              <a:t>Runtime evidence scope</a:t>
            </a:r>
          </a:p>
        </p:txBody>
      </p:sp>
      <p:sp>
        <p:nvSpPr>
          <p:cNvPr id="30" name="TextBox 29"/>
          <p:cNvSpPr txBox="1"/>
          <p:nvPr/>
        </p:nvSpPr>
        <p:spPr>
          <a:xfrm>
            <a:off x="822960" y="4343400"/>
            <a:ext cx="4946904" cy="574003"/>
          </a:xfrm>
          <a:prstGeom prst="rect">
            <a:avLst/>
          </a:prstGeom>
          <a:noFill/>
        </p:spPr>
        <p:txBody>
          <a:bodyPr wrap="square" anchor="t">
            <a:spAutoFit/>
          </a:bodyPr>
          <a:lstStyle/>
          <a:p>
            <a:r>
              <a:rPr lang="en-US" sz="1040" dirty="0">
                <a:solidFill>
                  <a:srgbClr val="263238"/>
                </a:solidFill>
                <a:latin typeface="Aptos"/>
              </a:rPr>
              <a:t>All 18 logged stages succeeded. The runtime log covers timed pipeline stages only; it excludes package installation, Drive mounting, manual checking and Power BI refresh</a:t>
            </a:r>
            <a:r>
              <a:rPr lang="en-US" sz="1050" dirty="0"/>
              <a:t>.</a:t>
            </a:r>
          </a:p>
        </p:txBody>
      </p:sp>
      <p:sp>
        <p:nvSpPr>
          <p:cNvPr id="31" name="Rounded Rectangle 30"/>
          <p:cNvSpPr/>
          <p:nvPr/>
        </p:nvSpPr>
        <p:spPr>
          <a:xfrm>
            <a:off x="6126480" y="3977639"/>
            <a:ext cx="5166360" cy="1051560"/>
          </a:xfrm>
          <a:prstGeom prst="roundRect">
            <a:avLst/>
          </a:prstGeom>
          <a:solidFill>
            <a:srgbClr val="FFFFFF"/>
          </a:solidFill>
          <a:ln w="15240">
            <a:solidFill>
              <a:srgbClr val="2FA8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236208" y="4069079"/>
            <a:ext cx="4946904" cy="228600"/>
          </a:xfrm>
          <a:prstGeom prst="rect">
            <a:avLst/>
          </a:prstGeom>
          <a:noFill/>
        </p:spPr>
        <p:txBody>
          <a:bodyPr wrap="square" anchor="t">
            <a:spAutoFit/>
          </a:bodyPr>
          <a:lstStyle/>
          <a:p>
            <a:pPr algn="l"/>
            <a:r>
              <a:rPr sz="1320" b="1" dirty="0">
                <a:solidFill>
                  <a:srgbClr val="2FA8B8"/>
                </a:solidFill>
                <a:latin typeface="Aptos"/>
              </a:rPr>
              <a:t>Source-status handling</a:t>
            </a:r>
          </a:p>
        </p:txBody>
      </p:sp>
      <p:sp>
        <p:nvSpPr>
          <p:cNvPr id="33" name="TextBox 32"/>
          <p:cNvSpPr txBox="1"/>
          <p:nvPr/>
        </p:nvSpPr>
        <p:spPr>
          <a:xfrm>
            <a:off x="6236208" y="4343400"/>
            <a:ext cx="4946904" cy="577081"/>
          </a:xfrm>
          <a:prstGeom prst="rect">
            <a:avLst/>
          </a:prstGeom>
          <a:noFill/>
        </p:spPr>
        <p:txBody>
          <a:bodyPr wrap="square" anchor="t">
            <a:spAutoFit/>
          </a:bodyPr>
          <a:lstStyle/>
          <a:p>
            <a:r>
              <a:rPr lang="en-US" sz="1040" dirty="0">
                <a:solidFill>
                  <a:srgbClr val="263238"/>
                </a:solidFill>
                <a:latin typeface="Aptos"/>
              </a:rPr>
              <a:t>V30 requested ACTIVE </a:t>
            </a:r>
            <a:r>
              <a:rPr lang="en-US" sz="1040" dirty="0" err="1">
                <a:solidFill>
                  <a:srgbClr val="263238"/>
                </a:solidFill>
                <a:latin typeface="Aptos"/>
              </a:rPr>
              <a:t>GtR</a:t>
            </a:r>
            <a:r>
              <a:rPr lang="en-US" sz="1040" dirty="0">
                <a:solidFill>
                  <a:srgbClr val="263238"/>
                </a:solidFill>
                <a:latin typeface="Aptos"/>
              </a:rPr>
              <a:t> projects, so the validated </a:t>
            </a:r>
            <a:r>
              <a:rPr lang="en-US" sz="1040" dirty="0" err="1">
                <a:solidFill>
                  <a:srgbClr val="263238"/>
                </a:solidFill>
                <a:latin typeface="Aptos"/>
              </a:rPr>
              <a:t>GtR</a:t>
            </a:r>
            <a:r>
              <a:rPr lang="en-US" sz="1040" dirty="0">
                <a:solidFill>
                  <a:srgbClr val="263238"/>
                </a:solidFill>
                <a:latin typeface="Aptos"/>
              </a:rPr>
              <a:t> Bronze snapshot contains ACTIVE records only. Contracts Finder uses awarded-contract evidence, so completed procurement can still provide a valid activity signal.</a:t>
            </a:r>
            <a:endParaRPr sz="1040" dirty="0">
              <a:solidFill>
                <a:srgbClr val="263238"/>
              </a:solidFill>
              <a:latin typeface="Aptos"/>
            </a:endParaRPr>
          </a:p>
        </p:txBody>
      </p:sp>
      <p:sp>
        <p:nvSpPr>
          <p:cNvPr id="34" name="TextBox 33"/>
          <p:cNvSpPr txBox="1"/>
          <p:nvPr/>
        </p:nvSpPr>
        <p:spPr>
          <a:xfrm>
            <a:off x="411480" y="6245352"/>
            <a:ext cx="11155680" cy="215444"/>
          </a:xfrm>
          <a:prstGeom prst="rect">
            <a:avLst/>
          </a:prstGeom>
          <a:noFill/>
        </p:spPr>
        <p:txBody>
          <a:bodyPr wrap="square" anchor="t">
            <a:spAutoFit/>
          </a:bodyPr>
          <a:lstStyle/>
          <a:p>
            <a:r>
              <a:rPr lang="en-US" sz="800" dirty="0">
                <a:solidFill>
                  <a:srgbClr val="657786"/>
                </a:solidFill>
                <a:latin typeface="Aptos"/>
              </a:rPr>
              <a:t>Project evidence: validated 10 August 2026 V30 outputs, SQL checks and Power BI views. </a:t>
            </a:r>
            <a:r>
              <a:rPr sz="800" dirty="0">
                <a:solidFill>
                  <a:srgbClr val="657786"/>
                </a:solidFill>
                <a:latin typeface="Aptos"/>
              </a:rPr>
              <a:t>Academic </a:t>
            </a:r>
            <a:r>
              <a:rPr sz="800" b="0" dirty="0">
                <a:solidFill>
                  <a:srgbClr val="657786"/>
                </a:solidFill>
                <a:latin typeface="Aptos"/>
              </a:rPr>
              <a:t>context: Cvetkov-Iliev et al. (2022); Sharifi &amp; Ahmadzadeh (2025).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09728"/>
          </a:xfrm>
          <a:prstGeom prst="rect">
            <a:avLst/>
          </a:prstGeom>
          <a:solidFill>
            <a:srgbClr val="F2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65176"/>
            <a:ext cx="4389120" cy="256032"/>
          </a:xfrm>
          <a:prstGeom prst="rect">
            <a:avLst/>
          </a:prstGeom>
          <a:noFill/>
        </p:spPr>
        <p:txBody>
          <a:bodyPr wrap="square" lIns="36576" tIns="36576" rIns="36576" bIns="36576" anchor="t">
            <a:spAutoFit/>
          </a:bodyPr>
          <a:lstStyle/>
          <a:p>
            <a:pPr algn="l"/>
            <a:r>
              <a:rPr sz="950" b="1">
                <a:solidFill>
                  <a:srgbClr val="F28C28"/>
                </a:solidFill>
                <a:latin typeface="Aptos"/>
              </a:rPr>
              <a:t>RESULTS</a:t>
            </a:r>
          </a:p>
        </p:txBody>
      </p:sp>
      <p:sp>
        <p:nvSpPr>
          <p:cNvPr id="4" name="TextBox 3"/>
          <p:cNvSpPr txBox="1"/>
          <p:nvPr/>
        </p:nvSpPr>
        <p:spPr>
          <a:xfrm>
            <a:off x="411480" y="530352"/>
            <a:ext cx="11064240" cy="457200"/>
          </a:xfrm>
          <a:prstGeom prst="rect">
            <a:avLst/>
          </a:prstGeom>
          <a:noFill/>
        </p:spPr>
        <p:txBody>
          <a:bodyPr wrap="square" lIns="36576" tIns="36576" rIns="36576" bIns="36576" anchor="t">
            <a:spAutoFit/>
          </a:bodyPr>
          <a:lstStyle/>
          <a:p>
            <a:pPr algn="l"/>
            <a:r>
              <a:rPr sz="2400" b="1" dirty="0">
                <a:solidFill>
                  <a:srgbClr val="16324F"/>
                </a:solidFill>
                <a:latin typeface="Aptos"/>
              </a:rPr>
              <a:t>Why use both methods? Controlled method-level evidence</a:t>
            </a:r>
          </a:p>
        </p:txBody>
      </p:sp>
      <p:sp>
        <p:nvSpPr>
          <p:cNvPr id="5" name="TextBox 4"/>
          <p:cNvSpPr txBox="1"/>
          <p:nvPr/>
        </p:nvSpPr>
        <p:spPr>
          <a:xfrm>
            <a:off x="365760" y="6473952"/>
            <a:ext cx="3657600" cy="164592"/>
          </a:xfrm>
          <a:prstGeom prst="rect">
            <a:avLst/>
          </a:prstGeom>
          <a:noFill/>
        </p:spPr>
        <p:txBody>
          <a:bodyPr wrap="square" lIns="36576" tIns="36576" rIns="36576" bIns="36576" anchor="t">
            <a:spAutoFit/>
          </a:bodyPr>
          <a:lstStyle/>
          <a:p>
            <a:pPr algn="l"/>
            <a:r>
              <a:rPr sz="800" b="0">
                <a:solidFill>
                  <a:srgbClr val="6C7A86"/>
                </a:solidFill>
                <a:latin typeface="Aptos"/>
              </a:rPr>
              <a:t>LD6053 · UG Computing Project</a:t>
            </a:r>
          </a:p>
        </p:txBody>
      </p:sp>
      <p:sp>
        <p:nvSpPr>
          <p:cNvPr id="6" name="TextBox 5"/>
          <p:cNvSpPr txBox="1"/>
          <p:nvPr/>
        </p:nvSpPr>
        <p:spPr>
          <a:xfrm>
            <a:off x="9372600" y="6473952"/>
            <a:ext cx="2331720" cy="164592"/>
          </a:xfrm>
          <a:prstGeom prst="rect">
            <a:avLst/>
          </a:prstGeom>
          <a:noFill/>
        </p:spPr>
        <p:txBody>
          <a:bodyPr wrap="square" lIns="36576" tIns="36576" rIns="36576" bIns="36576" anchor="t">
            <a:spAutoFit/>
          </a:bodyPr>
          <a:lstStyle/>
          <a:p>
            <a:pPr algn="r"/>
            <a:r>
              <a:rPr sz="800" b="0">
                <a:solidFill>
                  <a:srgbClr val="6C7A86"/>
                </a:solidFill>
                <a:latin typeface="Aptos"/>
              </a:rPr>
              <a:t>Jorge Tomas Chabrillon</a:t>
            </a:r>
          </a:p>
        </p:txBody>
      </p:sp>
      <p:sp>
        <p:nvSpPr>
          <p:cNvPr id="7" name="Rounded Rectangle 6"/>
          <p:cNvSpPr/>
          <p:nvPr/>
        </p:nvSpPr>
        <p:spPr>
          <a:xfrm>
            <a:off x="411480" y="1143000"/>
            <a:ext cx="2167128" cy="749808"/>
          </a:xfrm>
          <a:prstGeom prst="roundRect">
            <a:avLst/>
          </a:prstGeom>
          <a:solidFill>
            <a:srgbClr val="FEF3E7"/>
          </a:solidFill>
          <a:ln w="15875">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4632" y="1234440"/>
            <a:ext cx="2020824" cy="412421"/>
          </a:xfrm>
          <a:prstGeom prst="rect">
            <a:avLst/>
          </a:prstGeom>
          <a:noFill/>
        </p:spPr>
        <p:txBody>
          <a:bodyPr wrap="square" lIns="36576" tIns="36576" rIns="36576" bIns="36576" anchor="t">
            <a:spAutoFit/>
          </a:bodyPr>
          <a:lstStyle/>
          <a:p>
            <a:pPr algn="ctr"/>
            <a:r>
              <a:rPr lang="en-US" sz="2200" b="1" dirty="0">
                <a:solidFill>
                  <a:srgbClr val="F28C28"/>
                </a:solidFill>
                <a:latin typeface="Aptos"/>
              </a:rPr>
              <a:t>363</a:t>
            </a:r>
            <a:endParaRPr sz="2200" b="1" dirty="0">
              <a:solidFill>
                <a:srgbClr val="F28C28"/>
              </a:solidFill>
              <a:latin typeface="Aptos"/>
            </a:endParaRPr>
          </a:p>
        </p:txBody>
      </p:sp>
      <p:sp>
        <p:nvSpPr>
          <p:cNvPr id="9" name="TextBox 8"/>
          <p:cNvSpPr txBox="1"/>
          <p:nvPr/>
        </p:nvSpPr>
        <p:spPr>
          <a:xfrm>
            <a:off x="484632" y="1545336"/>
            <a:ext cx="2020824" cy="182880"/>
          </a:xfrm>
          <a:prstGeom prst="rect">
            <a:avLst/>
          </a:prstGeom>
          <a:noFill/>
        </p:spPr>
        <p:txBody>
          <a:bodyPr wrap="square" lIns="36576" tIns="36576" rIns="36576" bIns="36576" anchor="t">
            <a:spAutoFit/>
          </a:bodyPr>
          <a:lstStyle/>
          <a:p>
            <a:pPr algn="ctr"/>
            <a:r>
              <a:rPr sz="960" b="0">
                <a:solidFill>
                  <a:srgbClr val="263238"/>
                </a:solidFill>
                <a:latin typeface="Aptos"/>
              </a:rPr>
              <a:t>Compared organisations</a:t>
            </a:r>
          </a:p>
        </p:txBody>
      </p:sp>
      <p:sp>
        <p:nvSpPr>
          <p:cNvPr id="10" name="Rounded Rectangle 9"/>
          <p:cNvSpPr/>
          <p:nvPr/>
        </p:nvSpPr>
        <p:spPr>
          <a:xfrm>
            <a:off x="2715768" y="1143000"/>
            <a:ext cx="2167128" cy="749808"/>
          </a:xfrm>
          <a:prstGeom prst="roundRect">
            <a:avLst/>
          </a:prstGeom>
          <a:solidFill>
            <a:srgbClr val="E7F4F7"/>
          </a:solidFill>
          <a:ln w="15875">
            <a:solidFill>
              <a:srgbClr val="39A4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88920" y="1234440"/>
            <a:ext cx="2020824" cy="412421"/>
          </a:xfrm>
          <a:prstGeom prst="rect">
            <a:avLst/>
          </a:prstGeom>
          <a:noFill/>
        </p:spPr>
        <p:txBody>
          <a:bodyPr wrap="square" lIns="36576" tIns="36576" rIns="36576" bIns="36576" anchor="t">
            <a:spAutoFit/>
          </a:bodyPr>
          <a:lstStyle/>
          <a:p>
            <a:pPr algn="ctr"/>
            <a:r>
              <a:rPr lang="en-US" sz="2200" b="1" dirty="0">
                <a:solidFill>
                  <a:srgbClr val="39A4B8"/>
                </a:solidFill>
                <a:latin typeface="Aptos"/>
              </a:rPr>
              <a:t>155</a:t>
            </a:r>
            <a:endParaRPr sz="2200" b="1" dirty="0">
              <a:solidFill>
                <a:srgbClr val="39A4B8"/>
              </a:solidFill>
              <a:latin typeface="Aptos"/>
            </a:endParaRPr>
          </a:p>
        </p:txBody>
      </p:sp>
      <p:sp>
        <p:nvSpPr>
          <p:cNvPr id="12" name="TextBox 11"/>
          <p:cNvSpPr txBox="1"/>
          <p:nvPr/>
        </p:nvSpPr>
        <p:spPr>
          <a:xfrm>
            <a:off x="2788920" y="1545336"/>
            <a:ext cx="2020824" cy="227755"/>
          </a:xfrm>
          <a:prstGeom prst="rect">
            <a:avLst/>
          </a:prstGeom>
          <a:noFill/>
        </p:spPr>
        <p:txBody>
          <a:bodyPr wrap="square" lIns="36576" tIns="36576" rIns="36576" bIns="36576" anchor="t">
            <a:spAutoFit/>
          </a:bodyPr>
          <a:lstStyle/>
          <a:p>
            <a:pPr algn="ctr"/>
            <a:r>
              <a:rPr lang="en-US" sz="1000" dirty="0"/>
              <a:t>Fuzzy threshold passes</a:t>
            </a:r>
            <a:endParaRPr sz="960" b="0" dirty="0">
              <a:solidFill>
                <a:srgbClr val="263238"/>
              </a:solidFill>
              <a:latin typeface="Aptos"/>
            </a:endParaRPr>
          </a:p>
        </p:txBody>
      </p:sp>
      <p:sp>
        <p:nvSpPr>
          <p:cNvPr id="13" name="Rounded Rectangle 12"/>
          <p:cNvSpPr/>
          <p:nvPr/>
        </p:nvSpPr>
        <p:spPr>
          <a:xfrm>
            <a:off x="5020056" y="1143000"/>
            <a:ext cx="2167128" cy="749808"/>
          </a:xfrm>
          <a:prstGeom prst="roundRect">
            <a:avLst/>
          </a:prstGeom>
          <a:solidFill>
            <a:srgbClr val="ECF7F0"/>
          </a:solidFill>
          <a:ln w="15875">
            <a:solidFill>
              <a:srgbClr val="59AE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93208" y="1234440"/>
            <a:ext cx="2020824" cy="412421"/>
          </a:xfrm>
          <a:prstGeom prst="rect">
            <a:avLst/>
          </a:prstGeom>
          <a:noFill/>
        </p:spPr>
        <p:txBody>
          <a:bodyPr wrap="square" lIns="36576" tIns="36576" rIns="36576" bIns="36576" anchor="t">
            <a:spAutoFit/>
          </a:bodyPr>
          <a:lstStyle/>
          <a:p>
            <a:pPr algn="ctr"/>
            <a:r>
              <a:rPr lang="en-US" sz="2200" b="1" dirty="0">
                <a:solidFill>
                  <a:srgbClr val="59AE7A"/>
                </a:solidFill>
                <a:latin typeface="Aptos"/>
              </a:rPr>
              <a:t>189</a:t>
            </a:r>
            <a:endParaRPr sz="2200" b="1" dirty="0">
              <a:solidFill>
                <a:srgbClr val="59AE7A"/>
              </a:solidFill>
              <a:latin typeface="Aptos"/>
            </a:endParaRPr>
          </a:p>
        </p:txBody>
      </p:sp>
      <p:sp>
        <p:nvSpPr>
          <p:cNvPr id="15" name="TextBox 14"/>
          <p:cNvSpPr txBox="1"/>
          <p:nvPr/>
        </p:nvSpPr>
        <p:spPr>
          <a:xfrm>
            <a:off x="5093208" y="1545336"/>
            <a:ext cx="2020824" cy="227755"/>
          </a:xfrm>
          <a:prstGeom prst="rect">
            <a:avLst/>
          </a:prstGeom>
          <a:noFill/>
        </p:spPr>
        <p:txBody>
          <a:bodyPr wrap="square" lIns="36576" tIns="36576" rIns="36576" bIns="36576" anchor="t">
            <a:spAutoFit/>
          </a:bodyPr>
          <a:lstStyle/>
          <a:p>
            <a:pPr algn="ctr"/>
            <a:r>
              <a:rPr lang="en-US" sz="1000" dirty="0"/>
              <a:t>TF-IDF threshold passes</a:t>
            </a:r>
            <a:endParaRPr sz="960" b="0" dirty="0">
              <a:solidFill>
                <a:srgbClr val="263238"/>
              </a:solidFill>
              <a:latin typeface="Aptos"/>
            </a:endParaRPr>
          </a:p>
        </p:txBody>
      </p:sp>
      <p:sp>
        <p:nvSpPr>
          <p:cNvPr id="16" name="Rounded Rectangle 15"/>
          <p:cNvSpPr/>
          <p:nvPr/>
        </p:nvSpPr>
        <p:spPr>
          <a:xfrm>
            <a:off x="7324344" y="1143000"/>
            <a:ext cx="2167128" cy="749808"/>
          </a:xfrm>
          <a:prstGeom prst="roundRect">
            <a:avLst/>
          </a:prstGeom>
          <a:solidFill>
            <a:srgbClr val="FEF3E7"/>
          </a:solidFill>
          <a:ln w="15875">
            <a:solidFill>
              <a:srgbClr val="E6B43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97496" y="1234440"/>
            <a:ext cx="2020824" cy="412421"/>
          </a:xfrm>
          <a:prstGeom prst="rect">
            <a:avLst/>
          </a:prstGeom>
          <a:noFill/>
        </p:spPr>
        <p:txBody>
          <a:bodyPr wrap="square" lIns="36576" tIns="36576" rIns="36576" bIns="36576" anchor="t">
            <a:spAutoFit/>
          </a:bodyPr>
          <a:lstStyle/>
          <a:p>
            <a:pPr algn="ctr"/>
            <a:r>
              <a:rPr lang="en-US" sz="2200" b="1" dirty="0">
                <a:solidFill>
                  <a:srgbClr val="E6B437"/>
                </a:solidFill>
                <a:latin typeface="Aptos"/>
              </a:rPr>
              <a:t>188</a:t>
            </a:r>
            <a:endParaRPr sz="2200" b="1" dirty="0">
              <a:solidFill>
                <a:srgbClr val="E6B437"/>
              </a:solidFill>
              <a:latin typeface="Aptos"/>
            </a:endParaRPr>
          </a:p>
        </p:txBody>
      </p:sp>
      <p:sp>
        <p:nvSpPr>
          <p:cNvPr id="18" name="TextBox 17"/>
          <p:cNvSpPr txBox="1"/>
          <p:nvPr/>
        </p:nvSpPr>
        <p:spPr>
          <a:xfrm>
            <a:off x="7397496" y="1545336"/>
            <a:ext cx="2020824" cy="182880"/>
          </a:xfrm>
          <a:prstGeom prst="rect">
            <a:avLst/>
          </a:prstGeom>
          <a:noFill/>
        </p:spPr>
        <p:txBody>
          <a:bodyPr wrap="square" lIns="36576" tIns="36576" rIns="36576" bIns="36576" anchor="t">
            <a:spAutoFit/>
          </a:bodyPr>
          <a:lstStyle/>
          <a:p>
            <a:pPr algn="ctr"/>
            <a:r>
              <a:rPr sz="960" b="0">
                <a:solidFill>
                  <a:srgbClr val="263238"/>
                </a:solidFill>
                <a:latin typeface="Aptos"/>
              </a:rPr>
              <a:t>Same sponsor selected</a:t>
            </a:r>
          </a:p>
        </p:txBody>
      </p:sp>
      <p:sp>
        <p:nvSpPr>
          <p:cNvPr id="19" name="Rounded Rectangle 18"/>
          <p:cNvSpPr/>
          <p:nvPr/>
        </p:nvSpPr>
        <p:spPr>
          <a:xfrm>
            <a:off x="9628632" y="1143000"/>
            <a:ext cx="2167128" cy="749808"/>
          </a:xfrm>
          <a:prstGeom prst="roundRect">
            <a:avLst/>
          </a:prstGeom>
          <a:solidFill>
            <a:srgbClr val="ECF1F5"/>
          </a:solidFill>
          <a:ln w="15875">
            <a:solidFill>
              <a:srgbClr val="16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01784" y="1234440"/>
            <a:ext cx="2020824" cy="412421"/>
          </a:xfrm>
          <a:prstGeom prst="rect">
            <a:avLst/>
          </a:prstGeom>
          <a:noFill/>
        </p:spPr>
        <p:txBody>
          <a:bodyPr wrap="square" lIns="36576" tIns="36576" rIns="36576" bIns="36576" anchor="t">
            <a:spAutoFit/>
          </a:bodyPr>
          <a:lstStyle/>
          <a:p>
            <a:pPr algn="ctr"/>
            <a:r>
              <a:rPr lang="en-US" sz="2200" b="1" dirty="0">
                <a:solidFill>
                  <a:srgbClr val="16324F"/>
                </a:solidFill>
                <a:latin typeface="Aptos"/>
              </a:rPr>
              <a:t>134</a:t>
            </a:r>
            <a:endParaRPr sz="2200" b="1" dirty="0">
              <a:solidFill>
                <a:srgbClr val="16324F"/>
              </a:solidFill>
              <a:latin typeface="Aptos"/>
            </a:endParaRPr>
          </a:p>
        </p:txBody>
      </p:sp>
      <p:sp>
        <p:nvSpPr>
          <p:cNvPr id="21" name="TextBox 20"/>
          <p:cNvSpPr txBox="1"/>
          <p:nvPr/>
        </p:nvSpPr>
        <p:spPr>
          <a:xfrm>
            <a:off x="9701784" y="1545336"/>
            <a:ext cx="2020824" cy="182880"/>
          </a:xfrm>
          <a:prstGeom prst="rect">
            <a:avLst/>
          </a:prstGeom>
          <a:noFill/>
        </p:spPr>
        <p:txBody>
          <a:bodyPr wrap="square" lIns="36576" tIns="36576" rIns="36576" bIns="36576" anchor="t">
            <a:spAutoFit/>
          </a:bodyPr>
          <a:lstStyle/>
          <a:p>
            <a:pPr algn="ctr"/>
            <a:r>
              <a:rPr sz="960" b="0">
                <a:solidFill>
                  <a:srgbClr val="263238"/>
                </a:solidFill>
                <a:latin typeface="Aptos"/>
              </a:rPr>
              <a:t>Finally accepted</a:t>
            </a:r>
          </a:p>
        </p:txBody>
      </p:sp>
      <p:sp>
        <p:nvSpPr>
          <p:cNvPr id="22" name="TextBox 21"/>
          <p:cNvSpPr txBox="1"/>
          <p:nvPr/>
        </p:nvSpPr>
        <p:spPr>
          <a:xfrm>
            <a:off x="502920" y="2167128"/>
            <a:ext cx="2194560" cy="228600"/>
          </a:xfrm>
          <a:prstGeom prst="rect">
            <a:avLst/>
          </a:prstGeom>
          <a:noFill/>
        </p:spPr>
        <p:txBody>
          <a:bodyPr wrap="square" lIns="36576" tIns="36576" rIns="36576" bIns="36576" anchor="t">
            <a:spAutoFit/>
          </a:bodyPr>
          <a:lstStyle/>
          <a:p>
            <a:pPr algn="l"/>
            <a:r>
              <a:rPr sz="1150" b="1">
                <a:solidFill>
                  <a:srgbClr val="16324F"/>
                </a:solidFill>
                <a:latin typeface="Aptos"/>
              </a:rPr>
              <a:t>Source</a:t>
            </a:r>
          </a:p>
        </p:txBody>
      </p:sp>
      <p:sp>
        <p:nvSpPr>
          <p:cNvPr id="23" name="TextBox 22"/>
          <p:cNvSpPr txBox="1"/>
          <p:nvPr/>
        </p:nvSpPr>
        <p:spPr>
          <a:xfrm>
            <a:off x="2880360" y="2167128"/>
            <a:ext cx="1143000" cy="228600"/>
          </a:xfrm>
          <a:prstGeom prst="rect">
            <a:avLst/>
          </a:prstGeom>
          <a:noFill/>
        </p:spPr>
        <p:txBody>
          <a:bodyPr wrap="square" lIns="36576" tIns="36576" rIns="36576" bIns="36576" anchor="t">
            <a:spAutoFit/>
          </a:bodyPr>
          <a:lstStyle/>
          <a:p>
            <a:pPr algn="ctr"/>
            <a:r>
              <a:rPr sz="1150" b="1">
                <a:solidFill>
                  <a:srgbClr val="16324F"/>
                </a:solidFill>
                <a:latin typeface="Aptos"/>
              </a:rPr>
              <a:t>Compared</a:t>
            </a:r>
          </a:p>
        </p:txBody>
      </p:sp>
      <p:sp>
        <p:nvSpPr>
          <p:cNvPr id="24" name="TextBox 23"/>
          <p:cNvSpPr txBox="1"/>
          <p:nvPr/>
        </p:nvSpPr>
        <p:spPr>
          <a:xfrm>
            <a:off x="4251960" y="2167128"/>
            <a:ext cx="1143000" cy="228600"/>
          </a:xfrm>
          <a:prstGeom prst="rect">
            <a:avLst/>
          </a:prstGeom>
          <a:noFill/>
        </p:spPr>
        <p:txBody>
          <a:bodyPr wrap="square" lIns="36576" tIns="36576" rIns="36576" bIns="36576" anchor="t">
            <a:spAutoFit/>
          </a:bodyPr>
          <a:lstStyle/>
          <a:p>
            <a:pPr algn="ctr"/>
            <a:r>
              <a:rPr sz="1150" b="1" dirty="0">
                <a:solidFill>
                  <a:srgbClr val="16324F"/>
                </a:solidFill>
                <a:latin typeface="Aptos"/>
              </a:rPr>
              <a:t>Fuzzy</a:t>
            </a:r>
          </a:p>
        </p:txBody>
      </p:sp>
      <p:sp>
        <p:nvSpPr>
          <p:cNvPr id="25" name="TextBox 24"/>
          <p:cNvSpPr txBox="1"/>
          <p:nvPr/>
        </p:nvSpPr>
        <p:spPr>
          <a:xfrm>
            <a:off x="5577840" y="2167128"/>
            <a:ext cx="1143000" cy="258532"/>
          </a:xfrm>
          <a:prstGeom prst="rect">
            <a:avLst/>
          </a:prstGeom>
          <a:noFill/>
        </p:spPr>
        <p:txBody>
          <a:bodyPr wrap="square" lIns="36576" tIns="36576" rIns="36576" bIns="36576" anchor="t">
            <a:spAutoFit/>
          </a:bodyPr>
          <a:lstStyle/>
          <a:p>
            <a:pPr algn="ctr"/>
            <a:r>
              <a:rPr lang="en-US" sz="1150" b="1" dirty="0">
                <a:solidFill>
                  <a:srgbClr val="16324F"/>
                </a:solidFill>
                <a:latin typeface="Aptos"/>
              </a:rPr>
              <a:t>TF-IDF</a:t>
            </a:r>
            <a:endParaRPr sz="1150" b="1" dirty="0">
              <a:solidFill>
                <a:srgbClr val="16324F"/>
              </a:solidFill>
              <a:latin typeface="Aptos"/>
            </a:endParaRPr>
          </a:p>
        </p:txBody>
      </p:sp>
      <p:sp>
        <p:nvSpPr>
          <p:cNvPr id="26" name="TextBox 25"/>
          <p:cNvSpPr txBox="1"/>
          <p:nvPr/>
        </p:nvSpPr>
        <p:spPr>
          <a:xfrm>
            <a:off x="6903720" y="2167128"/>
            <a:ext cx="1143000" cy="228600"/>
          </a:xfrm>
          <a:prstGeom prst="rect">
            <a:avLst/>
          </a:prstGeom>
          <a:noFill/>
        </p:spPr>
        <p:txBody>
          <a:bodyPr wrap="square" lIns="36576" tIns="36576" rIns="36576" bIns="36576" anchor="t">
            <a:spAutoFit/>
          </a:bodyPr>
          <a:lstStyle/>
          <a:p>
            <a:pPr algn="ctr"/>
            <a:r>
              <a:rPr sz="1150" b="1">
                <a:solidFill>
                  <a:srgbClr val="16324F"/>
                </a:solidFill>
                <a:latin typeface="Aptos"/>
              </a:rPr>
              <a:t>Same</a:t>
            </a:r>
          </a:p>
        </p:txBody>
      </p:sp>
      <p:sp>
        <p:nvSpPr>
          <p:cNvPr id="27" name="TextBox 26"/>
          <p:cNvSpPr txBox="1"/>
          <p:nvPr/>
        </p:nvSpPr>
        <p:spPr>
          <a:xfrm>
            <a:off x="8275320" y="2167128"/>
            <a:ext cx="1143000" cy="228600"/>
          </a:xfrm>
          <a:prstGeom prst="rect">
            <a:avLst/>
          </a:prstGeom>
          <a:noFill/>
        </p:spPr>
        <p:txBody>
          <a:bodyPr wrap="square" lIns="36576" tIns="36576" rIns="36576" bIns="36576" anchor="t">
            <a:spAutoFit/>
          </a:bodyPr>
          <a:lstStyle/>
          <a:p>
            <a:pPr algn="ctr"/>
            <a:r>
              <a:rPr sz="1150" b="1">
                <a:solidFill>
                  <a:srgbClr val="16324F"/>
                </a:solidFill>
                <a:latin typeface="Aptos"/>
              </a:rPr>
              <a:t>Accepted</a:t>
            </a:r>
          </a:p>
        </p:txBody>
      </p:sp>
      <p:sp>
        <p:nvSpPr>
          <p:cNvPr id="28" name="Rectangle 27"/>
          <p:cNvSpPr/>
          <p:nvPr/>
        </p:nvSpPr>
        <p:spPr>
          <a:xfrm>
            <a:off x="457200" y="2468880"/>
            <a:ext cx="9372600" cy="438912"/>
          </a:xfrm>
          <a:prstGeom prst="rect">
            <a:avLst/>
          </a:prstGeom>
          <a:solidFill>
            <a:srgbClr val="F7F9FA"/>
          </a:solidFill>
          <a:ln w="6350">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66928" y="2551176"/>
            <a:ext cx="2011680" cy="228600"/>
          </a:xfrm>
          <a:prstGeom prst="rect">
            <a:avLst/>
          </a:prstGeom>
          <a:noFill/>
        </p:spPr>
        <p:txBody>
          <a:bodyPr wrap="square" lIns="36576" tIns="36576" rIns="36576" bIns="36576" anchor="t">
            <a:spAutoFit/>
          </a:bodyPr>
          <a:lstStyle/>
          <a:p>
            <a:pPr algn="l"/>
            <a:r>
              <a:rPr sz="1120" b="0">
                <a:solidFill>
                  <a:srgbClr val="16324F"/>
                </a:solidFill>
                <a:latin typeface="Aptos"/>
              </a:rPr>
              <a:t>Contracts Finder</a:t>
            </a:r>
          </a:p>
        </p:txBody>
      </p:sp>
      <p:sp>
        <p:nvSpPr>
          <p:cNvPr id="30" name="TextBox 29"/>
          <p:cNvSpPr txBox="1"/>
          <p:nvPr/>
        </p:nvSpPr>
        <p:spPr>
          <a:xfrm>
            <a:off x="2880360" y="2551176"/>
            <a:ext cx="1051560" cy="246221"/>
          </a:xfrm>
          <a:prstGeom prst="rect">
            <a:avLst/>
          </a:prstGeom>
          <a:noFill/>
        </p:spPr>
        <p:txBody>
          <a:bodyPr wrap="square" lIns="36576" tIns="36576" rIns="36576" bIns="36576" anchor="t">
            <a:spAutoFit/>
          </a:bodyPr>
          <a:lstStyle/>
          <a:p>
            <a:pPr algn="ctr"/>
            <a:r>
              <a:rPr lang="en-US" sz="1120" b="0" dirty="0">
                <a:solidFill>
                  <a:srgbClr val="263238"/>
                </a:solidFill>
                <a:latin typeface="Aptos"/>
              </a:rPr>
              <a:t>222</a:t>
            </a:r>
            <a:endParaRPr sz="1120" b="0" dirty="0">
              <a:solidFill>
                <a:srgbClr val="263238"/>
              </a:solidFill>
              <a:latin typeface="Aptos"/>
            </a:endParaRPr>
          </a:p>
        </p:txBody>
      </p:sp>
      <p:sp>
        <p:nvSpPr>
          <p:cNvPr id="31" name="TextBox 30"/>
          <p:cNvSpPr txBox="1"/>
          <p:nvPr/>
        </p:nvSpPr>
        <p:spPr>
          <a:xfrm>
            <a:off x="4206240" y="2551176"/>
            <a:ext cx="1051560" cy="246221"/>
          </a:xfrm>
          <a:prstGeom prst="rect">
            <a:avLst/>
          </a:prstGeom>
          <a:noFill/>
        </p:spPr>
        <p:txBody>
          <a:bodyPr wrap="square" lIns="36576" tIns="36576" rIns="36576" bIns="36576" anchor="t">
            <a:spAutoFit/>
          </a:bodyPr>
          <a:lstStyle/>
          <a:p>
            <a:pPr algn="ctr"/>
            <a:r>
              <a:rPr lang="en-US" sz="1120" b="0" dirty="0">
                <a:solidFill>
                  <a:srgbClr val="263238"/>
                </a:solidFill>
                <a:latin typeface="Aptos"/>
              </a:rPr>
              <a:t>69</a:t>
            </a:r>
            <a:endParaRPr sz="1120" b="0" dirty="0">
              <a:solidFill>
                <a:srgbClr val="263238"/>
              </a:solidFill>
              <a:latin typeface="Aptos"/>
            </a:endParaRPr>
          </a:p>
        </p:txBody>
      </p:sp>
      <p:sp>
        <p:nvSpPr>
          <p:cNvPr id="32" name="TextBox 31"/>
          <p:cNvSpPr txBox="1"/>
          <p:nvPr/>
        </p:nvSpPr>
        <p:spPr>
          <a:xfrm>
            <a:off x="5532120" y="2551176"/>
            <a:ext cx="1051560" cy="246221"/>
          </a:xfrm>
          <a:prstGeom prst="rect">
            <a:avLst/>
          </a:prstGeom>
          <a:noFill/>
        </p:spPr>
        <p:txBody>
          <a:bodyPr wrap="square" lIns="36576" tIns="36576" rIns="36576" bIns="36576" anchor="t">
            <a:spAutoFit/>
          </a:bodyPr>
          <a:lstStyle/>
          <a:p>
            <a:pPr algn="ctr"/>
            <a:r>
              <a:rPr lang="en-US" sz="1120" b="0" dirty="0">
                <a:solidFill>
                  <a:srgbClr val="263238"/>
                </a:solidFill>
                <a:latin typeface="Aptos"/>
              </a:rPr>
              <a:t>96</a:t>
            </a:r>
            <a:endParaRPr sz="1120" b="0" dirty="0">
              <a:solidFill>
                <a:srgbClr val="263238"/>
              </a:solidFill>
              <a:latin typeface="Aptos"/>
            </a:endParaRPr>
          </a:p>
        </p:txBody>
      </p:sp>
      <p:sp>
        <p:nvSpPr>
          <p:cNvPr id="33" name="TextBox 32"/>
          <p:cNvSpPr txBox="1"/>
          <p:nvPr/>
        </p:nvSpPr>
        <p:spPr>
          <a:xfrm>
            <a:off x="6858000" y="2551176"/>
            <a:ext cx="1051560" cy="246221"/>
          </a:xfrm>
          <a:prstGeom prst="rect">
            <a:avLst/>
          </a:prstGeom>
          <a:noFill/>
        </p:spPr>
        <p:txBody>
          <a:bodyPr wrap="square" lIns="36576" tIns="36576" rIns="36576" bIns="36576" anchor="t">
            <a:spAutoFit/>
          </a:bodyPr>
          <a:lstStyle/>
          <a:p>
            <a:pPr algn="ctr"/>
            <a:r>
              <a:rPr lang="en-US" sz="1120" b="0" dirty="0">
                <a:solidFill>
                  <a:srgbClr val="263238"/>
                </a:solidFill>
                <a:latin typeface="Aptos"/>
              </a:rPr>
              <a:t>90</a:t>
            </a:r>
            <a:endParaRPr sz="1120" b="0" dirty="0">
              <a:solidFill>
                <a:srgbClr val="263238"/>
              </a:solidFill>
              <a:latin typeface="Aptos"/>
            </a:endParaRPr>
          </a:p>
        </p:txBody>
      </p:sp>
      <p:sp>
        <p:nvSpPr>
          <p:cNvPr id="34" name="TextBox 33"/>
          <p:cNvSpPr txBox="1"/>
          <p:nvPr/>
        </p:nvSpPr>
        <p:spPr>
          <a:xfrm>
            <a:off x="8183879" y="2551176"/>
            <a:ext cx="1051560" cy="246221"/>
          </a:xfrm>
          <a:prstGeom prst="rect">
            <a:avLst/>
          </a:prstGeom>
          <a:noFill/>
        </p:spPr>
        <p:txBody>
          <a:bodyPr wrap="square" lIns="36576" tIns="36576" rIns="36576" bIns="36576" anchor="t">
            <a:spAutoFit/>
          </a:bodyPr>
          <a:lstStyle/>
          <a:p>
            <a:pPr algn="ctr"/>
            <a:r>
              <a:rPr lang="en-US" sz="1120" b="0" dirty="0">
                <a:solidFill>
                  <a:srgbClr val="263238"/>
                </a:solidFill>
                <a:latin typeface="Aptos"/>
              </a:rPr>
              <a:t>53</a:t>
            </a:r>
            <a:endParaRPr sz="1120" b="0" dirty="0">
              <a:solidFill>
                <a:srgbClr val="263238"/>
              </a:solidFill>
              <a:latin typeface="Aptos"/>
            </a:endParaRPr>
          </a:p>
        </p:txBody>
      </p:sp>
      <p:sp>
        <p:nvSpPr>
          <p:cNvPr id="35" name="Rectangle 34"/>
          <p:cNvSpPr/>
          <p:nvPr/>
        </p:nvSpPr>
        <p:spPr>
          <a:xfrm>
            <a:off x="457200" y="2926080"/>
            <a:ext cx="9372600" cy="438912"/>
          </a:xfrm>
          <a:prstGeom prst="rect">
            <a:avLst/>
          </a:prstGeom>
          <a:solidFill>
            <a:srgbClr val="FFFFFF"/>
          </a:solidFill>
          <a:ln w="6350">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66928" y="3008376"/>
            <a:ext cx="2011680" cy="228600"/>
          </a:xfrm>
          <a:prstGeom prst="rect">
            <a:avLst/>
          </a:prstGeom>
          <a:noFill/>
        </p:spPr>
        <p:txBody>
          <a:bodyPr wrap="square" lIns="36576" tIns="36576" rIns="36576" bIns="36576" anchor="t">
            <a:spAutoFit/>
          </a:bodyPr>
          <a:lstStyle/>
          <a:p>
            <a:pPr algn="l"/>
            <a:r>
              <a:rPr sz="1120" b="0">
                <a:solidFill>
                  <a:srgbClr val="16324F"/>
                </a:solidFill>
                <a:latin typeface="Aptos"/>
              </a:rPr>
              <a:t>Gateway to Research</a:t>
            </a:r>
          </a:p>
        </p:txBody>
      </p:sp>
      <p:sp>
        <p:nvSpPr>
          <p:cNvPr id="37" name="TextBox 36"/>
          <p:cNvSpPr txBox="1"/>
          <p:nvPr/>
        </p:nvSpPr>
        <p:spPr>
          <a:xfrm>
            <a:off x="2880360" y="3008376"/>
            <a:ext cx="1051560" cy="246221"/>
          </a:xfrm>
          <a:prstGeom prst="rect">
            <a:avLst/>
          </a:prstGeom>
          <a:noFill/>
        </p:spPr>
        <p:txBody>
          <a:bodyPr wrap="square" lIns="36576" tIns="36576" rIns="36576" bIns="36576" anchor="t">
            <a:spAutoFit/>
          </a:bodyPr>
          <a:lstStyle/>
          <a:p>
            <a:pPr algn="ctr"/>
            <a:r>
              <a:rPr lang="en-US" sz="1120" b="0" dirty="0">
                <a:solidFill>
                  <a:srgbClr val="263238"/>
                </a:solidFill>
                <a:latin typeface="Aptos"/>
              </a:rPr>
              <a:t>141</a:t>
            </a:r>
            <a:endParaRPr sz="1120" b="0" dirty="0">
              <a:solidFill>
                <a:srgbClr val="263238"/>
              </a:solidFill>
              <a:latin typeface="Aptos"/>
            </a:endParaRPr>
          </a:p>
        </p:txBody>
      </p:sp>
      <p:sp>
        <p:nvSpPr>
          <p:cNvPr id="38" name="TextBox 37"/>
          <p:cNvSpPr txBox="1"/>
          <p:nvPr/>
        </p:nvSpPr>
        <p:spPr>
          <a:xfrm>
            <a:off x="4206240" y="3008376"/>
            <a:ext cx="1051560" cy="246221"/>
          </a:xfrm>
          <a:prstGeom prst="rect">
            <a:avLst/>
          </a:prstGeom>
          <a:noFill/>
        </p:spPr>
        <p:txBody>
          <a:bodyPr wrap="square" lIns="36576" tIns="36576" rIns="36576" bIns="36576" anchor="t">
            <a:spAutoFit/>
          </a:bodyPr>
          <a:lstStyle/>
          <a:p>
            <a:pPr algn="ctr"/>
            <a:r>
              <a:rPr lang="en-US" sz="1120" b="0" dirty="0">
                <a:solidFill>
                  <a:srgbClr val="263238"/>
                </a:solidFill>
                <a:latin typeface="Aptos"/>
              </a:rPr>
              <a:t>86</a:t>
            </a:r>
            <a:endParaRPr sz="1120" b="0" dirty="0">
              <a:solidFill>
                <a:srgbClr val="263238"/>
              </a:solidFill>
              <a:latin typeface="Aptos"/>
            </a:endParaRPr>
          </a:p>
        </p:txBody>
      </p:sp>
      <p:sp>
        <p:nvSpPr>
          <p:cNvPr id="39" name="TextBox 38"/>
          <p:cNvSpPr txBox="1"/>
          <p:nvPr/>
        </p:nvSpPr>
        <p:spPr>
          <a:xfrm>
            <a:off x="5532120" y="3008376"/>
            <a:ext cx="1051560" cy="246221"/>
          </a:xfrm>
          <a:prstGeom prst="rect">
            <a:avLst/>
          </a:prstGeom>
          <a:noFill/>
        </p:spPr>
        <p:txBody>
          <a:bodyPr wrap="square" lIns="36576" tIns="36576" rIns="36576" bIns="36576" anchor="t">
            <a:spAutoFit/>
          </a:bodyPr>
          <a:lstStyle/>
          <a:p>
            <a:pPr algn="ctr"/>
            <a:r>
              <a:rPr lang="en-US" sz="1120" b="0" dirty="0">
                <a:solidFill>
                  <a:srgbClr val="263238"/>
                </a:solidFill>
                <a:latin typeface="Aptos"/>
              </a:rPr>
              <a:t>93</a:t>
            </a:r>
            <a:endParaRPr sz="1120" b="0" dirty="0">
              <a:solidFill>
                <a:srgbClr val="263238"/>
              </a:solidFill>
              <a:latin typeface="Aptos"/>
            </a:endParaRPr>
          </a:p>
        </p:txBody>
      </p:sp>
      <p:sp>
        <p:nvSpPr>
          <p:cNvPr id="40" name="TextBox 39"/>
          <p:cNvSpPr txBox="1"/>
          <p:nvPr/>
        </p:nvSpPr>
        <p:spPr>
          <a:xfrm>
            <a:off x="6858000" y="3008376"/>
            <a:ext cx="1051560" cy="246221"/>
          </a:xfrm>
          <a:prstGeom prst="rect">
            <a:avLst/>
          </a:prstGeom>
          <a:noFill/>
        </p:spPr>
        <p:txBody>
          <a:bodyPr wrap="square" lIns="36576" tIns="36576" rIns="36576" bIns="36576" anchor="t">
            <a:spAutoFit/>
          </a:bodyPr>
          <a:lstStyle/>
          <a:p>
            <a:pPr algn="ctr"/>
            <a:r>
              <a:rPr lang="en-US" sz="1120" b="0" dirty="0">
                <a:solidFill>
                  <a:srgbClr val="263238"/>
                </a:solidFill>
                <a:latin typeface="Aptos"/>
              </a:rPr>
              <a:t>98</a:t>
            </a:r>
            <a:endParaRPr sz="1120" b="0" dirty="0">
              <a:solidFill>
                <a:srgbClr val="263238"/>
              </a:solidFill>
              <a:latin typeface="Aptos"/>
            </a:endParaRPr>
          </a:p>
        </p:txBody>
      </p:sp>
      <p:sp>
        <p:nvSpPr>
          <p:cNvPr id="41" name="TextBox 40"/>
          <p:cNvSpPr txBox="1"/>
          <p:nvPr/>
        </p:nvSpPr>
        <p:spPr>
          <a:xfrm>
            <a:off x="8183879" y="3008376"/>
            <a:ext cx="1051560" cy="246221"/>
          </a:xfrm>
          <a:prstGeom prst="rect">
            <a:avLst/>
          </a:prstGeom>
          <a:noFill/>
        </p:spPr>
        <p:txBody>
          <a:bodyPr wrap="square" lIns="36576" tIns="36576" rIns="36576" bIns="36576" anchor="t">
            <a:spAutoFit/>
          </a:bodyPr>
          <a:lstStyle/>
          <a:p>
            <a:pPr algn="ctr"/>
            <a:r>
              <a:rPr lang="en-US" sz="1120" b="0" dirty="0">
                <a:solidFill>
                  <a:srgbClr val="263238"/>
                </a:solidFill>
                <a:latin typeface="Aptos"/>
              </a:rPr>
              <a:t>81</a:t>
            </a:r>
            <a:endParaRPr sz="1120" b="0" dirty="0">
              <a:solidFill>
                <a:srgbClr val="263238"/>
              </a:solidFill>
              <a:latin typeface="Aptos"/>
            </a:endParaRPr>
          </a:p>
        </p:txBody>
      </p:sp>
      <p:sp>
        <p:nvSpPr>
          <p:cNvPr id="42" name="Rectangle 41"/>
          <p:cNvSpPr/>
          <p:nvPr/>
        </p:nvSpPr>
        <p:spPr>
          <a:xfrm>
            <a:off x="457200" y="3383280"/>
            <a:ext cx="9372600" cy="438912"/>
          </a:xfrm>
          <a:prstGeom prst="rect">
            <a:avLst/>
          </a:prstGeom>
          <a:solidFill>
            <a:srgbClr val="F7F9FA"/>
          </a:solidFill>
          <a:ln w="6350">
            <a:solidFill>
              <a:srgbClr val="D8E0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66928" y="3465576"/>
            <a:ext cx="2011680" cy="228600"/>
          </a:xfrm>
          <a:prstGeom prst="rect">
            <a:avLst/>
          </a:prstGeom>
          <a:noFill/>
        </p:spPr>
        <p:txBody>
          <a:bodyPr wrap="square" lIns="36576" tIns="36576" rIns="36576" bIns="36576" anchor="t">
            <a:spAutoFit/>
          </a:bodyPr>
          <a:lstStyle/>
          <a:p>
            <a:pPr algn="l"/>
            <a:r>
              <a:rPr sz="1120" b="1">
                <a:solidFill>
                  <a:srgbClr val="16324F"/>
                </a:solidFill>
                <a:latin typeface="Aptos"/>
              </a:rPr>
              <a:t>Combined</a:t>
            </a:r>
          </a:p>
        </p:txBody>
      </p:sp>
      <p:sp>
        <p:nvSpPr>
          <p:cNvPr id="44" name="TextBox 43"/>
          <p:cNvSpPr txBox="1"/>
          <p:nvPr/>
        </p:nvSpPr>
        <p:spPr>
          <a:xfrm>
            <a:off x="2880360" y="3465576"/>
            <a:ext cx="1051560" cy="246221"/>
          </a:xfrm>
          <a:prstGeom prst="rect">
            <a:avLst/>
          </a:prstGeom>
          <a:noFill/>
        </p:spPr>
        <p:txBody>
          <a:bodyPr wrap="square" lIns="36576" tIns="36576" rIns="36576" bIns="36576" anchor="t">
            <a:spAutoFit/>
          </a:bodyPr>
          <a:lstStyle/>
          <a:p>
            <a:pPr algn="ctr"/>
            <a:r>
              <a:rPr lang="en-US" sz="1120" b="1" dirty="0">
                <a:solidFill>
                  <a:srgbClr val="263238"/>
                </a:solidFill>
                <a:latin typeface="Aptos"/>
              </a:rPr>
              <a:t>363</a:t>
            </a:r>
            <a:endParaRPr sz="1120" b="1" dirty="0">
              <a:solidFill>
                <a:srgbClr val="263238"/>
              </a:solidFill>
              <a:latin typeface="Aptos"/>
            </a:endParaRPr>
          </a:p>
        </p:txBody>
      </p:sp>
      <p:sp>
        <p:nvSpPr>
          <p:cNvPr id="45" name="TextBox 44"/>
          <p:cNvSpPr txBox="1"/>
          <p:nvPr/>
        </p:nvSpPr>
        <p:spPr>
          <a:xfrm>
            <a:off x="4206240" y="3465576"/>
            <a:ext cx="1051560" cy="246221"/>
          </a:xfrm>
          <a:prstGeom prst="rect">
            <a:avLst/>
          </a:prstGeom>
          <a:noFill/>
        </p:spPr>
        <p:txBody>
          <a:bodyPr wrap="square" lIns="36576" tIns="36576" rIns="36576" bIns="36576" anchor="t">
            <a:spAutoFit/>
          </a:bodyPr>
          <a:lstStyle/>
          <a:p>
            <a:pPr algn="ctr"/>
            <a:r>
              <a:rPr lang="en-US" sz="1120" b="1" dirty="0">
                <a:solidFill>
                  <a:srgbClr val="263238"/>
                </a:solidFill>
                <a:latin typeface="Aptos"/>
              </a:rPr>
              <a:t>155</a:t>
            </a:r>
            <a:endParaRPr sz="1120" b="1" dirty="0">
              <a:solidFill>
                <a:srgbClr val="263238"/>
              </a:solidFill>
              <a:latin typeface="Aptos"/>
            </a:endParaRPr>
          </a:p>
        </p:txBody>
      </p:sp>
      <p:sp>
        <p:nvSpPr>
          <p:cNvPr id="46" name="TextBox 45"/>
          <p:cNvSpPr txBox="1"/>
          <p:nvPr/>
        </p:nvSpPr>
        <p:spPr>
          <a:xfrm>
            <a:off x="5532120" y="3465576"/>
            <a:ext cx="1051560" cy="246221"/>
          </a:xfrm>
          <a:prstGeom prst="rect">
            <a:avLst/>
          </a:prstGeom>
          <a:noFill/>
        </p:spPr>
        <p:txBody>
          <a:bodyPr wrap="square" lIns="36576" tIns="36576" rIns="36576" bIns="36576" anchor="t">
            <a:spAutoFit/>
          </a:bodyPr>
          <a:lstStyle/>
          <a:p>
            <a:pPr algn="ctr"/>
            <a:r>
              <a:rPr lang="en-US" sz="1120" b="1" dirty="0">
                <a:solidFill>
                  <a:srgbClr val="263238"/>
                </a:solidFill>
                <a:latin typeface="Aptos"/>
              </a:rPr>
              <a:t>189</a:t>
            </a:r>
            <a:endParaRPr sz="1120" b="1" dirty="0">
              <a:solidFill>
                <a:srgbClr val="263238"/>
              </a:solidFill>
              <a:latin typeface="Aptos"/>
            </a:endParaRPr>
          </a:p>
        </p:txBody>
      </p:sp>
      <p:sp>
        <p:nvSpPr>
          <p:cNvPr id="47" name="TextBox 46"/>
          <p:cNvSpPr txBox="1"/>
          <p:nvPr/>
        </p:nvSpPr>
        <p:spPr>
          <a:xfrm>
            <a:off x="6858000" y="3465576"/>
            <a:ext cx="1051560" cy="246221"/>
          </a:xfrm>
          <a:prstGeom prst="rect">
            <a:avLst/>
          </a:prstGeom>
          <a:noFill/>
        </p:spPr>
        <p:txBody>
          <a:bodyPr wrap="square" lIns="36576" tIns="36576" rIns="36576" bIns="36576" anchor="t">
            <a:spAutoFit/>
          </a:bodyPr>
          <a:lstStyle/>
          <a:p>
            <a:pPr algn="ctr"/>
            <a:r>
              <a:rPr lang="en-US" sz="1120" b="1" dirty="0">
                <a:solidFill>
                  <a:srgbClr val="263238"/>
                </a:solidFill>
                <a:latin typeface="Aptos"/>
              </a:rPr>
              <a:t>188</a:t>
            </a:r>
            <a:endParaRPr sz="1120" b="1" dirty="0">
              <a:solidFill>
                <a:srgbClr val="263238"/>
              </a:solidFill>
              <a:latin typeface="Aptos"/>
            </a:endParaRPr>
          </a:p>
        </p:txBody>
      </p:sp>
      <p:sp>
        <p:nvSpPr>
          <p:cNvPr id="48" name="TextBox 47"/>
          <p:cNvSpPr txBox="1"/>
          <p:nvPr/>
        </p:nvSpPr>
        <p:spPr>
          <a:xfrm>
            <a:off x="8183879" y="3465576"/>
            <a:ext cx="1051560" cy="246221"/>
          </a:xfrm>
          <a:prstGeom prst="rect">
            <a:avLst/>
          </a:prstGeom>
          <a:noFill/>
        </p:spPr>
        <p:txBody>
          <a:bodyPr wrap="square" lIns="36576" tIns="36576" rIns="36576" bIns="36576" anchor="t">
            <a:spAutoFit/>
          </a:bodyPr>
          <a:lstStyle/>
          <a:p>
            <a:pPr algn="ctr"/>
            <a:r>
              <a:rPr lang="en-US" sz="1120" b="1" dirty="0">
                <a:solidFill>
                  <a:srgbClr val="263238"/>
                </a:solidFill>
                <a:latin typeface="Aptos"/>
              </a:rPr>
              <a:t>134</a:t>
            </a:r>
            <a:endParaRPr sz="1120" b="1" dirty="0">
              <a:solidFill>
                <a:srgbClr val="263238"/>
              </a:solidFill>
              <a:latin typeface="Aptos"/>
            </a:endParaRPr>
          </a:p>
        </p:txBody>
      </p:sp>
      <p:sp>
        <p:nvSpPr>
          <p:cNvPr id="49" name="Rounded Rectangle 48"/>
          <p:cNvSpPr/>
          <p:nvPr/>
        </p:nvSpPr>
        <p:spPr>
          <a:xfrm>
            <a:off x="502920" y="4023360"/>
            <a:ext cx="3456432" cy="1463040"/>
          </a:xfrm>
          <a:prstGeom prst="roundRect">
            <a:avLst/>
          </a:prstGeom>
          <a:solidFill>
            <a:srgbClr val="E7F4F7"/>
          </a:solidFill>
          <a:ln w="15875">
            <a:solidFill>
              <a:srgbClr val="39A4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94360" y="4096512"/>
            <a:ext cx="3273551" cy="289310"/>
          </a:xfrm>
          <a:prstGeom prst="rect">
            <a:avLst/>
          </a:prstGeom>
          <a:noFill/>
        </p:spPr>
        <p:txBody>
          <a:bodyPr wrap="square" lIns="36576" tIns="36576" rIns="36576" bIns="36576" anchor="t">
            <a:spAutoFit/>
          </a:bodyPr>
          <a:lstStyle/>
          <a:p>
            <a:r>
              <a:rPr lang="en-US" sz="1400" b="1" dirty="0">
                <a:solidFill>
                  <a:srgbClr val="39A4B8"/>
                </a:solidFill>
                <a:latin typeface="Aptos"/>
              </a:rPr>
              <a:t>Fuzzy passes</a:t>
            </a:r>
            <a:endParaRPr sz="1400" b="1" dirty="0">
              <a:solidFill>
                <a:srgbClr val="39A4B8"/>
              </a:solidFill>
              <a:latin typeface="Aptos"/>
            </a:endParaRPr>
          </a:p>
        </p:txBody>
      </p:sp>
      <p:sp>
        <p:nvSpPr>
          <p:cNvPr id="51" name="TextBox 50"/>
          <p:cNvSpPr txBox="1"/>
          <p:nvPr/>
        </p:nvSpPr>
        <p:spPr>
          <a:xfrm>
            <a:off x="594360" y="4389120"/>
            <a:ext cx="3273551" cy="1024128"/>
          </a:xfrm>
          <a:prstGeom prst="rect">
            <a:avLst/>
          </a:prstGeom>
          <a:noFill/>
        </p:spPr>
        <p:txBody>
          <a:bodyPr wrap="square" lIns="36576" tIns="36576" rIns="36576" bIns="36576" anchor="t">
            <a:spAutoFit/>
          </a:bodyPr>
          <a:lstStyle/>
          <a:p>
            <a:pPr algn="l"/>
            <a:r>
              <a:rPr sz="1150" b="0">
                <a:solidFill>
                  <a:srgbClr val="263238"/>
                </a:solidFill>
                <a:latin typeface="Aptos"/>
              </a:rPr>
              <a:t>Rule-based token comparison.
Qualifying threshold: 90.
Strong at visible wording and word-order variation.</a:t>
            </a:r>
          </a:p>
        </p:txBody>
      </p:sp>
      <p:sp>
        <p:nvSpPr>
          <p:cNvPr id="52" name="Rounded Rectangle 51"/>
          <p:cNvSpPr/>
          <p:nvPr/>
        </p:nvSpPr>
        <p:spPr>
          <a:xfrm>
            <a:off x="4160520" y="4023360"/>
            <a:ext cx="3456432" cy="1463040"/>
          </a:xfrm>
          <a:prstGeom prst="roundRect">
            <a:avLst/>
          </a:prstGeom>
          <a:solidFill>
            <a:srgbClr val="ECF7F0"/>
          </a:solidFill>
          <a:ln w="15875">
            <a:solidFill>
              <a:srgbClr val="59AE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4251959" y="4096512"/>
            <a:ext cx="3273551" cy="289310"/>
          </a:xfrm>
          <a:prstGeom prst="rect">
            <a:avLst/>
          </a:prstGeom>
          <a:noFill/>
        </p:spPr>
        <p:txBody>
          <a:bodyPr wrap="square" lIns="36576" tIns="36576" rIns="36576" bIns="36576" anchor="t">
            <a:spAutoFit/>
          </a:bodyPr>
          <a:lstStyle/>
          <a:p>
            <a:r>
              <a:rPr lang="en-US" sz="1400" b="1" dirty="0">
                <a:solidFill>
                  <a:srgbClr val="59AE7A"/>
                </a:solidFill>
                <a:latin typeface="Aptos"/>
              </a:rPr>
              <a:t>TF-IDF</a:t>
            </a:r>
            <a:r>
              <a:rPr lang="en-US" sz="1400" dirty="0"/>
              <a:t> </a:t>
            </a:r>
            <a:r>
              <a:rPr lang="en-US" sz="1400" b="1" dirty="0">
                <a:solidFill>
                  <a:srgbClr val="59AE7A"/>
                </a:solidFill>
                <a:latin typeface="Aptos"/>
              </a:rPr>
              <a:t>passes</a:t>
            </a:r>
            <a:endParaRPr sz="1400" b="1" dirty="0">
              <a:solidFill>
                <a:srgbClr val="59AE7A"/>
              </a:solidFill>
              <a:latin typeface="Aptos"/>
            </a:endParaRPr>
          </a:p>
        </p:txBody>
      </p:sp>
      <p:sp>
        <p:nvSpPr>
          <p:cNvPr id="54" name="TextBox 53"/>
          <p:cNvSpPr txBox="1"/>
          <p:nvPr/>
        </p:nvSpPr>
        <p:spPr>
          <a:xfrm>
            <a:off x="4251959" y="4389120"/>
            <a:ext cx="3273551" cy="1024128"/>
          </a:xfrm>
          <a:prstGeom prst="rect">
            <a:avLst/>
          </a:prstGeom>
          <a:noFill/>
        </p:spPr>
        <p:txBody>
          <a:bodyPr wrap="square" lIns="36576" tIns="36576" rIns="36576" bIns="36576" anchor="t">
            <a:spAutoFit/>
          </a:bodyPr>
          <a:lstStyle/>
          <a:p>
            <a:pPr algn="l"/>
            <a:r>
              <a:rPr sz="1120" b="0">
                <a:solidFill>
                  <a:srgbClr val="263238"/>
                </a:solidFill>
                <a:latin typeface="Aptos"/>
              </a:rPr>
              <a:t>TF-IDF vectors + cosine distance + Nearest Neighbours.
Qualifying threshold: 75.
Strong at retrieving the nearest character-pattern match.</a:t>
            </a:r>
          </a:p>
        </p:txBody>
      </p:sp>
      <p:sp>
        <p:nvSpPr>
          <p:cNvPr id="55" name="Rounded Rectangle 54"/>
          <p:cNvSpPr/>
          <p:nvPr/>
        </p:nvSpPr>
        <p:spPr>
          <a:xfrm>
            <a:off x="7818120" y="4023360"/>
            <a:ext cx="3456432" cy="1463040"/>
          </a:xfrm>
          <a:prstGeom prst="roundRect">
            <a:avLst/>
          </a:prstGeom>
          <a:solidFill>
            <a:srgbClr val="FEF3E7"/>
          </a:solidFill>
          <a:ln w="15875">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909560" y="4096512"/>
            <a:ext cx="3273551" cy="274320"/>
          </a:xfrm>
          <a:prstGeom prst="rect">
            <a:avLst/>
          </a:prstGeom>
          <a:noFill/>
        </p:spPr>
        <p:txBody>
          <a:bodyPr wrap="square" lIns="36576" tIns="36576" rIns="36576" bIns="36576" anchor="t">
            <a:spAutoFit/>
          </a:bodyPr>
          <a:lstStyle/>
          <a:p>
            <a:pPr algn="l"/>
            <a:r>
              <a:rPr sz="1400" b="1">
                <a:solidFill>
                  <a:srgbClr val="F28C28"/>
                </a:solidFill>
                <a:latin typeface="Aptos"/>
              </a:rPr>
              <a:t>HYBRID DECISION</a:t>
            </a:r>
          </a:p>
        </p:txBody>
      </p:sp>
      <p:sp>
        <p:nvSpPr>
          <p:cNvPr id="57" name="TextBox 56"/>
          <p:cNvSpPr txBox="1"/>
          <p:nvPr/>
        </p:nvSpPr>
        <p:spPr>
          <a:xfrm>
            <a:off x="7909560" y="4389120"/>
            <a:ext cx="3273551" cy="1024128"/>
          </a:xfrm>
          <a:prstGeom prst="rect">
            <a:avLst/>
          </a:prstGeom>
          <a:noFill/>
        </p:spPr>
        <p:txBody>
          <a:bodyPr wrap="square" lIns="36576" tIns="36576" rIns="36576" bIns="36576" anchor="t">
            <a:spAutoFit/>
          </a:bodyPr>
          <a:lstStyle/>
          <a:p>
            <a:pPr algn="l"/>
            <a:r>
              <a:rPr sz="1110" b="0">
                <a:solidFill>
                  <a:srgbClr val="263238"/>
                </a:solidFill>
                <a:latin typeface="Aptos"/>
              </a:rPr>
              <a:t>Exact names are accepted directly. Non-exact matches require both routes to select the same sponsor and pass thresholds. Uncertain cases are excluded.</a:t>
            </a:r>
          </a:p>
        </p:txBody>
      </p:sp>
      <p:sp>
        <p:nvSpPr>
          <p:cNvPr id="58" name="TextBox 57"/>
          <p:cNvSpPr txBox="1"/>
          <p:nvPr/>
        </p:nvSpPr>
        <p:spPr>
          <a:xfrm>
            <a:off x="411480" y="6236208"/>
            <a:ext cx="11064240" cy="189283"/>
          </a:xfrm>
          <a:prstGeom prst="rect">
            <a:avLst/>
          </a:prstGeom>
          <a:noFill/>
        </p:spPr>
        <p:txBody>
          <a:bodyPr wrap="square" lIns="36576" tIns="36576" rIns="36576" bIns="36576" anchor="t">
            <a:spAutoFit/>
          </a:bodyPr>
          <a:lstStyle/>
          <a:p>
            <a:r>
              <a:rPr lang="en-US" sz="750" dirty="0">
                <a:solidFill>
                  <a:srgbClr val="6C7A86"/>
                </a:solidFill>
                <a:latin typeface="Aptos"/>
              </a:rPr>
              <a:t>Validated 10 August 2026 comparison evidence. Agreement is not accuracy; excluded cases remain auditable.</a:t>
            </a:r>
            <a:endParaRPr sz="750" b="0" dirty="0">
              <a:solidFill>
                <a:srgbClr val="6C7A86"/>
              </a:solidFill>
              <a:latin typeface="Aptos"/>
            </a:endParaRPr>
          </a:p>
        </p:txBody>
      </p:sp>
      <p:sp>
        <p:nvSpPr>
          <p:cNvPr id="60" name="Rounded Rectangle 58">
            <a:extLst>
              <a:ext uri="{FF2B5EF4-FFF2-40B4-BE49-F238E27FC236}">
                <a16:creationId xmlns:a16="http://schemas.microsoft.com/office/drawing/2014/main" id="{36F0B572-0791-0AC4-9A6A-DE9A8C904781}"/>
              </a:ext>
            </a:extLst>
          </p:cNvPr>
          <p:cNvSpPr/>
          <p:nvPr/>
        </p:nvSpPr>
        <p:spPr>
          <a:xfrm>
            <a:off x="566928" y="5596128"/>
            <a:ext cx="10652760" cy="292608"/>
          </a:xfrm>
          <a:prstGeom prst="roundRect">
            <a:avLst/>
          </a:prstGeom>
          <a:solidFill>
            <a:srgbClr val="F4F6F8"/>
          </a:solidFill>
          <a:ln w="10160">
            <a:solidFill>
              <a:srgbClr val="D9E0E6"/>
            </a:solidFill>
          </a:ln>
        </p:spPr>
        <p:style>
          <a:lnRef idx="1">
            <a:schemeClr val="accent1"/>
          </a:lnRef>
          <a:fillRef idx="3">
            <a:schemeClr val="accent1"/>
          </a:fillRef>
          <a:effectRef idx="2">
            <a:schemeClr val="accent1"/>
          </a:effectRef>
          <a:fontRef idx="minor">
            <a:schemeClr val="lt1"/>
          </a:fontRef>
        </p:style>
        <p:txBody>
          <a:bodyPr lIns="73152" tIns="18288" rIns="73152" bIns="18288" rtlCol="0" anchor="ctr"/>
          <a:lstStyle/>
          <a:p>
            <a:pPr algn="ctr"/>
            <a:r>
              <a:rPr lang="en-US" sz="770" b="1" dirty="0">
                <a:solidFill>
                  <a:srgbClr val="B93A3A"/>
                </a:solidFill>
                <a:latin typeface="Aptos"/>
              </a:rPr>
              <a:t>Interpretation: 188 comparisons selected the same sponsor, but only 134 also met all acceptance rules</a:t>
            </a:r>
            <a:endParaRPr sz="770" b="1" dirty="0">
              <a:solidFill>
                <a:srgbClr val="B93A3A"/>
              </a:solidFill>
              <a:latin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28C28"/>
          </a:solidFill>
          <a:ln>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6473952"/>
            <a:ext cx="3657600" cy="164592"/>
          </a:xfrm>
          <a:prstGeom prst="rect">
            <a:avLst/>
          </a:prstGeom>
          <a:noFill/>
        </p:spPr>
        <p:txBody>
          <a:bodyPr wrap="square" anchor="t">
            <a:spAutoFit/>
          </a:bodyPr>
          <a:lstStyle/>
          <a:p>
            <a:pPr algn="l"/>
            <a:r>
              <a:rPr sz="830" b="0">
                <a:solidFill>
                  <a:srgbClr val="657786"/>
                </a:solidFill>
                <a:latin typeface="Aptos"/>
              </a:rPr>
              <a:t>LD6053 · UG Computing Project</a:t>
            </a:r>
          </a:p>
        </p:txBody>
      </p:sp>
      <p:sp>
        <p:nvSpPr>
          <p:cNvPr id="4" name="TextBox 3"/>
          <p:cNvSpPr txBox="1"/>
          <p:nvPr/>
        </p:nvSpPr>
        <p:spPr>
          <a:xfrm>
            <a:off x="9326880" y="6473952"/>
            <a:ext cx="2377440" cy="164592"/>
          </a:xfrm>
          <a:prstGeom prst="rect">
            <a:avLst/>
          </a:prstGeom>
          <a:noFill/>
        </p:spPr>
        <p:txBody>
          <a:bodyPr wrap="square" anchor="t">
            <a:spAutoFit/>
          </a:bodyPr>
          <a:lstStyle/>
          <a:p>
            <a:pPr algn="r"/>
            <a:r>
              <a:rPr sz="830" b="0">
                <a:solidFill>
                  <a:srgbClr val="657786"/>
                </a:solidFill>
                <a:latin typeface="Aptos"/>
              </a:rPr>
              <a:t>Jorge Tomas Chabrillon</a:t>
            </a:r>
          </a:p>
        </p:txBody>
      </p:sp>
      <p:sp>
        <p:nvSpPr>
          <p:cNvPr id="5" name="TextBox 4"/>
          <p:cNvSpPr txBox="1"/>
          <p:nvPr/>
        </p:nvSpPr>
        <p:spPr>
          <a:xfrm>
            <a:off x="411480" y="274320"/>
            <a:ext cx="4389120" cy="201168"/>
          </a:xfrm>
          <a:prstGeom prst="rect">
            <a:avLst/>
          </a:prstGeom>
          <a:noFill/>
        </p:spPr>
        <p:txBody>
          <a:bodyPr wrap="square" anchor="t">
            <a:spAutoFit/>
          </a:bodyPr>
          <a:lstStyle/>
          <a:p>
            <a:pPr algn="l"/>
            <a:r>
              <a:rPr sz="980" b="1">
                <a:solidFill>
                  <a:srgbClr val="F28C28"/>
                </a:solidFill>
                <a:latin typeface="Aptos"/>
              </a:rPr>
              <a:t>DASHBOARD AND DEMONSTRATION</a:t>
            </a:r>
          </a:p>
        </p:txBody>
      </p:sp>
      <p:sp>
        <p:nvSpPr>
          <p:cNvPr id="6" name="TextBox 5"/>
          <p:cNvSpPr txBox="1"/>
          <p:nvPr/>
        </p:nvSpPr>
        <p:spPr>
          <a:xfrm>
            <a:off x="411480" y="501109"/>
            <a:ext cx="11155680" cy="411480"/>
          </a:xfrm>
          <a:prstGeom prst="rect">
            <a:avLst/>
          </a:prstGeom>
          <a:noFill/>
        </p:spPr>
        <p:txBody>
          <a:bodyPr wrap="square" anchor="t">
            <a:spAutoFit/>
          </a:bodyPr>
          <a:lstStyle/>
          <a:p>
            <a:pPr algn="l"/>
            <a:r>
              <a:rPr sz="2400" b="1">
                <a:solidFill>
                  <a:srgbClr val="16324F"/>
                </a:solidFill>
                <a:latin typeface="Aptos"/>
              </a:rPr>
              <a:t>Power BI dashboard: implemented overview evidence</a:t>
            </a:r>
          </a:p>
        </p:txBody>
      </p:sp>
      <p:sp>
        <p:nvSpPr>
          <p:cNvPr id="10" name="Rounded Rectangle 9"/>
          <p:cNvSpPr/>
          <p:nvPr/>
        </p:nvSpPr>
        <p:spPr>
          <a:xfrm>
            <a:off x="8247889" y="1625595"/>
            <a:ext cx="3200400" cy="1097280"/>
          </a:xfrm>
          <a:prstGeom prst="roundRect">
            <a:avLst/>
          </a:prstGeom>
          <a:solidFill>
            <a:srgbClr val="FFFFFF"/>
          </a:solidFill>
          <a:ln w="15240">
            <a:solidFill>
              <a:srgbClr val="1632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57616" y="1717035"/>
            <a:ext cx="2980944" cy="228600"/>
          </a:xfrm>
          <a:prstGeom prst="rect">
            <a:avLst/>
          </a:prstGeom>
          <a:noFill/>
        </p:spPr>
        <p:txBody>
          <a:bodyPr wrap="square" anchor="t">
            <a:spAutoFit/>
          </a:bodyPr>
          <a:lstStyle/>
          <a:p>
            <a:r>
              <a:rPr>
                <a:latin typeface="Aptos"/>
              </a:rPr>
              <a:t>Overview page purpose</a:t>
            </a:r>
          </a:p>
        </p:txBody>
      </p:sp>
      <p:sp>
        <p:nvSpPr>
          <p:cNvPr id="12" name="TextBox 11"/>
          <p:cNvSpPr txBox="1"/>
          <p:nvPr/>
        </p:nvSpPr>
        <p:spPr>
          <a:xfrm>
            <a:off x="8357616" y="1991355"/>
            <a:ext cx="2980944" cy="658368"/>
          </a:xfrm>
          <a:prstGeom prst="rect">
            <a:avLst/>
          </a:prstGeom>
          <a:noFill/>
        </p:spPr>
        <p:txBody>
          <a:bodyPr wrap="square" anchor="t">
            <a:spAutoFit/>
          </a:bodyPr>
          <a:lstStyle/>
          <a:p>
            <a:r>
              <a:rPr sz="1060" dirty="0">
                <a:latin typeface="Aptos"/>
              </a:rPr>
              <a:t>Combines accepted Contracts Finder and </a:t>
            </a:r>
            <a:r>
              <a:rPr sz="1060" dirty="0" err="1">
                <a:latin typeface="Aptos"/>
              </a:rPr>
              <a:t>GtR</a:t>
            </a:r>
            <a:r>
              <a:rPr sz="1060" dirty="0">
                <a:latin typeface="Aptos"/>
              </a:rPr>
              <a:t> evidence and provides the main entry point for employer research.</a:t>
            </a:r>
          </a:p>
        </p:txBody>
      </p:sp>
      <p:sp>
        <p:nvSpPr>
          <p:cNvPr id="13" name="Rounded Rectangle 12"/>
          <p:cNvSpPr/>
          <p:nvPr/>
        </p:nvSpPr>
        <p:spPr>
          <a:xfrm>
            <a:off x="8247889" y="2997195"/>
            <a:ext cx="3200400" cy="1143000"/>
          </a:xfrm>
          <a:prstGeom prst="roundRect">
            <a:avLst/>
          </a:prstGeom>
          <a:solidFill>
            <a:srgbClr val="FFFFFF"/>
          </a:solidFill>
          <a:ln w="15240">
            <a:solidFill>
              <a:srgbClr val="0F6B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57616" y="3088635"/>
            <a:ext cx="2980944" cy="338554"/>
          </a:xfrm>
          <a:prstGeom prst="rect">
            <a:avLst/>
          </a:prstGeom>
          <a:noFill/>
        </p:spPr>
        <p:txBody>
          <a:bodyPr wrap="square" anchor="t">
            <a:spAutoFit/>
          </a:bodyPr>
          <a:lstStyle/>
          <a:p>
            <a:r>
              <a:rPr lang="en-US" sz="1600" dirty="0">
                <a:latin typeface="Aptos"/>
              </a:rPr>
              <a:t>What the values mean</a:t>
            </a:r>
            <a:endParaRPr sz="1600" dirty="0">
              <a:latin typeface="Aptos"/>
            </a:endParaRPr>
          </a:p>
        </p:txBody>
      </p:sp>
      <p:sp>
        <p:nvSpPr>
          <p:cNvPr id="15" name="TextBox 14"/>
          <p:cNvSpPr txBox="1"/>
          <p:nvPr/>
        </p:nvSpPr>
        <p:spPr>
          <a:xfrm>
            <a:off x="8357616" y="3362955"/>
            <a:ext cx="2980944" cy="900246"/>
          </a:xfrm>
          <a:prstGeom prst="rect">
            <a:avLst/>
          </a:prstGeom>
          <a:noFill/>
        </p:spPr>
        <p:txBody>
          <a:bodyPr wrap="square" anchor="t">
            <a:spAutoFit/>
          </a:bodyPr>
          <a:lstStyle/>
          <a:p>
            <a:r>
              <a:rPr lang="en-US" sz="1050" dirty="0"/>
              <a:t>Cards count accepted evidence rows, not unique </a:t>
            </a:r>
            <a:r>
              <a:rPr lang="en-US" sz="1050" dirty="0" err="1"/>
              <a:t>organisations</a:t>
            </a:r>
            <a:r>
              <a:rPr lang="en-US" sz="1050" dirty="0"/>
              <a:t>. Each row preserves source </a:t>
            </a:r>
            <a:r>
              <a:rPr lang="en-US" sz="1050" dirty="0" err="1"/>
              <a:t>organisation</a:t>
            </a:r>
            <a:r>
              <a:rPr lang="en-US" sz="1050" dirty="0"/>
              <a:t>, matched sponsor, sponsor route and funding evidence.</a:t>
            </a:r>
          </a:p>
          <a:p>
            <a:endParaRPr sz="1050" dirty="0">
              <a:latin typeface="Aptos"/>
            </a:endParaRPr>
          </a:p>
        </p:txBody>
      </p:sp>
      <p:sp>
        <p:nvSpPr>
          <p:cNvPr id="16" name="Rounded Rectangle 15"/>
          <p:cNvSpPr/>
          <p:nvPr/>
        </p:nvSpPr>
        <p:spPr>
          <a:xfrm>
            <a:off x="8247889" y="4441947"/>
            <a:ext cx="3200400" cy="1170432"/>
          </a:xfrm>
          <a:prstGeom prst="roundRect">
            <a:avLst/>
          </a:prstGeom>
          <a:solidFill>
            <a:srgbClr val="FFFFFF"/>
          </a:solidFill>
          <a:ln w="15240">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57616" y="4533387"/>
            <a:ext cx="2980944" cy="228600"/>
          </a:xfrm>
          <a:prstGeom prst="rect">
            <a:avLst/>
          </a:prstGeom>
          <a:noFill/>
        </p:spPr>
        <p:txBody>
          <a:bodyPr wrap="square" anchor="t">
            <a:spAutoFit/>
          </a:bodyPr>
          <a:lstStyle/>
          <a:p>
            <a:r>
              <a:rPr>
                <a:latin typeface="Aptos"/>
              </a:rPr>
              <a:t>How to interpret it</a:t>
            </a:r>
          </a:p>
        </p:txBody>
      </p:sp>
      <p:sp>
        <p:nvSpPr>
          <p:cNvPr id="18" name="TextBox 17"/>
          <p:cNvSpPr txBox="1"/>
          <p:nvPr/>
        </p:nvSpPr>
        <p:spPr>
          <a:xfrm>
            <a:off x="8357616" y="4807707"/>
            <a:ext cx="2980944" cy="738664"/>
          </a:xfrm>
          <a:prstGeom prst="rect">
            <a:avLst/>
          </a:prstGeom>
          <a:noFill/>
        </p:spPr>
        <p:txBody>
          <a:bodyPr wrap="square" anchor="t">
            <a:spAutoFit/>
          </a:bodyPr>
          <a:lstStyle/>
          <a:p>
            <a:r>
              <a:rPr lang="en-US" sz="1050" dirty="0"/>
              <a:t>Funding and sponsor status are research signals only. In the dashboard, “ML” is the SQL label for accepted non-exact hybrid matches; match confidence is not verified accuracy.</a:t>
            </a:r>
          </a:p>
        </p:txBody>
      </p:sp>
      <p:sp>
        <p:nvSpPr>
          <p:cNvPr id="19" name="TextBox 18"/>
          <p:cNvSpPr txBox="1"/>
          <p:nvPr/>
        </p:nvSpPr>
        <p:spPr>
          <a:xfrm>
            <a:off x="411480" y="6245009"/>
            <a:ext cx="11155680" cy="323165"/>
          </a:xfrm>
          <a:prstGeom prst="rect">
            <a:avLst/>
          </a:prstGeom>
          <a:noFill/>
        </p:spPr>
        <p:txBody>
          <a:bodyPr wrap="square" anchor="t">
            <a:spAutoFit/>
          </a:bodyPr>
          <a:lstStyle/>
          <a:p>
            <a:r>
              <a:rPr sz="750" dirty="0">
                <a:latin typeface="Aptos"/>
              </a:rPr>
              <a:t>Operational Power BI screenshot. </a:t>
            </a:r>
            <a:endParaRPr lang="en-US" sz="750" dirty="0">
              <a:latin typeface="Aptos"/>
            </a:endParaRPr>
          </a:p>
          <a:p>
            <a:r>
              <a:rPr sz="750" dirty="0">
                <a:latin typeface="Aptos"/>
              </a:rPr>
              <a:t>The controlled evaluation figures are reported separately on the results slides.</a:t>
            </a:r>
          </a:p>
        </p:txBody>
      </p:sp>
      <p:pic>
        <p:nvPicPr>
          <p:cNvPr id="9" name="Picture 8">
            <a:extLst>
              <a:ext uri="{FF2B5EF4-FFF2-40B4-BE49-F238E27FC236}">
                <a16:creationId xmlns:a16="http://schemas.microsoft.com/office/drawing/2014/main" id="{66BCEDB1-E704-7F5D-F2DE-B4EB83D6FE37}"/>
              </a:ext>
            </a:extLst>
          </p:cNvPr>
          <p:cNvPicPr>
            <a:picLocks noChangeAspect="1"/>
          </p:cNvPicPr>
          <p:nvPr/>
        </p:nvPicPr>
        <p:blipFill>
          <a:blip r:embed="rId2"/>
          <a:stretch>
            <a:fillRect/>
          </a:stretch>
        </p:blipFill>
        <p:spPr>
          <a:xfrm>
            <a:off x="365760" y="1001545"/>
            <a:ext cx="6200775" cy="3157514"/>
          </a:xfrm>
          <a:prstGeom prst="rect">
            <a:avLst/>
          </a:prstGeom>
        </p:spPr>
      </p:pic>
      <p:pic>
        <p:nvPicPr>
          <p:cNvPr id="22" name="Picture 21">
            <a:extLst>
              <a:ext uri="{FF2B5EF4-FFF2-40B4-BE49-F238E27FC236}">
                <a16:creationId xmlns:a16="http://schemas.microsoft.com/office/drawing/2014/main" id="{89367BA2-B253-95F6-217D-39040B1EBEA8}"/>
              </a:ext>
            </a:extLst>
          </p:cNvPr>
          <p:cNvPicPr>
            <a:picLocks noChangeAspect="1"/>
          </p:cNvPicPr>
          <p:nvPr/>
        </p:nvPicPr>
        <p:blipFill>
          <a:blip r:embed="rId3"/>
          <a:stretch>
            <a:fillRect/>
          </a:stretch>
        </p:blipFill>
        <p:spPr>
          <a:xfrm>
            <a:off x="3086100" y="3506063"/>
            <a:ext cx="4861560" cy="260328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28C28"/>
          </a:solidFill>
          <a:ln>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6473952"/>
            <a:ext cx="3657600" cy="164592"/>
          </a:xfrm>
          <a:prstGeom prst="rect">
            <a:avLst/>
          </a:prstGeom>
          <a:noFill/>
        </p:spPr>
        <p:txBody>
          <a:bodyPr wrap="square" anchor="t">
            <a:spAutoFit/>
          </a:bodyPr>
          <a:lstStyle/>
          <a:p>
            <a:pPr algn="l"/>
            <a:r>
              <a:rPr sz="830" b="0">
                <a:solidFill>
                  <a:srgbClr val="657786"/>
                </a:solidFill>
                <a:latin typeface="Aptos"/>
              </a:rPr>
              <a:t>LD6053 · UG Computing Project</a:t>
            </a:r>
          </a:p>
        </p:txBody>
      </p:sp>
      <p:sp>
        <p:nvSpPr>
          <p:cNvPr id="4" name="TextBox 3"/>
          <p:cNvSpPr txBox="1"/>
          <p:nvPr/>
        </p:nvSpPr>
        <p:spPr>
          <a:xfrm>
            <a:off x="9326880" y="6473952"/>
            <a:ext cx="2377440" cy="164592"/>
          </a:xfrm>
          <a:prstGeom prst="rect">
            <a:avLst/>
          </a:prstGeom>
          <a:noFill/>
        </p:spPr>
        <p:txBody>
          <a:bodyPr wrap="square" anchor="t">
            <a:spAutoFit/>
          </a:bodyPr>
          <a:lstStyle/>
          <a:p>
            <a:pPr algn="r"/>
            <a:r>
              <a:rPr sz="830" b="0">
                <a:solidFill>
                  <a:srgbClr val="657786"/>
                </a:solidFill>
                <a:latin typeface="Aptos"/>
              </a:rPr>
              <a:t>Jorge Tomas Chabrillon</a:t>
            </a:r>
          </a:p>
        </p:txBody>
      </p:sp>
      <p:sp>
        <p:nvSpPr>
          <p:cNvPr id="5" name="TextBox 4"/>
          <p:cNvSpPr txBox="1"/>
          <p:nvPr/>
        </p:nvSpPr>
        <p:spPr>
          <a:xfrm>
            <a:off x="411480" y="274320"/>
            <a:ext cx="4389120" cy="201168"/>
          </a:xfrm>
          <a:prstGeom prst="rect">
            <a:avLst/>
          </a:prstGeom>
          <a:noFill/>
        </p:spPr>
        <p:txBody>
          <a:bodyPr wrap="square" anchor="t">
            <a:spAutoFit/>
          </a:bodyPr>
          <a:lstStyle/>
          <a:p>
            <a:pPr algn="l"/>
            <a:r>
              <a:rPr sz="980" b="1">
                <a:solidFill>
                  <a:srgbClr val="F28C28"/>
                </a:solidFill>
                <a:latin typeface="Aptos"/>
              </a:rPr>
              <a:t>DASHBOARD AND DEMONSTRATION</a:t>
            </a:r>
          </a:p>
        </p:txBody>
      </p:sp>
      <p:sp>
        <p:nvSpPr>
          <p:cNvPr id="6" name="TextBox 5"/>
          <p:cNvSpPr txBox="1"/>
          <p:nvPr/>
        </p:nvSpPr>
        <p:spPr>
          <a:xfrm>
            <a:off x="411480" y="530352"/>
            <a:ext cx="11155680" cy="411480"/>
          </a:xfrm>
          <a:prstGeom prst="rect">
            <a:avLst/>
          </a:prstGeom>
          <a:noFill/>
        </p:spPr>
        <p:txBody>
          <a:bodyPr wrap="square" anchor="t">
            <a:spAutoFit/>
          </a:bodyPr>
          <a:lstStyle/>
          <a:p>
            <a:pPr algn="l"/>
            <a:r>
              <a:rPr sz="2400" b="1">
                <a:solidFill>
                  <a:srgbClr val="16324F"/>
                </a:solidFill>
                <a:latin typeface="Aptos"/>
              </a:rPr>
              <a:t>Implemented Power BI evidence pages</a:t>
            </a:r>
          </a:p>
        </p:txBody>
      </p:sp>
      <p:sp>
        <p:nvSpPr>
          <p:cNvPr id="23" name="Rounded Rectangle 22"/>
          <p:cNvSpPr/>
          <p:nvPr/>
        </p:nvSpPr>
        <p:spPr>
          <a:xfrm>
            <a:off x="502920" y="1143000"/>
            <a:ext cx="5138928" cy="2148840"/>
          </a:xfrm>
          <a:prstGeom prst="roundRect">
            <a:avLst/>
          </a:prstGeom>
          <a:solidFill>
            <a:srgbClr val="FFFFFF"/>
          </a:solidFill>
          <a:ln w="15875">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p:cNvPicPr>
            <a:picLocks noChangeAspect="1"/>
          </p:cNvPicPr>
          <p:nvPr/>
        </p:nvPicPr>
        <p:blipFill>
          <a:blip r:embed="rId2"/>
          <a:srcRect/>
          <a:stretch/>
        </p:blipFill>
        <p:spPr>
          <a:xfrm>
            <a:off x="554673" y="1295918"/>
            <a:ext cx="3020631" cy="1688072"/>
          </a:xfrm>
          <a:prstGeom prst="rect">
            <a:avLst/>
          </a:prstGeom>
        </p:spPr>
      </p:pic>
      <p:sp>
        <p:nvSpPr>
          <p:cNvPr id="25" name="TextBox 24"/>
          <p:cNvSpPr txBox="1"/>
          <p:nvPr/>
        </p:nvSpPr>
        <p:spPr>
          <a:xfrm>
            <a:off x="3529584" y="1494044"/>
            <a:ext cx="2286000" cy="274320"/>
          </a:xfrm>
          <a:prstGeom prst="rect">
            <a:avLst/>
          </a:prstGeom>
          <a:noFill/>
        </p:spPr>
        <p:txBody>
          <a:bodyPr wrap="square" lIns="36576" tIns="36576" rIns="36576" bIns="36576" anchor="t">
            <a:spAutoFit/>
          </a:bodyPr>
          <a:lstStyle/>
          <a:p>
            <a:pPr algn="l"/>
            <a:r>
              <a:rPr sz="1400" b="1" dirty="0">
                <a:solidFill>
                  <a:srgbClr val="F28C28"/>
                </a:solidFill>
                <a:latin typeface="Aptos"/>
              </a:rPr>
              <a:t>Overview</a:t>
            </a:r>
          </a:p>
        </p:txBody>
      </p:sp>
      <p:sp>
        <p:nvSpPr>
          <p:cNvPr id="26" name="TextBox 25"/>
          <p:cNvSpPr txBox="1"/>
          <p:nvPr/>
        </p:nvSpPr>
        <p:spPr>
          <a:xfrm>
            <a:off x="3575304" y="1700598"/>
            <a:ext cx="2286000" cy="757130"/>
          </a:xfrm>
          <a:prstGeom prst="rect">
            <a:avLst/>
          </a:prstGeom>
          <a:noFill/>
        </p:spPr>
        <p:txBody>
          <a:bodyPr wrap="square" lIns="36576" tIns="36576" rIns="36576" bIns="36576" anchor="t">
            <a:spAutoFit/>
          </a:bodyPr>
          <a:lstStyle/>
          <a:p>
            <a:pPr algn="l"/>
            <a:r>
              <a:rPr sz="1110" b="0" dirty="0">
                <a:solidFill>
                  <a:srgbClr val="263238"/>
                </a:solidFill>
                <a:latin typeface="Aptos"/>
              </a:rPr>
              <a:t>Combined accepted evidence</a:t>
            </a:r>
            <a:endParaRPr lang="en-US" sz="1110" b="0" dirty="0">
              <a:solidFill>
                <a:srgbClr val="263238"/>
              </a:solidFill>
              <a:latin typeface="Aptos"/>
            </a:endParaRPr>
          </a:p>
          <a:p>
            <a:pPr marL="171450" indent="-171450" algn="l">
              <a:buFont typeface="Arial" panose="020B0604020202020204" pitchFamily="34" charset="0"/>
              <a:buChar char="•"/>
            </a:pPr>
            <a:r>
              <a:rPr lang="en-US" sz="1110" dirty="0">
                <a:solidFill>
                  <a:srgbClr val="263238"/>
                </a:solidFill>
                <a:latin typeface="Aptos"/>
              </a:rPr>
              <a:t>H</a:t>
            </a:r>
            <a:r>
              <a:rPr sz="1110" b="0" dirty="0">
                <a:solidFill>
                  <a:srgbClr val="263238"/>
                </a:solidFill>
                <a:latin typeface="Aptos"/>
              </a:rPr>
              <a:t>eadline counts
</a:t>
            </a:r>
            <a:r>
              <a:rPr lang="en-US" sz="1110" b="0" dirty="0" err="1">
                <a:solidFill>
                  <a:srgbClr val="263238"/>
                </a:solidFill>
                <a:latin typeface="Aptos"/>
              </a:rPr>
              <a:t>O</a:t>
            </a:r>
            <a:r>
              <a:rPr sz="1110" b="0" dirty="0" err="1">
                <a:solidFill>
                  <a:srgbClr val="263238"/>
                </a:solidFill>
                <a:latin typeface="Aptos"/>
              </a:rPr>
              <a:t>rganisation</a:t>
            </a:r>
            <a:r>
              <a:rPr sz="1110" b="0" dirty="0">
                <a:solidFill>
                  <a:srgbClr val="263238"/>
                </a:solidFill>
                <a:latin typeface="Aptos"/>
              </a:rPr>
              <a:t> and sponsor context</a:t>
            </a:r>
          </a:p>
        </p:txBody>
      </p:sp>
      <p:sp>
        <p:nvSpPr>
          <p:cNvPr id="27" name="Rounded Rectangle 26"/>
          <p:cNvSpPr/>
          <p:nvPr/>
        </p:nvSpPr>
        <p:spPr>
          <a:xfrm>
            <a:off x="6080760" y="1143000"/>
            <a:ext cx="5138928" cy="2148840"/>
          </a:xfrm>
          <a:prstGeom prst="roundRect">
            <a:avLst/>
          </a:prstGeom>
          <a:solidFill>
            <a:srgbClr val="FFFFFF"/>
          </a:solidFill>
          <a:ln w="15875">
            <a:solidFill>
              <a:srgbClr val="39A4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8" name="Picture 27"/>
          <p:cNvPicPr>
            <a:picLocks noChangeAspect="1"/>
          </p:cNvPicPr>
          <p:nvPr/>
        </p:nvPicPr>
        <p:blipFill>
          <a:blip r:embed="rId3"/>
          <a:srcRect/>
          <a:stretch/>
        </p:blipFill>
        <p:spPr>
          <a:xfrm>
            <a:off x="6190487" y="1254063"/>
            <a:ext cx="3001137" cy="1695448"/>
          </a:xfrm>
          <a:prstGeom prst="rect">
            <a:avLst/>
          </a:prstGeom>
        </p:spPr>
      </p:pic>
      <p:sp>
        <p:nvSpPr>
          <p:cNvPr id="29" name="TextBox 28"/>
          <p:cNvSpPr txBox="1"/>
          <p:nvPr/>
        </p:nvSpPr>
        <p:spPr>
          <a:xfrm>
            <a:off x="9293352" y="1261439"/>
            <a:ext cx="2286000" cy="274320"/>
          </a:xfrm>
          <a:prstGeom prst="rect">
            <a:avLst/>
          </a:prstGeom>
          <a:noFill/>
        </p:spPr>
        <p:txBody>
          <a:bodyPr wrap="square" lIns="36576" tIns="36576" rIns="36576" bIns="36576" anchor="t">
            <a:spAutoFit/>
          </a:bodyPr>
          <a:lstStyle/>
          <a:p>
            <a:pPr algn="l"/>
            <a:r>
              <a:rPr sz="1400" b="1" dirty="0">
                <a:solidFill>
                  <a:srgbClr val="39A4B8"/>
                </a:solidFill>
                <a:latin typeface="Aptos"/>
              </a:rPr>
              <a:t>Contracts Finder</a:t>
            </a:r>
          </a:p>
        </p:txBody>
      </p:sp>
      <p:sp>
        <p:nvSpPr>
          <p:cNvPr id="30" name="TextBox 29"/>
          <p:cNvSpPr txBox="1"/>
          <p:nvPr/>
        </p:nvSpPr>
        <p:spPr>
          <a:xfrm>
            <a:off x="9281160" y="2212988"/>
            <a:ext cx="2286000" cy="586314"/>
          </a:xfrm>
          <a:prstGeom prst="rect">
            <a:avLst/>
          </a:prstGeom>
          <a:noFill/>
        </p:spPr>
        <p:txBody>
          <a:bodyPr wrap="square" lIns="36576" tIns="36576" rIns="36576" bIns="36576" anchor="t">
            <a:spAutoFit/>
          </a:bodyPr>
          <a:lstStyle/>
          <a:p>
            <a:pPr algn="l"/>
            <a:r>
              <a:rPr sz="1110" b="0" dirty="0">
                <a:solidFill>
                  <a:srgbClr val="263238"/>
                </a:solidFill>
                <a:latin typeface="Aptos"/>
              </a:rPr>
              <a:t>Award evidence only</a:t>
            </a:r>
            <a:endParaRPr lang="en-US" sz="1110" b="0" dirty="0">
              <a:solidFill>
                <a:srgbClr val="263238"/>
              </a:solidFill>
              <a:latin typeface="Aptos"/>
            </a:endParaRPr>
          </a:p>
          <a:p>
            <a:pPr marL="171450" indent="-171450" algn="l">
              <a:buFont typeface="Arial" panose="020B0604020202020204" pitchFamily="34" charset="0"/>
              <a:buChar char="•"/>
            </a:pPr>
            <a:r>
              <a:rPr lang="en-US" sz="1110" b="0" dirty="0">
                <a:solidFill>
                  <a:srgbClr val="263238"/>
                </a:solidFill>
                <a:latin typeface="Aptos"/>
              </a:rPr>
              <a:t>C</a:t>
            </a:r>
            <a:r>
              <a:rPr sz="1110" b="0" dirty="0">
                <a:solidFill>
                  <a:srgbClr val="263238"/>
                </a:solidFill>
                <a:latin typeface="Aptos"/>
              </a:rPr>
              <a:t>ontract value/date
</a:t>
            </a:r>
            <a:r>
              <a:rPr lang="en-US" sz="1110" dirty="0">
                <a:solidFill>
                  <a:srgbClr val="263238"/>
                </a:solidFill>
                <a:latin typeface="Aptos"/>
              </a:rPr>
              <a:t>S</a:t>
            </a:r>
            <a:r>
              <a:rPr sz="1110" b="0" dirty="0">
                <a:solidFill>
                  <a:srgbClr val="263238"/>
                </a:solidFill>
                <a:latin typeface="Aptos"/>
              </a:rPr>
              <a:t>upplier, route and town</a:t>
            </a:r>
          </a:p>
        </p:txBody>
      </p:sp>
      <p:sp>
        <p:nvSpPr>
          <p:cNvPr id="31" name="Rounded Rectangle 30"/>
          <p:cNvSpPr/>
          <p:nvPr/>
        </p:nvSpPr>
        <p:spPr>
          <a:xfrm>
            <a:off x="502920" y="3675887"/>
            <a:ext cx="5138928" cy="2148840"/>
          </a:xfrm>
          <a:prstGeom prst="roundRect">
            <a:avLst/>
          </a:prstGeom>
          <a:solidFill>
            <a:srgbClr val="FFFFFF"/>
          </a:solidFill>
          <a:ln w="15875">
            <a:solidFill>
              <a:srgbClr val="59AE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2" name="Picture 31"/>
          <p:cNvPicPr>
            <a:picLocks noChangeAspect="1"/>
          </p:cNvPicPr>
          <p:nvPr/>
        </p:nvPicPr>
        <p:blipFill>
          <a:blip r:embed="rId4"/>
          <a:srcRect/>
          <a:stretch/>
        </p:blipFill>
        <p:spPr>
          <a:xfrm>
            <a:off x="523906" y="3756617"/>
            <a:ext cx="2950814" cy="1672210"/>
          </a:xfrm>
          <a:prstGeom prst="rect">
            <a:avLst/>
          </a:prstGeom>
        </p:spPr>
      </p:pic>
      <p:sp>
        <p:nvSpPr>
          <p:cNvPr id="33" name="TextBox 32"/>
          <p:cNvSpPr txBox="1"/>
          <p:nvPr/>
        </p:nvSpPr>
        <p:spPr>
          <a:xfrm>
            <a:off x="3634740" y="3895197"/>
            <a:ext cx="2286000" cy="274320"/>
          </a:xfrm>
          <a:prstGeom prst="rect">
            <a:avLst/>
          </a:prstGeom>
          <a:noFill/>
        </p:spPr>
        <p:txBody>
          <a:bodyPr wrap="square" lIns="36576" tIns="36576" rIns="36576" bIns="36576" anchor="t">
            <a:spAutoFit/>
          </a:bodyPr>
          <a:lstStyle/>
          <a:p>
            <a:pPr algn="l"/>
            <a:r>
              <a:rPr sz="1400" b="1" dirty="0">
                <a:solidFill>
                  <a:srgbClr val="59AE7A"/>
                </a:solidFill>
                <a:latin typeface="Aptos"/>
              </a:rPr>
              <a:t>Gateway to Research</a:t>
            </a:r>
          </a:p>
        </p:txBody>
      </p:sp>
      <p:sp>
        <p:nvSpPr>
          <p:cNvPr id="34" name="TextBox 33"/>
          <p:cNvSpPr txBox="1"/>
          <p:nvPr/>
        </p:nvSpPr>
        <p:spPr>
          <a:xfrm>
            <a:off x="3474720" y="4327206"/>
            <a:ext cx="2286000" cy="586314"/>
          </a:xfrm>
          <a:prstGeom prst="rect">
            <a:avLst/>
          </a:prstGeom>
          <a:noFill/>
        </p:spPr>
        <p:txBody>
          <a:bodyPr wrap="square" lIns="36576" tIns="36576" rIns="36576" bIns="36576" anchor="t">
            <a:spAutoFit/>
          </a:bodyPr>
          <a:lstStyle/>
          <a:p>
            <a:pPr algn="l"/>
            <a:r>
              <a:rPr sz="1110" b="0" dirty="0">
                <a:solidFill>
                  <a:srgbClr val="263238"/>
                </a:solidFill>
                <a:latin typeface="Aptos"/>
              </a:rPr>
              <a:t>ACTIVE research evidence</a:t>
            </a:r>
            <a:endParaRPr lang="en-US" sz="1110" b="0" dirty="0">
              <a:solidFill>
                <a:srgbClr val="263238"/>
              </a:solidFill>
              <a:latin typeface="Aptos"/>
            </a:endParaRPr>
          </a:p>
          <a:p>
            <a:pPr marL="171450" indent="-171450" algn="l">
              <a:buFont typeface="Arial" panose="020B0604020202020204" pitchFamily="34" charset="0"/>
              <a:buChar char="•"/>
            </a:pPr>
            <a:r>
              <a:rPr lang="en-US" sz="1110" b="0" dirty="0">
                <a:solidFill>
                  <a:srgbClr val="263238"/>
                </a:solidFill>
                <a:latin typeface="Aptos"/>
              </a:rPr>
              <a:t>P</a:t>
            </a:r>
            <a:r>
              <a:rPr sz="1110" b="0" dirty="0">
                <a:solidFill>
                  <a:srgbClr val="263238"/>
                </a:solidFill>
                <a:latin typeface="Aptos"/>
              </a:rPr>
              <a:t>roject title/start date
</a:t>
            </a:r>
            <a:r>
              <a:rPr lang="en-US" sz="1110" b="0" dirty="0">
                <a:solidFill>
                  <a:srgbClr val="263238"/>
                </a:solidFill>
                <a:latin typeface="Aptos"/>
              </a:rPr>
              <a:t>L</a:t>
            </a:r>
            <a:r>
              <a:rPr sz="1110" b="0" dirty="0">
                <a:solidFill>
                  <a:srgbClr val="263238"/>
                </a:solidFill>
                <a:latin typeface="Aptos"/>
              </a:rPr>
              <a:t>ead </a:t>
            </a:r>
            <a:r>
              <a:rPr sz="1110" b="0" dirty="0" err="1">
                <a:solidFill>
                  <a:srgbClr val="263238"/>
                </a:solidFill>
                <a:latin typeface="Aptos"/>
              </a:rPr>
              <a:t>organisation</a:t>
            </a:r>
            <a:r>
              <a:rPr sz="1110" b="0" dirty="0">
                <a:solidFill>
                  <a:srgbClr val="263238"/>
                </a:solidFill>
                <a:latin typeface="Aptos"/>
              </a:rPr>
              <a:t> and sponsor</a:t>
            </a:r>
          </a:p>
        </p:txBody>
      </p:sp>
      <p:sp>
        <p:nvSpPr>
          <p:cNvPr id="35" name="Rounded Rectangle 34"/>
          <p:cNvSpPr/>
          <p:nvPr/>
        </p:nvSpPr>
        <p:spPr>
          <a:xfrm>
            <a:off x="6080760" y="3675887"/>
            <a:ext cx="5138928" cy="2148840"/>
          </a:xfrm>
          <a:prstGeom prst="roundRect">
            <a:avLst/>
          </a:prstGeom>
          <a:solidFill>
            <a:srgbClr val="FFFFFF"/>
          </a:solidFill>
          <a:ln w="15875">
            <a:solidFill>
              <a:srgbClr val="D962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p:cNvPicPr>
            <a:picLocks noChangeAspect="1"/>
          </p:cNvPicPr>
          <p:nvPr/>
        </p:nvPicPr>
        <p:blipFill>
          <a:blip r:embed="rId5"/>
          <a:srcRect/>
          <a:stretch/>
        </p:blipFill>
        <p:spPr>
          <a:xfrm>
            <a:off x="6199632" y="3869290"/>
            <a:ext cx="3230135" cy="1812286"/>
          </a:xfrm>
          <a:prstGeom prst="rect">
            <a:avLst/>
          </a:prstGeom>
        </p:spPr>
      </p:pic>
      <p:sp>
        <p:nvSpPr>
          <p:cNvPr id="37" name="TextBox 36"/>
          <p:cNvSpPr txBox="1"/>
          <p:nvPr/>
        </p:nvSpPr>
        <p:spPr>
          <a:xfrm>
            <a:off x="9429767" y="3840482"/>
            <a:ext cx="2286000" cy="274320"/>
          </a:xfrm>
          <a:prstGeom prst="rect">
            <a:avLst/>
          </a:prstGeom>
          <a:noFill/>
        </p:spPr>
        <p:txBody>
          <a:bodyPr wrap="square" lIns="36576" tIns="36576" rIns="36576" bIns="36576" anchor="t">
            <a:spAutoFit/>
          </a:bodyPr>
          <a:lstStyle/>
          <a:p>
            <a:pPr algn="l"/>
            <a:r>
              <a:rPr sz="1400" b="1" dirty="0">
                <a:solidFill>
                  <a:srgbClr val="D96262"/>
                </a:solidFill>
                <a:latin typeface="Aptos"/>
              </a:rPr>
              <a:t>Data Quality</a:t>
            </a:r>
          </a:p>
        </p:txBody>
      </p:sp>
      <p:sp>
        <p:nvSpPr>
          <p:cNvPr id="38" name="TextBox 37"/>
          <p:cNvSpPr txBox="1"/>
          <p:nvPr/>
        </p:nvSpPr>
        <p:spPr>
          <a:xfrm>
            <a:off x="9382094" y="4224529"/>
            <a:ext cx="2286000" cy="1112612"/>
          </a:xfrm>
          <a:prstGeom prst="rect">
            <a:avLst/>
          </a:prstGeom>
          <a:noFill/>
        </p:spPr>
        <p:txBody>
          <a:bodyPr wrap="square" lIns="36576" tIns="36576" rIns="36576" bIns="36576" anchor="t">
            <a:spAutoFit/>
          </a:bodyPr>
          <a:lstStyle/>
          <a:p>
            <a:r>
              <a:rPr sz="1110" b="0" dirty="0">
                <a:solidFill>
                  <a:srgbClr val="263238"/>
                </a:solidFill>
                <a:latin typeface="Aptos"/>
              </a:rPr>
              <a:t>Evaluation and audit</a:t>
            </a:r>
            <a:endParaRPr lang="en-US" sz="1110" b="0" dirty="0">
              <a:solidFill>
                <a:srgbClr val="263238"/>
              </a:solidFill>
              <a:latin typeface="Aptos"/>
            </a:endParaRPr>
          </a:p>
          <a:p>
            <a:pPr marL="171450" indent="-171450">
              <a:buFont typeface="Arial" panose="020B0604020202020204" pitchFamily="34" charset="0"/>
              <a:buChar char="•"/>
            </a:pPr>
            <a:r>
              <a:rPr lang="en-US" sz="1110" dirty="0">
                <a:solidFill>
                  <a:srgbClr val="263238"/>
                </a:solidFill>
                <a:latin typeface="Aptos"/>
              </a:rPr>
              <a:t>Fuzzy vs TF-IDF candidates</a:t>
            </a:r>
            <a:r>
              <a:rPr sz="1110" dirty="0">
                <a:solidFill>
                  <a:srgbClr val="263238"/>
                </a:solidFill>
                <a:latin typeface="Aptos"/>
              </a:rPr>
              <a:t>
</a:t>
            </a:r>
            <a:r>
              <a:rPr lang="en-US" sz="1110" dirty="0">
                <a:solidFill>
                  <a:srgbClr val="263238"/>
                </a:solidFill>
                <a:latin typeface="Aptos"/>
              </a:rPr>
              <a:t>A</a:t>
            </a:r>
            <a:r>
              <a:rPr sz="1110" dirty="0">
                <a:solidFill>
                  <a:srgbClr val="263238"/>
                </a:solidFill>
                <a:latin typeface="Aptos"/>
              </a:rPr>
              <a:t>greement</a:t>
            </a:r>
            <a:r>
              <a:rPr sz="1110" b="0" dirty="0">
                <a:solidFill>
                  <a:srgbClr val="263238"/>
                </a:solidFill>
                <a:latin typeface="Aptos"/>
              </a:rPr>
              <a:t>, exclusions </a:t>
            </a:r>
            <a:endParaRPr lang="en-US" sz="1110" b="0" dirty="0">
              <a:solidFill>
                <a:srgbClr val="263238"/>
              </a:solidFill>
              <a:latin typeface="Aptos"/>
            </a:endParaRPr>
          </a:p>
          <a:p>
            <a:r>
              <a:rPr sz="1110" b="0" dirty="0">
                <a:solidFill>
                  <a:srgbClr val="263238"/>
                </a:solidFill>
                <a:latin typeface="Aptos"/>
              </a:rPr>
              <a:t>and</a:t>
            </a:r>
            <a:r>
              <a:rPr lang="en-US" sz="1110" b="0" dirty="0">
                <a:solidFill>
                  <a:srgbClr val="263238"/>
                </a:solidFill>
                <a:latin typeface="Aptos"/>
              </a:rPr>
              <a:t> </a:t>
            </a:r>
            <a:r>
              <a:rPr sz="1110" b="0" dirty="0">
                <a:solidFill>
                  <a:srgbClr val="263238"/>
                </a:solidFill>
                <a:latin typeface="Aptos"/>
              </a:rPr>
              <a:t>threshol</a:t>
            </a:r>
            <a:r>
              <a:rPr lang="en-US" sz="1110" b="0" dirty="0">
                <a:solidFill>
                  <a:srgbClr val="263238"/>
                </a:solidFill>
                <a:latin typeface="Aptos"/>
              </a:rPr>
              <a:t>ds</a:t>
            </a:r>
          </a:p>
          <a:p>
            <a:pPr marL="171450" indent="-171450">
              <a:buFont typeface="Arial" panose="020B0604020202020204" pitchFamily="34" charset="0"/>
              <a:buChar char="•"/>
            </a:pPr>
            <a:r>
              <a:rPr lang="en-US" sz="1110" dirty="0">
                <a:solidFill>
                  <a:srgbClr val="263238"/>
                </a:solidFill>
                <a:latin typeface="Aptos"/>
              </a:rPr>
              <a:t>Primarily technical audit; supports user trust</a:t>
            </a:r>
          </a:p>
        </p:txBody>
      </p:sp>
      <p:sp>
        <p:nvSpPr>
          <p:cNvPr id="39" name="TextBox 38"/>
          <p:cNvSpPr txBox="1"/>
          <p:nvPr/>
        </p:nvSpPr>
        <p:spPr>
          <a:xfrm>
            <a:off x="640080" y="6050851"/>
            <a:ext cx="10927080" cy="196977"/>
          </a:xfrm>
          <a:prstGeom prst="rect">
            <a:avLst/>
          </a:prstGeom>
          <a:noFill/>
        </p:spPr>
        <p:txBody>
          <a:bodyPr wrap="square" lIns="36576" tIns="36576" rIns="36576" bIns="36576" anchor="ctr">
            <a:spAutoFit/>
          </a:bodyPr>
          <a:lstStyle/>
          <a:p>
            <a:r>
              <a:rPr lang="en-US" sz="750" dirty="0">
                <a:latin typeface="Aptos"/>
              </a:rPr>
              <a:t>Validated 10 August snapshot. Future pipeline runs can update the values, while the page purposes and matching rules remain unchanged</a:t>
            </a:r>
            <a:r>
              <a:rPr lang="en-US" sz="800" dirty="0"/>
              <a:t>.</a:t>
            </a:r>
            <a:endParaRPr sz="750" dirty="0">
              <a:latin typeface="Apto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F28C28"/>
          </a:solidFill>
          <a:ln>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6473952"/>
            <a:ext cx="3657600" cy="164592"/>
          </a:xfrm>
          <a:prstGeom prst="rect">
            <a:avLst/>
          </a:prstGeom>
          <a:noFill/>
        </p:spPr>
        <p:txBody>
          <a:bodyPr wrap="square" anchor="t">
            <a:spAutoFit/>
          </a:bodyPr>
          <a:lstStyle/>
          <a:p>
            <a:pPr algn="l"/>
            <a:r>
              <a:rPr sz="830" b="0">
                <a:solidFill>
                  <a:srgbClr val="657786"/>
                </a:solidFill>
                <a:latin typeface="Aptos"/>
              </a:rPr>
              <a:t>LD6053 · UG Computing Project</a:t>
            </a:r>
          </a:p>
        </p:txBody>
      </p:sp>
      <p:sp>
        <p:nvSpPr>
          <p:cNvPr id="4" name="TextBox 3"/>
          <p:cNvSpPr txBox="1"/>
          <p:nvPr/>
        </p:nvSpPr>
        <p:spPr>
          <a:xfrm>
            <a:off x="9326880" y="6473952"/>
            <a:ext cx="2377440" cy="164592"/>
          </a:xfrm>
          <a:prstGeom prst="rect">
            <a:avLst/>
          </a:prstGeom>
          <a:noFill/>
        </p:spPr>
        <p:txBody>
          <a:bodyPr wrap="square" anchor="t">
            <a:spAutoFit/>
          </a:bodyPr>
          <a:lstStyle/>
          <a:p>
            <a:pPr algn="r"/>
            <a:r>
              <a:rPr sz="830" b="0">
                <a:solidFill>
                  <a:srgbClr val="657786"/>
                </a:solidFill>
                <a:latin typeface="Aptos"/>
              </a:rPr>
              <a:t>Jorge Tomas Chabrillon</a:t>
            </a:r>
          </a:p>
        </p:txBody>
      </p:sp>
      <p:sp>
        <p:nvSpPr>
          <p:cNvPr id="5" name="TextBox 4"/>
          <p:cNvSpPr txBox="1"/>
          <p:nvPr/>
        </p:nvSpPr>
        <p:spPr>
          <a:xfrm>
            <a:off x="411480" y="274320"/>
            <a:ext cx="4389120" cy="201168"/>
          </a:xfrm>
          <a:prstGeom prst="rect">
            <a:avLst/>
          </a:prstGeom>
          <a:noFill/>
        </p:spPr>
        <p:txBody>
          <a:bodyPr wrap="square" anchor="t">
            <a:spAutoFit/>
          </a:bodyPr>
          <a:lstStyle/>
          <a:p>
            <a:pPr algn="l"/>
            <a:r>
              <a:rPr sz="980" b="1">
                <a:solidFill>
                  <a:srgbClr val="F28C28"/>
                </a:solidFill>
                <a:latin typeface="Aptos"/>
              </a:rPr>
              <a:t>CONCLUSION</a:t>
            </a:r>
          </a:p>
        </p:txBody>
      </p:sp>
      <p:sp>
        <p:nvSpPr>
          <p:cNvPr id="6" name="TextBox 5"/>
          <p:cNvSpPr txBox="1"/>
          <p:nvPr/>
        </p:nvSpPr>
        <p:spPr>
          <a:xfrm>
            <a:off x="411480" y="530352"/>
            <a:ext cx="11155680" cy="411480"/>
          </a:xfrm>
          <a:prstGeom prst="rect">
            <a:avLst/>
          </a:prstGeom>
          <a:noFill/>
        </p:spPr>
        <p:txBody>
          <a:bodyPr wrap="square" anchor="t">
            <a:spAutoFit/>
          </a:bodyPr>
          <a:lstStyle/>
          <a:p>
            <a:pPr algn="l"/>
            <a:r>
              <a:rPr sz="2400" b="1">
                <a:solidFill>
                  <a:srgbClr val="16324F"/>
                </a:solidFill>
                <a:latin typeface="Aptos"/>
              </a:rPr>
              <a:t>Evaluation, contribution and reflection</a:t>
            </a:r>
          </a:p>
        </p:txBody>
      </p:sp>
      <p:sp>
        <p:nvSpPr>
          <p:cNvPr id="28" name="Rounded Rectangle 27"/>
          <p:cNvSpPr/>
          <p:nvPr/>
        </p:nvSpPr>
        <p:spPr>
          <a:xfrm>
            <a:off x="502920" y="1143000"/>
            <a:ext cx="3456432" cy="932688"/>
          </a:xfrm>
          <a:prstGeom prst="roundRect">
            <a:avLst/>
          </a:prstGeom>
          <a:solidFill>
            <a:srgbClr val="ECF7F0"/>
          </a:solidFill>
          <a:ln w="15875">
            <a:solidFill>
              <a:srgbClr val="59AE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 y="1216152"/>
            <a:ext cx="3273551" cy="274320"/>
          </a:xfrm>
          <a:prstGeom prst="rect">
            <a:avLst/>
          </a:prstGeom>
          <a:noFill/>
        </p:spPr>
        <p:txBody>
          <a:bodyPr wrap="square" lIns="36576" tIns="36576" rIns="36576" bIns="36576" anchor="t">
            <a:spAutoFit/>
          </a:bodyPr>
          <a:lstStyle/>
          <a:p>
            <a:pPr algn="l"/>
            <a:r>
              <a:rPr sz="1350" b="1">
                <a:solidFill>
                  <a:srgbClr val="59AE7A"/>
                </a:solidFill>
                <a:latin typeface="Aptos"/>
              </a:rPr>
              <a:t>Contribution</a:t>
            </a:r>
          </a:p>
        </p:txBody>
      </p:sp>
      <p:sp>
        <p:nvSpPr>
          <p:cNvPr id="30" name="TextBox 29"/>
          <p:cNvSpPr txBox="1"/>
          <p:nvPr/>
        </p:nvSpPr>
        <p:spPr>
          <a:xfrm>
            <a:off x="594360" y="1508760"/>
            <a:ext cx="3273551" cy="493776"/>
          </a:xfrm>
          <a:prstGeom prst="rect">
            <a:avLst/>
          </a:prstGeom>
          <a:noFill/>
        </p:spPr>
        <p:txBody>
          <a:bodyPr wrap="square" lIns="36576" tIns="36576" rIns="36576" bIns="36576" anchor="t">
            <a:spAutoFit/>
          </a:bodyPr>
          <a:lstStyle/>
          <a:p>
            <a:pPr algn="l"/>
            <a:r>
              <a:rPr sz="1040" b="0">
                <a:solidFill>
                  <a:srgbClr val="263238"/>
                </a:solidFill>
                <a:latin typeface="Aptos"/>
              </a:rPr>
              <a:t>A reproducible pipeline that joins public-funding evidence to sponsor capability while keeping uncertainty visible.</a:t>
            </a:r>
          </a:p>
        </p:txBody>
      </p:sp>
      <p:sp>
        <p:nvSpPr>
          <p:cNvPr id="31" name="Rounded Rectangle 30"/>
          <p:cNvSpPr/>
          <p:nvPr/>
        </p:nvSpPr>
        <p:spPr>
          <a:xfrm>
            <a:off x="4160520" y="1143000"/>
            <a:ext cx="3456432" cy="932688"/>
          </a:xfrm>
          <a:prstGeom prst="roundRect">
            <a:avLst/>
          </a:prstGeom>
          <a:solidFill>
            <a:srgbClr val="FCEEEE"/>
          </a:solidFill>
          <a:ln w="15875">
            <a:solidFill>
              <a:srgbClr val="D962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251959" y="1216152"/>
            <a:ext cx="3273551" cy="274320"/>
          </a:xfrm>
          <a:prstGeom prst="rect">
            <a:avLst/>
          </a:prstGeom>
          <a:noFill/>
        </p:spPr>
        <p:txBody>
          <a:bodyPr wrap="square" lIns="36576" tIns="36576" rIns="36576" bIns="36576" anchor="t">
            <a:spAutoFit/>
          </a:bodyPr>
          <a:lstStyle/>
          <a:p>
            <a:pPr algn="l"/>
            <a:r>
              <a:rPr sz="1350" b="1">
                <a:solidFill>
                  <a:srgbClr val="D96262"/>
                </a:solidFill>
                <a:latin typeface="Aptos"/>
              </a:rPr>
              <a:t>Main limitations</a:t>
            </a:r>
          </a:p>
        </p:txBody>
      </p:sp>
      <p:sp>
        <p:nvSpPr>
          <p:cNvPr id="33" name="TextBox 32"/>
          <p:cNvSpPr txBox="1"/>
          <p:nvPr/>
        </p:nvSpPr>
        <p:spPr>
          <a:xfrm>
            <a:off x="4251959" y="1508760"/>
            <a:ext cx="3273551" cy="493776"/>
          </a:xfrm>
          <a:prstGeom prst="rect">
            <a:avLst/>
          </a:prstGeom>
          <a:noFill/>
        </p:spPr>
        <p:txBody>
          <a:bodyPr wrap="square" lIns="36576" tIns="36576" rIns="36576" bIns="36576" anchor="t">
            <a:spAutoFit/>
          </a:bodyPr>
          <a:lstStyle/>
          <a:p>
            <a:pPr algn="l"/>
            <a:r>
              <a:rPr sz="1040" b="0">
                <a:solidFill>
                  <a:srgbClr val="263238"/>
                </a:solidFill>
                <a:latin typeface="Aptos"/>
              </a:rPr>
              <a:t>No labelled ground truth or participant usability study; API scope is bounded; funding does not prove recruitment.</a:t>
            </a:r>
          </a:p>
        </p:txBody>
      </p:sp>
      <p:sp>
        <p:nvSpPr>
          <p:cNvPr id="34" name="Rounded Rectangle 33"/>
          <p:cNvSpPr/>
          <p:nvPr/>
        </p:nvSpPr>
        <p:spPr>
          <a:xfrm>
            <a:off x="7818120" y="1143000"/>
            <a:ext cx="3456432" cy="932688"/>
          </a:xfrm>
          <a:prstGeom prst="roundRect">
            <a:avLst/>
          </a:prstGeom>
          <a:solidFill>
            <a:srgbClr val="E7F4F7"/>
          </a:solidFill>
          <a:ln w="15875">
            <a:solidFill>
              <a:srgbClr val="39A4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909560" y="1216152"/>
            <a:ext cx="3273551" cy="274320"/>
          </a:xfrm>
          <a:prstGeom prst="rect">
            <a:avLst/>
          </a:prstGeom>
          <a:noFill/>
        </p:spPr>
        <p:txBody>
          <a:bodyPr wrap="square" lIns="36576" tIns="36576" rIns="36576" bIns="36576" anchor="t">
            <a:spAutoFit/>
          </a:bodyPr>
          <a:lstStyle/>
          <a:p>
            <a:pPr algn="l"/>
            <a:r>
              <a:rPr sz="1350" b="1">
                <a:solidFill>
                  <a:srgbClr val="39A4B8"/>
                </a:solidFill>
                <a:latin typeface="Aptos"/>
              </a:rPr>
              <a:t>Professional relevance</a:t>
            </a:r>
          </a:p>
        </p:txBody>
      </p:sp>
      <p:sp>
        <p:nvSpPr>
          <p:cNvPr id="36" name="TextBox 35"/>
          <p:cNvSpPr txBox="1"/>
          <p:nvPr/>
        </p:nvSpPr>
        <p:spPr>
          <a:xfrm>
            <a:off x="7909560" y="1508760"/>
            <a:ext cx="3273551" cy="493776"/>
          </a:xfrm>
          <a:prstGeom prst="rect">
            <a:avLst/>
          </a:prstGeom>
          <a:noFill/>
        </p:spPr>
        <p:txBody>
          <a:bodyPr wrap="square" lIns="36576" tIns="36576" rIns="36576" bIns="36576" anchor="t">
            <a:spAutoFit/>
          </a:bodyPr>
          <a:lstStyle/>
          <a:p>
            <a:pPr algn="l"/>
            <a:r>
              <a:rPr sz="1019" b="0">
                <a:solidFill>
                  <a:srgbClr val="263238"/>
                </a:solidFill>
                <a:latin typeface="Aptos"/>
              </a:rPr>
              <a:t>Extended my SQL/business-analysis background into Power BI, reproducible data engineering and transparent entity resolution.</a:t>
            </a:r>
          </a:p>
        </p:txBody>
      </p:sp>
      <p:sp>
        <p:nvSpPr>
          <p:cNvPr id="37" name="Rounded Rectangle 36"/>
          <p:cNvSpPr/>
          <p:nvPr/>
        </p:nvSpPr>
        <p:spPr>
          <a:xfrm>
            <a:off x="530352" y="2331720"/>
            <a:ext cx="10771632" cy="932688"/>
          </a:xfrm>
          <a:prstGeom prst="roundRect">
            <a:avLst/>
          </a:prstGeom>
          <a:solidFill>
            <a:srgbClr val="FFFFFF"/>
          </a:solidFill>
          <a:ln w="15875">
            <a:solidFill>
              <a:srgbClr val="F28C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58368" y="2423160"/>
            <a:ext cx="1828800" cy="228600"/>
          </a:xfrm>
          <a:prstGeom prst="rect">
            <a:avLst/>
          </a:prstGeom>
          <a:noFill/>
        </p:spPr>
        <p:txBody>
          <a:bodyPr wrap="square" lIns="36576" tIns="36576" rIns="36576" bIns="36576" anchor="t">
            <a:spAutoFit/>
          </a:bodyPr>
          <a:lstStyle/>
          <a:p>
            <a:pPr algn="l"/>
            <a:r>
              <a:rPr sz="1150" b="1">
                <a:solidFill>
                  <a:srgbClr val="F28C28"/>
                </a:solidFill>
                <a:latin typeface="Aptos"/>
              </a:rPr>
              <a:t>RQ1 · Data engineering</a:t>
            </a:r>
          </a:p>
        </p:txBody>
      </p:sp>
      <p:sp>
        <p:nvSpPr>
          <p:cNvPr id="39" name="TextBox 38"/>
          <p:cNvSpPr txBox="1"/>
          <p:nvPr/>
        </p:nvSpPr>
        <p:spPr>
          <a:xfrm>
            <a:off x="2395728" y="2404872"/>
            <a:ext cx="8732520" cy="766364"/>
          </a:xfrm>
          <a:prstGeom prst="rect">
            <a:avLst/>
          </a:prstGeom>
          <a:noFill/>
        </p:spPr>
        <p:txBody>
          <a:bodyPr wrap="square" lIns="36576" tIns="36576" rIns="36576" bIns="36576" anchor="t">
            <a:spAutoFit/>
          </a:bodyPr>
          <a:lstStyle/>
          <a:p>
            <a:pPr lvl="0"/>
            <a:r>
              <a:rPr lang="en-US" sz="1500" b="1" dirty="0"/>
              <a:t>The Bronze–Silver–Gold pipeline supported reproducible extraction, transformation, traceability and SQL-ready integration across JSON, XML and CSV, evidenced by dated files, cleaning outputs, runtime logs and SQL reconciliation. </a:t>
            </a:r>
          </a:p>
        </p:txBody>
      </p:sp>
      <p:sp>
        <p:nvSpPr>
          <p:cNvPr id="41" name="Rounded Rectangle 40"/>
          <p:cNvSpPr/>
          <p:nvPr/>
        </p:nvSpPr>
        <p:spPr>
          <a:xfrm>
            <a:off x="530352" y="3364991"/>
            <a:ext cx="10771632" cy="932688"/>
          </a:xfrm>
          <a:prstGeom prst="roundRect">
            <a:avLst/>
          </a:prstGeom>
          <a:solidFill>
            <a:srgbClr val="FFFFFF"/>
          </a:solidFill>
          <a:ln w="15875">
            <a:solidFill>
              <a:srgbClr val="39A4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58368" y="3456432"/>
            <a:ext cx="1828800" cy="228600"/>
          </a:xfrm>
          <a:prstGeom prst="rect">
            <a:avLst/>
          </a:prstGeom>
          <a:noFill/>
        </p:spPr>
        <p:txBody>
          <a:bodyPr wrap="square" lIns="36576" tIns="36576" rIns="36576" bIns="36576" anchor="t">
            <a:spAutoFit/>
          </a:bodyPr>
          <a:lstStyle/>
          <a:p>
            <a:pPr algn="l"/>
            <a:r>
              <a:rPr sz="1150" b="1">
                <a:solidFill>
                  <a:srgbClr val="39A4B8"/>
                </a:solidFill>
                <a:latin typeface="Aptos"/>
              </a:rPr>
              <a:t>RQ2 · Entity resolution</a:t>
            </a:r>
          </a:p>
        </p:txBody>
      </p:sp>
      <p:sp>
        <p:nvSpPr>
          <p:cNvPr id="43" name="TextBox 42"/>
          <p:cNvSpPr txBox="1"/>
          <p:nvPr/>
        </p:nvSpPr>
        <p:spPr>
          <a:xfrm>
            <a:off x="2395728" y="3438144"/>
            <a:ext cx="8732520" cy="812530"/>
          </a:xfrm>
          <a:prstGeom prst="rect">
            <a:avLst/>
          </a:prstGeom>
          <a:noFill/>
        </p:spPr>
        <p:txBody>
          <a:bodyPr wrap="square" lIns="36576" tIns="36576" rIns="36576" bIns="36576" anchor="t">
            <a:spAutoFit/>
          </a:bodyPr>
          <a:lstStyle>
            <a:defPPr>
              <a:defRPr lang="en-US"/>
            </a:defPPr>
            <a:lvl1pPr>
              <a:defRPr sz="1000" b="1"/>
            </a:lvl1pPr>
          </a:lstStyle>
          <a:p>
            <a:r>
              <a:rPr lang="en-US" sz="1600" dirty="0">
                <a:solidFill>
                  <a:srgbClr val="263238"/>
                </a:solidFill>
                <a:latin typeface="Aptos"/>
              </a:rPr>
              <a:t>The hybrid workflow classified </a:t>
            </a:r>
            <a:r>
              <a:rPr lang="en-US" sz="1600" dirty="0" err="1">
                <a:solidFill>
                  <a:srgbClr val="263238"/>
                </a:solidFill>
                <a:latin typeface="Aptos"/>
              </a:rPr>
              <a:t>organisation</a:t>
            </a:r>
            <a:r>
              <a:rPr lang="en-US" sz="1600" dirty="0">
                <a:solidFill>
                  <a:srgbClr val="263238"/>
                </a:solidFill>
                <a:latin typeface="Aptos"/>
              </a:rPr>
              <a:t> links by comparing fuzzy and TF-IDF/Nearest-</a:t>
            </a:r>
            <a:r>
              <a:rPr lang="en-US" sz="1600" dirty="0" err="1">
                <a:solidFill>
                  <a:srgbClr val="263238"/>
                </a:solidFill>
                <a:latin typeface="Aptos"/>
              </a:rPr>
              <a:t>Neighbour</a:t>
            </a:r>
            <a:r>
              <a:rPr lang="en-US" sz="1600" dirty="0">
                <a:solidFill>
                  <a:srgbClr val="263238"/>
                </a:solidFill>
                <a:latin typeface="Aptos"/>
              </a:rPr>
              <a:t> results, then using method agreement and confidence thresholds to make threshold-qualified links dashboard-eligible and exclude uncertain cases.</a:t>
            </a:r>
          </a:p>
        </p:txBody>
      </p:sp>
      <p:sp>
        <p:nvSpPr>
          <p:cNvPr id="45" name="Rounded Rectangle 44"/>
          <p:cNvSpPr/>
          <p:nvPr/>
        </p:nvSpPr>
        <p:spPr>
          <a:xfrm>
            <a:off x="530352" y="4398264"/>
            <a:ext cx="10771632" cy="932688"/>
          </a:xfrm>
          <a:prstGeom prst="roundRect">
            <a:avLst/>
          </a:prstGeom>
          <a:solidFill>
            <a:srgbClr val="FFFFFF"/>
          </a:solidFill>
          <a:ln w="15875">
            <a:solidFill>
              <a:srgbClr val="59AE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58368" y="4489703"/>
            <a:ext cx="1828800" cy="228600"/>
          </a:xfrm>
          <a:prstGeom prst="rect">
            <a:avLst/>
          </a:prstGeom>
          <a:noFill/>
        </p:spPr>
        <p:txBody>
          <a:bodyPr wrap="square" lIns="36576" tIns="36576" rIns="36576" bIns="36576" anchor="t">
            <a:spAutoFit/>
          </a:bodyPr>
          <a:lstStyle/>
          <a:p>
            <a:pPr algn="l"/>
            <a:r>
              <a:rPr sz="1150" b="1">
                <a:solidFill>
                  <a:srgbClr val="59AE7A"/>
                </a:solidFill>
                <a:latin typeface="Aptos"/>
              </a:rPr>
              <a:t>RQ3 · Decision support</a:t>
            </a:r>
          </a:p>
        </p:txBody>
      </p:sp>
      <p:sp>
        <p:nvSpPr>
          <p:cNvPr id="47" name="TextBox 46"/>
          <p:cNvSpPr txBox="1"/>
          <p:nvPr/>
        </p:nvSpPr>
        <p:spPr>
          <a:xfrm>
            <a:off x="2395728" y="4471416"/>
            <a:ext cx="8732520" cy="812530"/>
          </a:xfrm>
          <a:prstGeom prst="rect">
            <a:avLst/>
          </a:prstGeom>
          <a:noFill/>
        </p:spPr>
        <p:txBody>
          <a:bodyPr wrap="square" lIns="36576" tIns="36576" rIns="36576" bIns="36576" anchor="t">
            <a:spAutoFit/>
          </a:bodyPr>
          <a:lstStyle/>
          <a:p>
            <a:r>
              <a:rPr lang="en-US" sz="1600" b="1" dirty="0">
                <a:solidFill>
                  <a:srgbClr val="263238"/>
                </a:solidFill>
                <a:latin typeface="Aptos"/>
              </a:rPr>
              <a:t>SQL Server views and the four-page Power BI dashboard presented dashboard-eligible funding–sponsorship evidence as traceable and filterable opportunity signals, while keeping source evidence and matching-quality evidence clearly separated.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82296"/>
          </a:xfrm>
          <a:prstGeom prst="rect">
            <a:avLst/>
          </a:prstGeom>
          <a:solidFill>
            <a:srgbClr val="F28C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246888"/>
            <a:ext cx="4389120" cy="201168"/>
          </a:xfrm>
          <a:prstGeom prst="rect">
            <a:avLst/>
          </a:prstGeom>
          <a:noFill/>
        </p:spPr>
        <p:txBody>
          <a:bodyPr wrap="none" lIns="36576" tIns="27432" rIns="36576" bIns="27432" anchor="t">
            <a:spAutoFit/>
          </a:bodyPr>
          <a:lstStyle/>
          <a:p>
            <a:pPr algn="l"/>
            <a:r>
              <a:rPr sz="1150" b="1">
                <a:solidFill>
                  <a:srgbClr val="F28C28"/>
                </a:solidFill>
                <a:latin typeface="Aptos"/>
              </a:rPr>
              <a:t>REFERENCES</a:t>
            </a:r>
          </a:p>
        </p:txBody>
      </p:sp>
      <p:sp>
        <p:nvSpPr>
          <p:cNvPr id="4" name="TextBox 3"/>
          <p:cNvSpPr txBox="1"/>
          <p:nvPr/>
        </p:nvSpPr>
        <p:spPr>
          <a:xfrm>
            <a:off x="411480" y="548640"/>
            <a:ext cx="3131948" cy="455509"/>
          </a:xfrm>
          <a:prstGeom prst="rect">
            <a:avLst/>
          </a:prstGeom>
          <a:noFill/>
        </p:spPr>
        <p:txBody>
          <a:bodyPr wrap="none" lIns="36576" tIns="27432" rIns="36576" bIns="27432" anchor="t">
            <a:spAutoFit/>
          </a:bodyPr>
          <a:lstStyle/>
          <a:p>
            <a:pPr algn="l"/>
            <a:r>
              <a:rPr lang="en-US" sz="2600" b="1" dirty="0">
                <a:solidFill>
                  <a:srgbClr val="16324F"/>
                </a:solidFill>
                <a:latin typeface="Aptos"/>
              </a:rPr>
              <a:t>Selected r</a:t>
            </a:r>
            <a:r>
              <a:rPr sz="2600" b="1" dirty="0">
                <a:solidFill>
                  <a:srgbClr val="16324F"/>
                </a:solidFill>
                <a:latin typeface="Aptos"/>
              </a:rPr>
              <a:t>eferences</a:t>
            </a:r>
          </a:p>
        </p:txBody>
      </p:sp>
      <p:sp>
        <p:nvSpPr>
          <p:cNvPr id="5" name="TextBox 4"/>
          <p:cNvSpPr txBox="1"/>
          <p:nvPr/>
        </p:nvSpPr>
        <p:spPr>
          <a:xfrm>
            <a:off x="502920" y="1161288"/>
            <a:ext cx="11207299" cy="4210383"/>
          </a:xfrm>
          <a:prstGeom prst="rect">
            <a:avLst/>
          </a:prstGeom>
          <a:noFill/>
        </p:spPr>
        <p:txBody>
          <a:bodyPr wrap="square" lIns="36576" tIns="27432" rIns="36576" bIns="27432" anchor="t">
            <a:spAutoFit/>
          </a:bodyPr>
          <a:lstStyle/>
          <a:p>
            <a:pPr marL="285750" indent="-285750">
              <a:buFont typeface="Arial" panose="020B0604020202020204" pitchFamily="34" charset="0"/>
              <a:buChar char="•"/>
            </a:pPr>
            <a:r>
              <a:rPr lang="en-US" dirty="0"/>
              <a:t> Cvetkov-Iliev, A., </a:t>
            </a:r>
            <a:r>
              <a:rPr lang="en-US" dirty="0" err="1"/>
              <a:t>Allauzen</a:t>
            </a:r>
            <a:r>
              <a:rPr lang="en-US" dirty="0"/>
              <a:t>, A. and </a:t>
            </a:r>
            <a:r>
              <a:rPr lang="en-US" dirty="0" err="1"/>
              <a:t>Varoquaux</a:t>
            </a:r>
            <a:r>
              <a:rPr lang="en-US" dirty="0"/>
              <a:t>, G. (2022) “Analytics on Non-Normalized Data Sources: More Learning, Rather Than More Cleaning”, IEEE Access, 10, pp. 42420–42431.</a:t>
            </a:r>
          </a:p>
          <a:p>
            <a:pPr marL="285750" lvl="0" indent="-285750">
              <a:buFont typeface="Arial" panose="020B0604020202020204" pitchFamily="34" charset="0"/>
              <a:buChar char="•"/>
            </a:pPr>
            <a:r>
              <a:rPr lang="en-US" dirty="0"/>
              <a:t>Eberhard, K. (2023) “The effects of visualization on judgment and decision-making: a systematic literature review”, Management Review Quarterly, 73, pp. 167–214.</a:t>
            </a:r>
          </a:p>
          <a:p>
            <a:pPr marL="285750" lvl="0" indent="-285750">
              <a:buFont typeface="Arial" panose="020B0604020202020204" pitchFamily="34" charset="0"/>
              <a:buChar char="•"/>
            </a:pPr>
            <a:r>
              <a:rPr lang="en-US" dirty="0"/>
              <a:t>Han, Y., </a:t>
            </a:r>
            <a:r>
              <a:rPr lang="en-US" dirty="0" err="1"/>
              <a:t>Gulanowski</a:t>
            </a:r>
            <a:r>
              <a:rPr lang="en-US" dirty="0"/>
              <a:t>, D. and Sears, G.J. (2022) “International student graduates’ workforce integration: A systematic review”, International Journal of Intercultural Relations, 86, pp. 163–189.</a:t>
            </a:r>
          </a:p>
          <a:p>
            <a:pPr marL="285750" lvl="0" indent="-285750">
              <a:buFont typeface="Arial" panose="020B0604020202020204" pitchFamily="34" charset="0"/>
              <a:buChar char="•"/>
            </a:pPr>
            <a:r>
              <a:rPr lang="en-US" dirty="0"/>
              <a:t>Nguyen, H. and Cheng, M. (2025) “Understanding international students’ agency in developing employability”, British Educational Research Journal.</a:t>
            </a:r>
          </a:p>
          <a:p>
            <a:pPr marL="285750" lvl="0" indent="-285750">
              <a:buFont typeface="Arial" panose="020B0604020202020204" pitchFamily="34" charset="0"/>
              <a:buChar char="•"/>
            </a:pPr>
            <a:r>
              <a:rPr lang="en-US" dirty="0"/>
              <a:t>Sharifi, M. and Ahmadzadeh, D. (2025) “Transformer-Gather, Fuzzy-Reconsider: A Scalable Hybrid Framework for Entity Resolution”, arXiv:2509.17470v2.</a:t>
            </a:r>
          </a:p>
          <a:p>
            <a:pPr marL="285750" lvl="0" indent="-285750">
              <a:buFont typeface="Arial" panose="020B0604020202020204" pitchFamily="34" charset="0"/>
              <a:buChar char="•"/>
            </a:pPr>
            <a:r>
              <a:rPr lang="en-US" dirty="0"/>
              <a:t>Souha, A. et al. (2025) “A DSL-Driven Solution and Code Generation for Accelerated Tourism Decision Support System Development”, IEEE Access, 13, pp. 101558–101574.</a:t>
            </a:r>
          </a:p>
          <a:p>
            <a:pPr marL="285750" lvl="0" indent="-285750">
              <a:buFont typeface="Arial" panose="020B0604020202020204" pitchFamily="34" charset="0"/>
              <a:buChar char="•"/>
            </a:pPr>
            <a:r>
              <a:rPr lang="en-US" dirty="0" err="1"/>
              <a:t>Srhoj</a:t>
            </a:r>
            <a:r>
              <a:rPr lang="en-US" dirty="0"/>
              <a:t>, S. and </a:t>
            </a:r>
            <a:r>
              <a:rPr lang="en-US" dirty="0" err="1"/>
              <a:t>Dragojevic</a:t>
            </a:r>
            <a:r>
              <a:rPr lang="en-US" dirty="0"/>
              <a:t>, M. (2024) “The effects of public procurement on supplier job creation”, Economics, 18.</a:t>
            </a:r>
          </a:p>
          <a:p>
            <a:pPr marL="285750" lvl="0" indent="-285750">
              <a:buFont typeface="Arial" panose="020B0604020202020204" pitchFamily="34" charset="0"/>
              <a:buChar char="•"/>
            </a:pPr>
            <a:r>
              <a:rPr lang="en-US" dirty="0"/>
              <a:t>Wang, F. et al. (2025) “Employability of international postgraduate taught students in the UK: a systematic literature review using PRISMA”, British Journal of Guidance &amp; Counselling.</a:t>
            </a:r>
          </a:p>
        </p:txBody>
      </p:sp>
      <p:sp>
        <p:nvSpPr>
          <p:cNvPr id="13" name="Rounded Rectangle 12"/>
          <p:cNvSpPr/>
          <p:nvPr/>
        </p:nvSpPr>
        <p:spPr>
          <a:xfrm>
            <a:off x="3419856" y="5487924"/>
            <a:ext cx="5349240" cy="585216"/>
          </a:xfrm>
          <a:prstGeom prst="roundRect">
            <a:avLst/>
          </a:prstGeom>
          <a:solidFill>
            <a:srgbClr val="F4F6F8"/>
          </a:solidFill>
          <a:ln w="17780">
            <a:solidFill>
              <a:srgbClr val="227C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57016" y="5588508"/>
            <a:ext cx="5074920" cy="329184"/>
          </a:xfrm>
          <a:prstGeom prst="rect">
            <a:avLst/>
          </a:prstGeom>
          <a:noFill/>
        </p:spPr>
        <p:txBody>
          <a:bodyPr wrap="none" lIns="36576" tIns="27432" rIns="36576" bIns="27432" anchor="t">
            <a:spAutoFit/>
          </a:bodyPr>
          <a:lstStyle/>
          <a:p>
            <a:pPr algn="ctr"/>
            <a:r>
              <a:rPr sz="1700" b="1">
                <a:solidFill>
                  <a:srgbClr val="227C8C"/>
                </a:solidFill>
                <a:latin typeface="Aptos"/>
              </a:rPr>
              <a:t>Questions and live demonstration</a:t>
            </a:r>
          </a:p>
        </p:txBody>
      </p:sp>
      <p:sp>
        <p:nvSpPr>
          <p:cNvPr id="15" name="TextBox 14"/>
          <p:cNvSpPr txBox="1"/>
          <p:nvPr/>
        </p:nvSpPr>
        <p:spPr>
          <a:xfrm>
            <a:off x="438912" y="5998464"/>
            <a:ext cx="3200400" cy="164592"/>
          </a:xfrm>
          <a:prstGeom prst="rect">
            <a:avLst/>
          </a:prstGeom>
          <a:noFill/>
        </p:spPr>
        <p:txBody>
          <a:bodyPr wrap="none" lIns="36576" tIns="27432" rIns="36576" bIns="27432" anchor="t">
            <a:spAutoFit/>
          </a:bodyPr>
          <a:lstStyle/>
          <a:p>
            <a:pPr algn="l"/>
            <a:r>
              <a:rPr sz="850" b="0">
                <a:solidFill>
                  <a:srgbClr val="6D8398"/>
                </a:solidFill>
                <a:latin typeface="Aptos"/>
              </a:rPr>
              <a:t>LD6053 · UG Computing Project</a:t>
            </a:r>
          </a:p>
        </p:txBody>
      </p:sp>
      <p:sp>
        <p:nvSpPr>
          <p:cNvPr id="16" name="TextBox 15"/>
          <p:cNvSpPr txBox="1"/>
          <p:nvPr/>
        </p:nvSpPr>
        <p:spPr>
          <a:xfrm>
            <a:off x="8823960" y="5998464"/>
            <a:ext cx="2011680" cy="164592"/>
          </a:xfrm>
          <a:prstGeom prst="rect">
            <a:avLst/>
          </a:prstGeom>
          <a:noFill/>
        </p:spPr>
        <p:txBody>
          <a:bodyPr wrap="none" lIns="36576" tIns="27432" rIns="36576" bIns="27432" anchor="t">
            <a:spAutoFit/>
          </a:bodyPr>
          <a:lstStyle/>
          <a:p>
            <a:pPr algn="r"/>
            <a:r>
              <a:rPr sz="850" b="0">
                <a:solidFill>
                  <a:srgbClr val="6D8398"/>
                </a:solidFill>
                <a:latin typeface="Aptos"/>
              </a:rPr>
              <a:t>Jorge Tomas Chabrillon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194</TotalTime>
  <Words>2528</Words>
  <Application>Microsoft Office PowerPoint</Application>
  <PresentationFormat>Widescreen</PresentationFormat>
  <Paragraphs>314</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jorge.chabrillon</cp:lastModifiedBy>
  <cp:revision>22</cp:revision>
  <dcterms:created xsi:type="dcterms:W3CDTF">2013-01-27T09:14:16Z</dcterms:created>
  <dcterms:modified xsi:type="dcterms:W3CDTF">2026-08-10T20:51:56Z</dcterms:modified>
  <cp:category/>
</cp:coreProperties>
</file>